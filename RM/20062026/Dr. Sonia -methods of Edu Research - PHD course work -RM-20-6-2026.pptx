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8"/>
  </p:notesMasterIdLst>
  <p:sldIdLst>
    <p:sldId id="256" r:id="rId2"/>
    <p:sldId id="362" r:id="rId3"/>
    <p:sldId id="363" r:id="rId4"/>
    <p:sldId id="364" r:id="rId5"/>
    <p:sldId id="375" r:id="rId6"/>
    <p:sldId id="365" r:id="rId7"/>
    <p:sldId id="366" r:id="rId8"/>
    <p:sldId id="367" r:id="rId9"/>
    <p:sldId id="368" r:id="rId10"/>
    <p:sldId id="369" r:id="rId11"/>
    <p:sldId id="370" r:id="rId12"/>
    <p:sldId id="380" r:id="rId13"/>
    <p:sldId id="381" r:id="rId14"/>
    <p:sldId id="378" r:id="rId15"/>
    <p:sldId id="379" r:id="rId16"/>
    <p:sldId id="371" r:id="rId17"/>
    <p:sldId id="372" r:id="rId18"/>
    <p:sldId id="376" r:id="rId19"/>
    <p:sldId id="377"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84" r:id="rId40"/>
    <p:sldId id="285" r:id="rId41"/>
    <p:sldId id="286" r:id="rId42"/>
    <p:sldId id="287" r:id="rId43"/>
    <p:sldId id="288" r:id="rId44"/>
    <p:sldId id="289" r:id="rId45"/>
    <p:sldId id="290" r:id="rId46"/>
    <p:sldId id="279" r:id="rId47"/>
    <p:sldId id="280" r:id="rId48"/>
    <p:sldId id="281" r:id="rId49"/>
    <p:sldId id="291" r:id="rId50"/>
    <p:sldId id="292" r:id="rId51"/>
    <p:sldId id="293" r:id="rId52"/>
    <p:sldId id="294" r:id="rId53"/>
    <p:sldId id="295" r:id="rId54"/>
    <p:sldId id="282" r:id="rId55"/>
    <p:sldId id="283" r:id="rId56"/>
    <p:sldId id="334"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DEF77F-8198-4DFE-9C81-E5AA29974DBC}" type="datetimeFigureOut">
              <a:rPr lang="en-IN" smtClean="0"/>
              <a:pPr/>
              <a:t>20-06-2026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564E8B-6F60-4F3C-9B01-159C92C620A6}" type="slidenum">
              <a:rPr lang="en-IN" smtClean="0"/>
              <a:pPr/>
              <a:t>‹#›</a:t>
            </a:fld>
            <a:endParaRPr lang="en-IN"/>
          </a:p>
        </p:txBody>
      </p:sp>
    </p:spTree>
    <p:extLst>
      <p:ext uri="{BB962C8B-B14F-4D97-AF65-F5344CB8AC3E}">
        <p14:creationId xmlns:p14="http://schemas.microsoft.com/office/powerpoint/2010/main" val="702336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3564E8B-6F60-4F3C-9B01-159C92C620A6}" type="slidenum">
              <a:rPr lang="en-IN" smtClean="0"/>
              <a:pPr/>
              <a:t>48</a:t>
            </a:fld>
            <a:endParaRPr lang="en-IN"/>
          </a:p>
        </p:txBody>
      </p:sp>
    </p:spTree>
    <p:extLst>
      <p:ext uri="{BB962C8B-B14F-4D97-AF65-F5344CB8AC3E}">
        <p14:creationId xmlns:p14="http://schemas.microsoft.com/office/powerpoint/2010/main" val="351176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questionpro.com/blog/ordinal-dat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questionpro.com/features/net-promoter-score.html" TargetMode="External"/><Relationship Id="rId2" Type="http://schemas.openxmlformats.org/officeDocument/2006/relationships/hyperlink" Target="https://www.questionpro.com/blog/what-is-likert-scale/" TargetMode="External"/><Relationship Id="rId1" Type="http://schemas.openxmlformats.org/officeDocument/2006/relationships/slideLayout" Target="../slideLayouts/slideLayout2.xml"/><Relationship Id="rId4" Type="http://schemas.openxmlformats.org/officeDocument/2006/relationships/hyperlink" Target="https://www.questionpro.com/semantic-differential-scale.html"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questionpro.com/features/net-promoter-score.html" TargetMode="External"/><Relationship Id="rId2" Type="http://schemas.openxmlformats.org/officeDocument/2006/relationships/hyperlink" Target="https://www.questionpro.com/blog/what-is-likert-scale/" TargetMode="External"/><Relationship Id="rId1" Type="http://schemas.openxmlformats.org/officeDocument/2006/relationships/slideLayout" Target="../slideLayouts/slideLayout2.xml"/><Relationship Id="rId4" Type="http://schemas.openxmlformats.org/officeDocument/2006/relationships/hyperlink" Target="https://www.questionpro.com/semantic-differential-scale.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85800"/>
            <a:ext cx="8305800" cy="2209800"/>
          </a:xfrm>
        </p:spPr>
        <p:txBody>
          <a:bodyPr>
            <a:normAutofit/>
          </a:bodyPr>
          <a:lstStyle/>
          <a:p>
            <a:r>
              <a:rPr lang="en-US" b="1" dirty="0">
                <a:solidFill>
                  <a:schemeClr val="accent1">
                    <a:lumMod val="50000"/>
                  </a:schemeClr>
                </a:solidFill>
              </a:rPr>
              <a:t>Methods of Educational Research</a:t>
            </a:r>
            <a:br>
              <a:rPr lang="en-US" b="1" dirty="0">
                <a:solidFill>
                  <a:schemeClr val="accent1">
                    <a:lumMod val="50000"/>
                  </a:schemeClr>
                </a:solidFill>
              </a:rPr>
            </a:br>
            <a:r>
              <a:rPr lang="en-US" b="1" dirty="0">
                <a:solidFill>
                  <a:schemeClr val="accent1">
                    <a:lumMod val="50000"/>
                  </a:schemeClr>
                </a:solidFill>
              </a:rPr>
              <a:t>and scales of Measurement</a:t>
            </a:r>
            <a:endParaRPr lang="en-IN" b="1" dirty="0">
              <a:solidFill>
                <a:schemeClr val="accent1">
                  <a:lumMod val="50000"/>
                </a:schemeClr>
              </a:solidFill>
            </a:endParaRPr>
          </a:p>
        </p:txBody>
      </p:sp>
      <p:sp>
        <p:nvSpPr>
          <p:cNvPr id="3" name="Subtitle 2"/>
          <p:cNvSpPr>
            <a:spLocks noGrp="1"/>
          </p:cNvSpPr>
          <p:nvPr>
            <p:ph type="subTitle" idx="1"/>
          </p:nvPr>
        </p:nvSpPr>
        <p:spPr>
          <a:xfrm>
            <a:off x="685800" y="4419600"/>
            <a:ext cx="7086600" cy="1752600"/>
          </a:xfrm>
        </p:spPr>
        <p:txBody>
          <a:bodyPr>
            <a:normAutofit/>
          </a:bodyPr>
          <a:lstStyle/>
          <a:p>
            <a:r>
              <a:rPr lang="en-US" sz="1600" b="1" dirty="0">
                <a:solidFill>
                  <a:schemeClr val="tx1"/>
                </a:solidFill>
              </a:rPr>
              <a:t>Presented by:</a:t>
            </a:r>
          </a:p>
          <a:p>
            <a:r>
              <a:rPr lang="en-US" sz="1600" b="1" dirty="0">
                <a:solidFill>
                  <a:schemeClr val="tx1"/>
                </a:solidFill>
              </a:rPr>
              <a:t>Dr. Sonia Rajput</a:t>
            </a:r>
          </a:p>
          <a:p>
            <a:r>
              <a:rPr lang="en-US" sz="1600" b="1" dirty="0">
                <a:solidFill>
                  <a:schemeClr val="tx1"/>
                </a:solidFill>
              </a:rPr>
              <a:t>Assistant Professor</a:t>
            </a:r>
          </a:p>
          <a:p>
            <a:r>
              <a:rPr lang="en-US" sz="1600" b="1" dirty="0">
                <a:solidFill>
                  <a:schemeClr val="tx1"/>
                </a:solidFill>
              </a:rPr>
              <a:t>Department of Education</a:t>
            </a:r>
          </a:p>
          <a:p>
            <a:r>
              <a:rPr lang="en-US" sz="1600" b="1" dirty="0">
                <a:solidFill>
                  <a:schemeClr val="tx1"/>
                </a:solidFill>
              </a:rPr>
              <a:t>The Maharaja Sayajirao University of Baroda</a:t>
            </a:r>
            <a:endParaRPr lang="en-IN" sz="1600" b="1" dirty="0">
              <a:solidFill>
                <a:schemeClr val="tx1"/>
              </a:solidFill>
            </a:endParaRPr>
          </a:p>
        </p:txBody>
      </p:sp>
    </p:spTree>
    <p:extLst>
      <p:ext uri="{BB962C8B-B14F-4D97-AF65-F5344CB8AC3E}">
        <p14:creationId xmlns:p14="http://schemas.microsoft.com/office/powerpoint/2010/main" val="3986926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E28B21-CDE5-31C6-C97D-B7B13B72E554}"/>
              </a:ext>
            </a:extLst>
          </p:cNvPr>
          <p:cNvSpPr>
            <a:spLocks noGrp="1"/>
          </p:cNvSpPr>
          <p:nvPr>
            <p:ph idx="1"/>
          </p:nvPr>
        </p:nvSpPr>
        <p:spPr/>
        <p:txBody>
          <a:bodyPr/>
          <a:lstStyle/>
          <a:p>
            <a:pPr algn="ctr"/>
            <a:r>
              <a:rPr lang="en-IN" sz="3600" dirty="0"/>
              <a:t>Educational research employs systematic methods such as quantitative, qualitative, mixed methods, and action research to study and improve teaching and learning.</a:t>
            </a:r>
          </a:p>
          <a:p>
            <a:endParaRPr lang="en-IN" dirty="0"/>
          </a:p>
        </p:txBody>
      </p:sp>
    </p:spTree>
    <p:extLst>
      <p:ext uri="{BB962C8B-B14F-4D97-AF65-F5344CB8AC3E}">
        <p14:creationId xmlns:p14="http://schemas.microsoft.com/office/powerpoint/2010/main" val="4102173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BDE1-2053-2BE6-53A7-CC59E644D0E0}"/>
              </a:ext>
            </a:extLst>
          </p:cNvPr>
          <p:cNvSpPr>
            <a:spLocks noGrp="1"/>
          </p:cNvSpPr>
          <p:nvPr>
            <p:ph type="title"/>
          </p:nvPr>
        </p:nvSpPr>
        <p:spPr/>
        <p:txBody>
          <a:bodyPr/>
          <a:lstStyle/>
          <a:p>
            <a:r>
              <a:rPr lang="en-IN" dirty="0"/>
              <a:t>Categorisation of researches: </a:t>
            </a:r>
          </a:p>
        </p:txBody>
      </p:sp>
      <p:sp>
        <p:nvSpPr>
          <p:cNvPr id="3" name="Content Placeholder 2">
            <a:extLst>
              <a:ext uri="{FF2B5EF4-FFF2-40B4-BE49-F238E27FC236}">
                <a16:creationId xmlns:a16="http://schemas.microsoft.com/office/drawing/2014/main" id="{35EEFFC4-DC2E-53AA-A7F8-1D00B76EC48F}"/>
              </a:ext>
            </a:extLst>
          </p:cNvPr>
          <p:cNvSpPr>
            <a:spLocks noGrp="1"/>
          </p:cNvSpPr>
          <p:nvPr>
            <p:ph idx="1"/>
          </p:nvPr>
        </p:nvSpPr>
        <p:spPr>
          <a:xfrm>
            <a:off x="822960" y="1100628"/>
            <a:ext cx="8016240" cy="3928572"/>
          </a:xfrm>
        </p:spPr>
        <p:txBody>
          <a:bodyPr/>
          <a:lstStyle/>
          <a:p>
            <a:pPr>
              <a:buFont typeface="Wingdings" panose="05000000000000000000" pitchFamily="2" charset="2"/>
              <a:buChar char="q"/>
            </a:pPr>
            <a:r>
              <a:rPr lang="en-IN" sz="2000" dirty="0">
                <a:solidFill>
                  <a:srgbClr val="0070C0"/>
                </a:solidFill>
              </a:rPr>
              <a:t>Depending upon the nature of the study</a:t>
            </a:r>
          </a:p>
          <a:p>
            <a:pPr>
              <a:buFont typeface="Arial" panose="020B0604020202020204" pitchFamily="34" charset="0"/>
              <a:buChar char="•"/>
            </a:pPr>
            <a:r>
              <a:rPr lang="en-IN" sz="2000" dirty="0">
                <a:solidFill>
                  <a:srgbClr val="0070C0"/>
                </a:solidFill>
              </a:rPr>
              <a:t>Pure research </a:t>
            </a:r>
          </a:p>
          <a:p>
            <a:pPr>
              <a:buFont typeface="Arial" panose="020B0604020202020204" pitchFamily="34" charset="0"/>
              <a:buChar char="•"/>
            </a:pPr>
            <a:r>
              <a:rPr lang="en-IN" sz="2000" dirty="0">
                <a:solidFill>
                  <a:srgbClr val="0070C0"/>
                </a:solidFill>
              </a:rPr>
              <a:t>Applied Research</a:t>
            </a:r>
          </a:p>
          <a:p>
            <a:pPr marL="0" indent="0"/>
            <a:endParaRPr lang="en-IN" dirty="0"/>
          </a:p>
        </p:txBody>
      </p:sp>
      <p:sp>
        <p:nvSpPr>
          <p:cNvPr id="4" name="Content Placeholder 2">
            <a:extLst>
              <a:ext uri="{FF2B5EF4-FFF2-40B4-BE49-F238E27FC236}">
                <a16:creationId xmlns:a16="http://schemas.microsoft.com/office/drawing/2014/main" id="{71CB5498-4F9C-E9C5-07E5-2FB270B1CF02}"/>
              </a:ext>
            </a:extLst>
          </p:cNvPr>
          <p:cNvSpPr>
            <a:spLocks noGrp="1"/>
          </p:cNvSpPr>
          <p:nvPr/>
        </p:nvSpPr>
        <p:spPr>
          <a:xfrm>
            <a:off x="822960" y="2645966"/>
            <a:ext cx="8016240" cy="230703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sz="3200" b="1" dirty="0"/>
              <a:t> Pure / Basic / Fundamental Research:</a:t>
            </a:r>
            <a:endParaRPr lang="en-IN" sz="3200" dirty="0"/>
          </a:p>
          <a:p>
            <a:pPr lvl="1"/>
            <a:r>
              <a:rPr lang="en-US" sz="3200" dirty="0"/>
              <a:t>Focuses on expanding knowledge and understanding of fundamental concepts, often without immediate practical applications. </a:t>
            </a:r>
            <a:endParaRPr lang="en-IN" sz="3200" dirty="0"/>
          </a:p>
          <a:p>
            <a:pPr marL="0" lvl="0" indent="0">
              <a:buNone/>
            </a:pPr>
            <a:r>
              <a:rPr lang="en-US" sz="3200" b="1" dirty="0"/>
              <a:t>Applied Research:</a:t>
            </a:r>
            <a:endParaRPr lang="en-IN" sz="3200" dirty="0"/>
          </a:p>
          <a:p>
            <a:pPr lvl="1"/>
            <a:r>
              <a:rPr lang="en-US" sz="3200" dirty="0"/>
              <a:t>Aims to solve practical problems and address real-world issues, often with immediate practical applications. </a:t>
            </a:r>
            <a:endParaRPr lang="en-IN" dirty="0"/>
          </a:p>
        </p:txBody>
      </p:sp>
    </p:spTree>
    <p:extLst>
      <p:ext uri="{BB962C8B-B14F-4D97-AF65-F5344CB8AC3E}">
        <p14:creationId xmlns:p14="http://schemas.microsoft.com/office/powerpoint/2010/main" val="2892495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7ECD71-F7C6-C79F-81BB-7ECF7C8342C2}"/>
              </a:ext>
            </a:extLst>
          </p:cNvPr>
          <p:cNvSpPr>
            <a:spLocks noGrp="1"/>
          </p:cNvSpPr>
          <p:nvPr>
            <p:ph idx="1"/>
          </p:nvPr>
        </p:nvSpPr>
        <p:spPr>
          <a:xfrm>
            <a:off x="457200" y="685800"/>
            <a:ext cx="7886700" cy="3994677"/>
          </a:xfrm>
        </p:spPr>
        <p:txBody>
          <a:bodyPr>
            <a:normAutofit/>
          </a:bodyPr>
          <a:lstStyle/>
          <a:p>
            <a:pPr>
              <a:buFont typeface="Wingdings" panose="05000000000000000000" pitchFamily="2" charset="2"/>
              <a:buChar char="q"/>
            </a:pPr>
            <a:r>
              <a:rPr lang="en-IN" sz="2400" dirty="0">
                <a:solidFill>
                  <a:srgbClr val="0070C0"/>
                </a:solidFill>
              </a:rPr>
              <a:t>Depending upon the method  of study</a:t>
            </a:r>
          </a:p>
          <a:p>
            <a:pPr>
              <a:buFont typeface="Arial" panose="020B0604020202020204" pitchFamily="34" charset="0"/>
              <a:buChar char="•"/>
            </a:pPr>
            <a:r>
              <a:rPr lang="en-IN" sz="2400" dirty="0">
                <a:solidFill>
                  <a:srgbClr val="0070C0"/>
                </a:solidFill>
              </a:rPr>
              <a:t>Quantitative Research</a:t>
            </a:r>
          </a:p>
          <a:p>
            <a:pPr>
              <a:buFont typeface="Arial" panose="020B0604020202020204" pitchFamily="34" charset="0"/>
              <a:buChar char="•"/>
            </a:pPr>
            <a:r>
              <a:rPr lang="en-IN" sz="2400" dirty="0">
                <a:solidFill>
                  <a:srgbClr val="0070C0"/>
                </a:solidFill>
              </a:rPr>
              <a:t>Qualitative Research</a:t>
            </a:r>
          </a:p>
          <a:p>
            <a:pPr>
              <a:buFont typeface="Arial" panose="020B0604020202020204" pitchFamily="34" charset="0"/>
              <a:buChar char="•"/>
            </a:pPr>
            <a:r>
              <a:rPr lang="en-IN" sz="2400" dirty="0">
                <a:solidFill>
                  <a:srgbClr val="0070C0"/>
                </a:solidFill>
              </a:rPr>
              <a:t>Mixed Method Research</a:t>
            </a:r>
          </a:p>
          <a:p>
            <a:pPr>
              <a:buFont typeface="Arial" panose="020B0604020202020204" pitchFamily="34" charset="0"/>
              <a:buChar char="•"/>
            </a:pPr>
            <a:endParaRPr lang="en-IN" sz="2400" dirty="0">
              <a:solidFill>
                <a:srgbClr val="0070C0"/>
              </a:solidFill>
            </a:endParaRPr>
          </a:p>
          <a:p>
            <a:pPr>
              <a:buFont typeface="Wingdings" panose="05000000000000000000" pitchFamily="2" charset="2"/>
              <a:buChar char="q"/>
            </a:pPr>
            <a:r>
              <a:rPr lang="en-IN" sz="2400" dirty="0">
                <a:solidFill>
                  <a:srgbClr val="0070C0"/>
                </a:solidFill>
              </a:rPr>
              <a:t> Action Research </a:t>
            </a:r>
          </a:p>
          <a:p>
            <a:pPr marL="0" indent="0"/>
            <a:endParaRPr lang="en-IN" sz="2400" dirty="0"/>
          </a:p>
          <a:p>
            <a:pPr marL="0" indent="0"/>
            <a:endParaRPr lang="en-IN" sz="2400" dirty="0"/>
          </a:p>
          <a:p>
            <a:pPr marL="0" indent="0"/>
            <a:endParaRPr lang="en-IN" dirty="0"/>
          </a:p>
        </p:txBody>
      </p:sp>
    </p:spTree>
    <p:extLst>
      <p:ext uri="{BB962C8B-B14F-4D97-AF65-F5344CB8AC3E}">
        <p14:creationId xmlns:p14="http://schemas.microsoft.com/office/powerpoint/2010/main" val="231572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C5926-269F-41AC-C903-862A4B8A1864}"/>
              </a:ext>
            </a:extLst>
          </p:cNvPr>
          <p:cNvSpPr>
            <a:spLocks noGrp="1"/>
          </p:cNvSpPr>
          <p:nvPr>
            <p:ph idx="1"/>
          </p:nvPr>
        </p:nvSpPr>
        <p:spPr>
          <a:xfrm>
            <a:off x="457200" y="228600"/>
            <a:ext cx="8305800" cy="5867400"/>
          </a:xfrm>
        </p:spPr>
        <p:txBody>
          <a:bodyPr>
            <a:normAutofit/>
          </a:bodyPr>
          <a:lstStyle/>
          <a:p>
            <a:r>
              <a:rPr lang="en-IN" sz="2400" dirty="0">
                <a:solidFill>
                  <a:srgbClr val="0070C0"/>
                </a:solidFill>
              </a:rPr>
              <a:t>Quantitative Research (meaning)</a:t>
            </a:r>
          </a:p>
          <a:p>
            <a:r>
              <a:rPr lang="en-IN" sz="2400" dirty="0"/>
              <a:t>Quantitative research focuses on numerical data to measure and analyse educational phenomena. It uses structured methods such as experiments, surveys, and causal-comparative studies to collect data like test scores, grades, and attendance rates. </a:t>
            </a:r>
          </a:p>
          <a:p>
            <a:r>
              <a:rPr lang="en-IN" sz="2400" dirty="0"/>
              <a:t>This approach is objective, allowing researchers to identify patterns, make comparisons, and support policy decisions with empirical evidence. Quantitative research emphasizes validity, reliability, and statistical analysis to ensure trustworthy results and generalizable conclusions in educational settings.</a:t>
            </a:r>
          </a:p>
          <a:p>
            <a:endParaRPr lang="en-IN" sz="2400" dirty="0"/>
          </a:p>
        </p:txBody>
      </p:sp>
    </p:spTree>
    <p:extLst>
      <p:ext uri="{BB962C8B-B14F-4D97-AF65-F5344CB8AC3E}">
        <p14:creationId xmlns:p14="http://schemas.microsoft.com/office/powerpoint/2010/main" val="289115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2A906F-D9FC-A9DD-1694-1F6AB217D0A6}"/>
              </a:ext>
            </a:extLst>
          </p:cNvPr>
          <p:cNvSpPr>
            <a:spLocks noGrp="1"/>
          </p:cNvSpPr>
          <p:nvPr>
            <p:ph idx="1"/>
          </p:nvPr>
        </p:nvSpPr>
        <p:spPr>
          <a:xfrm>
            <a:off x="457200" y="457200"/>
            <a:ext cx="8610600" cy="5562600"/>
          </a:xfrm>
        </p:spPr>
        <p:txBody>
          <a:bodyPr>
            <a:noAutofit/>
          </a:bodyPr>
          <a:lstStyle/>
          <a:p>
            <a:r>
              <a:rPr lang="en-IN" sz="2400" dirty="0">
                <a:solidFill>
                  <a:srgbClr val="0070C0"/>
                </a:solidFill>
              </a:rPr>
              <a:t>Qualitative Research (meaning)</a:t>
            </a:r>
          </a:p>
          <a:p>
            <a:r>
              <a:rPr lang="en-IN" sz="2400" dirty="0"/>
              <a:t>Qualitative research explores the underlying reasons, motivations, and experiences of individuals in educational contexts. It relies on interviews, observations, and case studies to gather rich, descriptive data. </a:t>
            </a:r>
          </a:p>
          <a:p>
            <a:r>
              <a:rPr lang="en-IN" sz="2400" dirty="0"/>
              <a:t>This method is particularly useful for understanding complex social interactions, classroom dynamics, and student experiences that cannot be easily quantified. Researchers </a:t>
            </a:r>
            <a:r>
              <a:rPr lang="en-IN" sz="2400" dirty="0" err="1"/>
              <a:t>analyze</a:t>
            </a:r>
            <a:r>
              <a:rPr lang="en-IN" sz="2400" dirty="0"/>
              <a:t> narratives and </a:t>
            </a:r>
            <a:r>
              <a:rPr lang="en-IN" sz="2400" dirty="0" err="1"/>
              <a:t>behaviors</a:t>
            </a:r>
            <a:r>
              <a:rPr lang="en-IN" sz="2400" dirty="0"/>
              <a:t> to identify themes, trends, and insights that inform teaching practices and curriculum development.</a:t>
            </a:r>
          </a:p>
        </p:txBody>
      </p:sp>
    </p:spTree>
    <p:extLst>
      <p:ext uri="{BB962C8B-B14F-4D97-AF65-F5344CB8AC3E}">
        <p14:creationId xmlns:p14="http://schemas.microsoft.com/office/powerpoint/2010/main" val="3411145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F6127-F5FF-99DA-4C68-0FF9A0D55996}"/>
              </a:ext>
            </a:extLst>
          </p:cNvPr>
          <p:cNvSpPr>
            <a:spLocks noGrp="1"/>
          </p:cNvSpPr>
          <p:nvPr>
            <p:ph idx="1"/>
          </p:nvPr>
        </p:nvSpPr>
        <p:spPr>
          <a:xfrm>
            <a:off x="228600" y="381000"/>
            <a:ext cx="8458200" cy="4876800"/>
          </a:xfrm>
        </p:spPr>
        <p:txBody>
          <a:bodyPr>
            <a:normAutofit/>
          </a:bodyPr>
          <a:lstStyle/>
          <a:p>
            <a:endParaRPr lang="en-IN" sz="2000" dirty="0"/>
          </a:p>
          <a:p>
            <a:r>
              <a:rPr lang="en-IN" sz="2800" dirty="0">
                <a:solidFill>
                  <a:srgbClr val="0070C0"/>
                </a:solidFill>
              </a:rPr>
              <a:t>Mixed Method Research (meaning)</a:t>
            </a:r>
          </a:p>
          <a:p>
            <a:r>
              <a:rPr lang="en-IN" sz="2800" dirty="0"/>
              <a:t>Mixed methods combine quantitative and qualitative approaches to provide a more comprehensive understanding of educational issues. By integrating numerical data with descriptive insights, researchers can validate findings across multiple sources and gain a holistic view of learning outcomes, instructional effectiveness, and policy impacts.</a:t>
            </a:r>
          </a:p>
        </p:txBody>
      </p:sp>
    </p:spTree>
    <p:extLst>
      <p:ext uri="{BB962C8B-B14F-4D97-AF65-F5344CB8AC3E}">
        <p14:creationId xmlns:p14="http://schemas.microsoft.com/office/powerpoint/2010/main" val="3452831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234E88-F65E-CB18-75D4-E44563756EE5}"/>
              </a:ext>
            </a:extLst>
          </p:cNvPr>
          <p:cNvSpPr>
            <a:spLocks noGrp="1"/>
          </p:cNvSpPr>
          <p:nvPr>
            <p:ph idx="1"/>
          </p:nvPr>
        </p:nvSpPr>
        <p:spPr>
          <a:xfrm>
            <a:off x="381000" y="457200"/>
            <a:ext cx="7962900" cy="4223277"/>
          </a:xfrm>
        </p:spPr>
        <p:txBody>
          <a:bodyPr>
            <a:normAutofit/>
          </a:bodyPr>
          <a:lstStyle/>
          <a:p>
            <a:r>
              <a:rPr lang="en-IN" sz="2800" dirty="0">
                <a:solidFill>
                  <a:srgbClr val="0070C0"/>
                </a:solidFill>
              </a:rPr>
              <a:t>Action Research (meaning)</a:t>
            </a:r>
          </a:p>
          <a:p>
            <a:r>
              <a:rPr lang="en-IN" sz="2400" dirty="0"/>
              <a:t>Action research is a practical, problem-solving approach where educators actively investigate challenges in their own classrooms or schools. It involves a cyclical process of planning, acting, observing, and reflecting to implement improvements. This method empowers teachers to test interventions, evaluate outcomes, and make evidence-based changes to enhance student learning </a:t>
            </a:r>
          </a:p>
        </p:txBody>
      </p:sp>
    </p:spTree>
    <p:extLst>
      <p:ext uri="{BB962C8B-B14F-4D97-AF65-F5344CB8AC3E}">
        <p14:creationId xmlns:p14="http://schemas.microsoft.com/office/powerpoint/2010/main" val="131338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229599-B764-0D02-FCAC-FE8BBA7BD9EF}"/>
              </a:ext>
            </a:extLst>
          </p:cNvPr>
          <p:cNvSpPr txBox="1"/>
          <p:nvPr/>
        </p:nvSpPr>
        <p:spPr>
          <a:xfrm>
            <a:off x="609600" y="304800"/>
            <a:ext cx="8305800" cy="3939155"/>
          </a:xfrm>
          <a:prstGeom prst="rect">
            <a:avLst/>
          </a:prstGeom>
          <a:noFill/>
        </p:spPr>
        <p:txBody>
          <a:bodyPr wrap="square">
            <a:spAutoFit/>
          </a:bodyPr>
          <a:lstStyle/>
          <a:p>
            <a:pPr>
              <a:lnSpc>
                <a:spcPct val="107000"/>
              </a:lnSpc>
              <a:spcAft>
                <a:spcPts val="800"/>
              </a:spcAft>
              <a:buNone/>
            </a:pPr>
            <a:r>
              <a:rPr lang="en-IN" sz="2400" b="1" kern="100" dirty="0">
                <a:solidFill>
                  <a:srgbClr val="0070C0"/>
                </a:solidFill>
                <a:effectLst/>
                <a:latin typeface="+mj-lt"/>
                <a:ea typeface="Calibri" panose="020F0502020204030204" pitchFamily="34" charset="0"/>
                <a:cs typeface="Times New Roman" panose="02020603050405020304" pitchFamily="18" charset="0"/>
              </a:rPr>
              <a:t>Definition and Explanation of Quantitative Research</a:t>
            </a:r>
            <a:endParaRPr lang="en-IN" sz="2400" kern="100" dirty="0">
              <a:solidFill>
                <a:srgbClr val="0070C0"/>
              </a:solidFill>
              <a:effectLst/>
              <a:latin typeface="+mj-lt"/>
              <a:ea typeface="Calibri" panose="020F0502020204030204" pitchFamily="34" charset="0"/>
              <a:cs typeface="Times New Roman" panose="02020603050405020304" pitchFamily="18" charset="0"/>
            </a:endParaRPr>
          </a:p>
          <a:p>
            <a:pPr>
              <a:lnSpc>
                <a:spcPct val="107000"/>
              </a:lnSpc>
              <a:spcAft>
                <a:spcPts val="800"/>
              </a:spcAft>
              <a:buNone/>
            </a:pPr>
            <a:r>
              <a:rPr lang="en-IN" sz="2400" kern="100" dirty="0">
                <a:effectLst/>
                <a:latin typeface="+mj-lt"/>
                <a:ea typeface="Calibri" panose="020F0502020204030204" pitchFamily="34" charset="0"/>
                <a:cs typeface="Times New Roman" panose="02020603050405020304" pitchFamily="18" charset="0"/>
              </a:rPr>
              <a:t>Quantitative research focuses on quantifying variables and using statistical techniques to </a:t>
            </a:r>
            <a:r>
              <a:rPr lang="en-IN" sz="2400" kern="100" dirty="0" err="1">
                <a:effectLst/>
                <a:latin typeface="+mj-lt"/>
                <a:ea typeface="Calibri" panose="020F0502020204030204" pitchFamily="34" charset="0"/>
                <a:cs typeface="Times New Roman" panose="02020603050405020304" pitchFamily="18" charset="0"/>
              </a:rPr>
              <a:t>analyze</a:t>
            </a:r>
            <a:r>
              <a:rPr lang="en-IN" sz="2400" kern="100" dirty="0">
                <a:effectLst/>
                <a:latin typeface="+mj-lt"/>
                <a:ea typeface="Calibri" panose="020F0502020204030204" pitchFamily="34" charset="0"/>
                <a:cs typeface="Times New Roman" panose="02020603050405020304" pitchFamily="18" charset="0"/>
              </a:rPr>
              <a:t> numerical data.</a:t>
            </a:r>
          </a:p>
          <a:p>
            <a:pPr>
              <a:lnSpc>
                <a:spcPct val="107000"/>
              </a:lnSpc>
              <a:spcAft>
                <a:spcPts val="800"/>
              </a:spcAft>
              <a:buNone/>
            </a:pPr>
            <a:r>
              <a:rPr lang="en-IN" sz="2400" kern="100" dirty="0">
                <a:effectLst/>
                <a:latin typeface="+mj-lt"/>
                <a:ea typeface="Calibri" panose="020F0502020204030204" pitchFamily="34" charset="0"/>
                <a:cs typeface="Times New Roman" panose="02020603050405020304" pitchFamily="18" charset="0"/>
              </a:rPr>
              <a:t>This method aims to measure and quantify educational outcomes, </a:t>
            </a:r>
            <a:r>
              <a:rPr lang="en-IN" sz="2400" kern="100" dirty="0" err="1">
                <a:effectLst/>
                <a:latin typeface="+mj-lt"/>
                <a:ea typeface="Calibri" panose="020F0502020204030204" pitchFamily="34" charset="0"/>
                <a:cs typeface="Times New Roman" panose="02020603050405020304" pitchFamily="18" charset="0"/>
              </a:rPr>
              <a:t>behaviors</a:t>
            </a:r>
            <a:r>
              <a:rPr lang="en-IN" sz="2400" kern="100" dirty="0">
                <a:effectLst/>
                <a:latin typeface="+mj-lt"/>
                <a:ea typeface="Calibri" panose="020F0502020204030204" pitchFamily="34" charset="0"/>
                <a:cs typeface="Times New Roman" panose="02020603050405020304" pitchFamily="18" charset="0"/>
              </a:rPr>
              <a:t>, or attitudes, often to establish generalizable patterns and relationships.</a:t>
            </a:r>
          </a:p>
          <a:p>
            <a:pPr>
              <a:lnSpc>
                <a:spcPct val="107000"/>
              </a:lnSpc>
              <a:spcAft>
                <a:spcPts val="800"/>
              </a:spcAft>
              <a:buNone/>
            </a:pPr>
            <a:r>
              <a:rPr lang="en-IN" sz="2400" kern="100" dirty="0">
                <a:effectLst/>
                <a:latin typeface="+mj-lt"/>
                <a:ea typeface="Calibri" panose="020F0502020204030204" pitchFamily="34" charset="0"/>
                <a:cs typeface="Times New Roman" panose="02020603050405020304" pitchFamily="18" charset="0"/>
              </a:rPr>
              <a:t>By using statistical tools, researchers can test theories, assess interventions, and evaluate educational practices with a high degree of objectivity and precision.</a:t>
            </a:r>
          </a:p>
        </p:txBody>
      </p:sp>
    </p:spTree>
    <p:extLst>
      <p:ext uri="{BB962C8B-B14F-4D97-AF65-F5344CB8AC3E}">
        <p14:creationId xmlns:p14="http://schemas.microsoft.com/office/powerpoint/2010/main" val="132895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E0D5F8-9E9A-6EB6-AD51-80E1D8D406D3}"/>
              </a:ext>
            </a:extLst>
          </p:cNvPr>
          <p:cNvSpPr>
            <a:spLocks noGrp="1"/>
          </p:cNvSpPr>
          <p:nvPr>
            <p:ph idx="1"/>
          </p:nvPr>
        </p:nvSpPr>
        <p:spPr>
          <a:xfrm>
            <a:off x="304800" y="152400"/>
            <a:ext cx="8534400" cy="5867400"/>
          </a:xfrm>
        </p:spPr>
        <p:txBody>
          <a:bodyPr>
            <a:normAutofit/>
          </a:bodyPr>
          <a:lstStyle/>
          <a:p>
            <a:r>
              <a:rPr lang="en-IN" sz="2400" dirty="0">
                <a:solidFill>
                  <a:srgbClr val="0070C0"/>
                </a:solidFill>
              </a:rPr>
              <a:t>Common Approaches </a:t>
            </a:r>
            <a:r>
              <a:rPr lang="en-IN" sz="2400" kern="100" dirty="0">
                <a:solidFill>
                  <a:srgbClr val="0070C0"/>
                </a:solidFill>
                <a:ea typeface="Calibri" panose="020F0502020204030204" pitchFamily="34" charset="0"/>
                <a:cs typeface="Times New Roman" panose="02020603050405020304" pitchFamily="18" charset="0"/>
              </a:rPr>
              <a:t>of Quantitative Research</a:t>
            </a:r>
            <a:endParaRPr lang="en-IN" sz="2400" dirty="0">
              <a:solidFill>
                <a:srgbClr val="0070C0"/>
              </a:solidFill>
            </a:endParaRPr>
          </a:p>
          <a:p>
            <a:pPr lvl="0"/>
            <a:r>
              <a:rPr lang="en-IN" sz="2000" dirty="0"/>
              <a:t>Surveys: Surveys are a popular quantitative method involving structured questionnaires that gather data on various educational aspects, such as student performance or teacher satisfaction. They allow researchers to collect data from large populations quickly and efficiently.</a:t>
            </a:r>
            <a:br>
              <a:rPr lang="en-IN" sz="2000" dirty="0"/>
            </a:br>
            <a:endParaRPr lang="en-IN" sz="2000" dirty="0"/>
          </a:p>
          <a:p>
            <a:pPr lvl="0"/>
            <a:r>
              <a:rPr lang="en-IN" sz="2000" dirty="0"/>
              <a:t>Experiments: Experimental research involves manipulating one or more variables to determine their effect on other variables. In educational settings, experiments might test the impact of a new teaching method on student achievement, providing robust evidence for causal relationships.</a:t>
            </a:r>
            <a:br>
              <a:rPr lang="en-IN" sz="2000" dirty="0"/>
            </a:br>
            <a:endParaRPr lang="en-IN" sz="2000" dirty="0"/>
          </a:p>
          <a:p>
            <a:pPr lvl="0"/>
            <a:r>
              <a:rPr lang="en-IN" sz="2000" dirty="0"/>
              <a:t>Correlational Studies: Correlational research explores the relationships between variables without manipulating them. For example, researchers might investigate the correlation between students’ study habits and academic performance, revealing trends and associations that can inform educational strategies.</a:t>
            </a:r>
          </a:p>
          <a:p>
            <a:endParaRPr lang="en-IN" sz="2000" dirty="0"/>
          </a:p>
        </p:txBody>
      </p:sp>
    </p:spTree>
    <p:extLst>
      <p:ext uri="{BB962C8B-B14F-4D97-AF65-F5344CB8AC3E}">
        <p14:creationId xmlns:p14="http://schemas.microsoft.com/office/powerpoint/2010/main" val="1652273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524C9F-7286-7E80-1E41-0B30F1C8DFDE}"/>
              </a:ext>
            </a:extLst>
          </p:cNvPr>
          <p:cNvSpPr>
            <a:spLocks noGrp="1"/>
          </p:cNvSpPr>
          <p:nvPr>
            <p:ph idx="1"/>
          </p:nvPr>
        </p:nvSpPr>
        <p:spPr>
          <a:xfrm>
            <a:off x="304800" y="304800"/>
            <a:ext cx="8686800" cy="6172200"/>
          </a:xfrm>
        </p:spPr>
        <p:txBody>
          <a:bodyPr>
            <a:normAutofit/>
          </a:bodyPr>
          <a:lstStyle/>
          <a:p>
            <a:r>
              <a:rPr lang="en-IN" sz="2800" dirty="0">
                <a:solidFill>
                  <a:srgbClr val="0070C0"/>
                </a:solidFill>
              </a:rPr>
              <a:t>Benefits and Limitations </a:t>
            </a:r>
            <a:r>
              <a:rPr lang="en-IN" sz="2800" kern="100" dirty="0">
                <a:solidFill>
                  <a:srgbClr val="0070C0"/>
                </a:solidFill>
                <a:ea typeface="Calibri" panose="020F0502020204030204" pitchFamily="34" charset="0"/>
                <a:cs typeface="Times New Roman" panose="02020603050405020304" pitchFamily="18" charset="0"/>
              </a:rPr>
              <a:t>of Quantitative Research</a:t>
            </a:r>
            <a:endParaRPr lang="en-IN" sz="2800" dirty="0">
              <a:solidFill>
                <a:srgbClr val="0070C0"/>
              </a:solidFill>
            </a:endParaRPr>
          </a:p>
          <a:p>
            <a:r>
              <a:rPr lang="en-IN" sz="2200" dirty="0"/>
              <a:t>The primary benefit of quantitative research is its ability to produce objective, replicable results that can be generalized across larger populations.</a:t>
            </a:r>
          </a:p>
          <a:p>
            <a:r>
              <a:rPr lang="en-IN" sz="2200" dirty="0"/>
              <a:t>It provides clarity and precision, allowing for the identification of trends and causal relationships.</a:t>
            </a:r>
          </a:p>
          <a:p>
            <a:r>
              <a:rPr lang="en-IN" sz="2200" dirty="0"/>
              <a:t>However, its limitations include a potential lack of depth in understanding individual experiences and the constraints of predefined variables, which might not capture the complexity of educational environments fully.</a:t>
            </a:r>
          </a:p>
          <a:p>
            <a:r>
              <a:rPr lang="en-IN" sz="2200" dirty="0"/>
              <a:t>In short, quantitative research methods are invaluable in educational research, offering clear insights and helping to shape effective educational practices.</a:t>
            </a:r>
          </a:p>
          <a:p>
            <a:r>
              <a:rPr lang="en-IN" sz="2200" dirty="0"/>
              <a:t>However, balancing these methods with qualitative approaches can provide a more comprehensive view of educational issues.</a:t>
            </a:r>
          </a:p>
          <a:p>
            <a:endParaRPr lang="en-IN" sz="2200" dirty="0"/>
          </a:p>
        </p:txBody>
      </p:sp>
    </p:spTree>
    <p:extLst>
      <p:ext uri="{BB962C8B-B14F-4D97-AF65-F5344CB8AC3E}">
        <p14:creationId xmlns:p14="http://schemas.microsoft.com/office/powerpoint/2010/main" val="546888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43130-2E65-93C2-A2F9-395E325F6DB2}"/>
              </a:ext>
            </a:extLst>
          </p:cNvPr>
          <p:cNvSpPr>
            <a:spLocks noGrp="1"/>
          </p:cNvSpPr>
          <p:nvPr>
            <p:ph idx="1"/>
          </p:nvPr>
        </p:nvSpPr>
        <p:spPr>
          <a:xfrm>
            <a:off x="304800" y="457200"/>
            <a:ext cx="8458200" cy="5638800"/>
          </a:xfrm>
        </p:spPr>
        <p:txBody>
          <a:bodyPr>
            <a:normAutofit/>
          </a:bodyPr>
          <a:lstStyle/>
          <a:p>
            <a:r>
              <a:rPr lang="en-IN" sz="2800" dirty="0">
                <a:solidFill>
                  <a:srgbClr val="0070C0"/>
                </a:solidFill>
              </a:rPr>
              <a:t>Definition and explanation of qualitative research</a:t>
            </a:r>
          </a:p>
          <a:p>
            <a:r>
              <a:rPr lang="en-IN" sz="2400" dirty="0"/>
              <a:t>Qualitative research is a method of inquiry that focuses on understanding the underlying reasons, motivations, and experiences of individuals.</a:t>
            </a:r>
          </a:p>
          <a:p>
            <a:r>
              <a:rPr lang="en-IN" sz="2400" dirty="0"/>
              <a:t>Unlike quantitative research, which seeks to quantify variables and identify patterns through numerical data, qualitative research delves into the richness and complexity of human </a:t>
            </a:r>
            <a:r>
              <a:rPr lang="en-IN" sz="2400" dirty="0" err="1"/>
              <a:t>behavior</a:t>
            </a:r>
            <a:r>
              <a:rPr lang="en-IN" sz="2400" dirty="0"/>
              <a:t> and social phenomena.</a:t>
            </a:r>
          </a:p>
          <a:p>
            <a:endParaRPr lang="en-IN" sz="2400" dirty="0"/>
          </a:p>
        </p:txBody>
      </p:sp>
    </p:spTree>
    <p:extLst>
      <p:ext uri="{BB962C8B-B14F-4D97-AF65-F5344CB8AC3E}">
        <p14:creationId xmlns:p14="http://schemas.microsoft.com/office/powerpoint/2010/main" val="2266768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3FAE-45F0-C0E0-779A-2005A7CE43A8}"/>
              </a:ext>
            </a:extLst>
          </p:cNvPr>
          <p:cNvSpPr>
            <a:spLocks noGrp="1"/>
          </p:cNvSpPr>
          <p:nvPr>
            <p:ph idx="1"/>
          </p:nvPr>
        </p:nvSpPr>
        <p:spPr>
          <a:xfrm>
            <a:off x="304800" y="304800"/>
            <a:ext cx="8610600" cy="6096000"/>
          </a:xfrm>
        </p:spPr>
        <p:txBody>
          <a:bodyPr>
            <a:normAutofit/>
          </a:bodyPr>
          <a:lstStyle/>
          <a:p>
            <a:r>
              <a:rPr lang="en-IN" sz="2400" b="0" dirty="0">
                <a:latin typeface="+mj-lt"/>
              </a:rPr>
              <a:t>Grounded Theory: Grounded theory allows patterns and themes to emerge from the data rather than imposing preconceived theory.</a:t>
            </a:r>
          </a:p>
          <a:p>
            <a:r>
              <a:rPr lang="en-IN" sz="2400" b="0" dirty="0">
                <a:latin typeface="+mj-lt"/>
              </a:rPr>
              <a:t>Ethnography: Ethnography involves immersing researchers  in a social group to understand their behaviours, beliefs, and values through participant observation.</a:t>
            </a:r>
          </a:p>
          <a:p>
            <a:pPr fontAlgn="base"/>
            <a:r>
              <a:rPr lang="en-US" sz="2400" b="0" dirty="0">
                <a:latin typeface="+mj-lt"/>
              </a:rPr>
              <a:t>Autoethnography: Autoethnography is an approach to qualitative research where the researcher uses their own personal experiences to extend the understanding of a certain group, culture, or setting. Essentially, it allows for the exploration of self within the context of social phenomena.</a:t>
            </a:r>
          </a:p>
        </p:txBody>
      </p:sp>
    </p:spTree>
    <p:extLst>
      <p:ext uri="{BB962C8B-B14F-4D97-AF65-F5344CB8AC3E}">
        <p14:creationId xmlns:p14="http://schemas.microsoft.com/office/powerpoint/2010/main" val="593019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1D8DD0-8ADB-67D6-B8A6-9A59A7C95CC1}"/>
              </a:ext>
            </a:extLst>
          </p:cNvPr>
          <p:cNvSpPr>
            <a:spLocks noGrp="1"/>
          </p:cNvSpPr>
          <p:nvPr>
            <p:ph idx="1"/>
          </p:nvPr>
        </p:nvSpPr>
        <p:spPr>
          <a:xfrm>
            <a:off x="381000" y="304800"/>
            <a:ext cx="8763000" cy="5715000"/>
          </a:xfrm>
        </p:spPr>
        <p:txBody>
          <a:bodyPr>
            <a:noAutofit/>
          </a:bodyPr>
          <a:lstStyle/>
          <a:p>
            <a:r>
              <a:rPr lang="en-IN" sz="2800" dirty="0">
                <a:solidFill>
                  <a:srgbClr val="0070C0"/>
                </a:solidFill>
              </a:rPr>
              <a:t>Common approaches such as interviews, observations, and case studies</a:t>
            </a:r>
          </a:p>
          <a:p>
            <a:r>
              <a:rPr lang="en-IN" sz="2200" dirty="0"/>
              <a:t>In educational settings, qualitative research is often employed to explore issues that cannot be easily quantified.</a:t>
            </a:r>
          </a:p>
          <a:p>
            <a:r>
              <a:rPr lang="en-IN" sz="2200" dirty="0"/>
              <a:t>Common approaches include interviews, observations, and case studies. Interviews involve direct conversations with participants to gain in-depth insights into their perspectives and experiences.</a:t>
            </a:r>
          </a:p>
          <a:p>
            <a:r>
              <a:rPr lang="en-IN" sz="2200" dirty="0"/>
              <a:t>Observations involve systematically watching and recording </a:t>
            </a:r>
            <a:r>
              <a:rPr lang="en-IN" sz="2200" dirty="0" err="1"/>
              <a:t>behaviors</a:t>
            </a:r>
            <a:r>
              <a:rPr lang="en-IN" sz="2200" dirty="0"/>
              <a:t> and interactions in natural settings, providing contextual insights that might be missed in interviews.</a:t>
            </a:r>
          </a:p>
          <a:p>
            <a:r>
              <a:rPr lang="en-IN" sz="2200" dirty="0"/>
              <a:t>Case studies involve an in-depth analysis of a single case or a small group of cases, offering a comprehensive view of the phenomena being studied.</a:t>
            </a:r>
          </a:p>
          <a:p>
            <a:endParaRPr lang="en-IN" sz="2200" dirty="0"/>
          </a:p>
        </p:txBody>
      </p:sp>
    </p:spTree>
    <p:extLst>
      <p:ext uri="{BB962C8B-B14F-4D97-AF65-F5344CB8AC3E}">
        <p14:creationId xmlns:p14="http://schemas.microsoft.com/office/powerpoint/2010/main" val="1373857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250196-127B-D104-402D-D7EB5A293AD4}"/>
              </a:ext>
            </a:extLst>
          </p:cNvPr>
          <p:cNvSpPr>
            <a:spLocks noGrp="1"/>
          </p:cNvSpPr>
          <p:nvPr>
            <p:ph idx="1"/>
          </p:nvPr>
        </p:nvSpPr>
        <p:spPr>
          <a:xfrm>
            <a:off x="228600" y="304800"/>
            <a:ext cx="8915400" cy="6400800"/>
          </a:xfrm>
        </p:spPr>
        <p:txBody>
          <a:bodyPr>
            <a:normAutofit/>
          </a:bodyPr>
          <a:lstStyle/>
          <a:p>
            <a:r>
              <a:rPr lang="en-IN" sz="2800" dirty="0">
                <a:solidFill>
                  <a:srgbClr val="0070C0"/>
                </a:solidFill>
              </a:rPr>
              <a:t>Benefits and limitations of qualitative research in educational settings</a:t>
            </a:r>
          </a:p>
          <a:p>
            <a:r>
              <a:rPr lang="en-IN" sz="2000" dirty="0"/>
              <a:t>The benefits of qualitative research in education are significant.</a:t>
            </a:r>
          </a:p>
          <a:p>
            <a:r>
              <a:rPr lang="en-IN" sz="2000" dirty="0"/>
              <a:t>It provides a deeper understanding of student experiences, teaching methods, and educational environments.</a:t>
            </a:r>
          </a:p>
          <a:p>
            <a:r>
              <a:rPr lang="en-IN" sz="2000" dirty="0"/>
              <a:t>This method is particularly useful for exploring new or complex issues where existing theories may not apply.</a:t>
            </a:r>
          </a:p>
          <a:p>
            <a:r>
              <a:rPr lang="en-IN" sz="2000" dirty="0"/>
              <a:t>It allows for flexibility in data collection and can reveal unexpected findings that lead to new research questions.</a:t>
            </a:r>
          </a:p>
          <a:p>
            <a:r>
              <a:rPr lang="en-IN" sz="2000" dirty="0"/>
              <a:t>However, qualitative research also has limitations.</a:t>
            </a:r>
          </a:p>
          <a:p>
            <a:r>
              <a:rPr lang="en-IN" sz="2000" dirty="0"/>
              <a:t>It is often time-consuming and may involve small sample sizes, which can limit the generalizability of findings.</a:t>
            </a:r>
          </a:p>
          <a:p>
            <a:r>
              <a:rPr lang="en-IN" sz="2000" dirty="0"/>
              <a:t>The subjective nature of qualitative analysis can introduce researcher bias, and interpreting data may be influenced by personal perspectives.</a:t>
            </a:r>
          </a:p>
          <a:p>
            <a:r>
              <a:rPr lang="en-IN" sz="2000" dirty="0"/>
              <a:t>Overall, qualitative research is a valuable tool in educational research, offering rich, detailed insights that can inform practice and policy, despite its inherent limitations</a:t>
            </a:r>
          </a:p>
          <a:p>
            <a:endParaRPr lang="en-IN" sz="2000" dirty="0"/>
          </a:p>
        </p:txBody>
      </p:sp>
    </p:spTree>
    <p:extLst>
      <p:ext uri="{BB962C8B-B14F-4D97-AF65-F5344CB8AC3E}">
        <p14:creationId xmlns:p14="http://schemas.microsoft.com/office/powerpoint/2010/main" val="3823012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D5F23-9203-DF93-483C-71F619C82E9D}"/>
              </a:ext>
            </a:extLst>
          </p:cNvPr>
          <p:cNvSpPr>
            <a:spLocks noGrp="1"/>
          </p:cNvSpPr>
          <p:nvPr>
            <p:ph idx="1"/>
          </p:nvPr>
        </p:nvSpPr>
        <p:spPr>
          <a:xfrm>
            <a:off x="381000" y="762000"/>
            <a:ext cx="7962900" cy="3918477"/>
          </a:xfrm>
        </p:spPr>
        <p:txBody>
          <a:bodyPr>
            <a:normAutofit/>
          </a:bodyPr>
          <a:lstStyle/>
          <a:p>
            <a:r>
              <a:rPr lang="en-IN" sz="2800" dirty="0"/>
              <a:t>Mixed Methods Research</a:t>
            </a:r>
          </a:p>
          <a:p>
            <a:r>
              <a:rPr lang="en-IN" sz="2800" dirty="0"/>
              <a:t>Mixed methods research combines qualitative and quantitative approaches to offer a comprehensive view of a research problem.</a:t>
            </a:r>
          </a:p>
          <a:p>
            <a:r>
              <a:rPr lang="en-IN" sz="2800" dirty="0"/>
              <a:t>This methodology integrates the strengths of both approaches, allowing researchers to validate and enrich their findings through diverse data sources and methods.</a:t>
            </a:r>
          </a:p>
          <a:p>
            <a:endParaRPr lang="en-IN" sz="2800" dirty="0"/>
          </a:p>
        </p:txBody>
      </p:sp>
    </p:spTree>
    <p:extLst>
      <p:ext uri="{BB962C8B-B14F-4D97-AF65-F5344CB8AC3E}">
        <p14:creationId xmlns:p14="http://schemas.microsoft.com/office/powerpoint/2010/main" val="1369718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DBD52F-4403-4903-DB73-AA186C86A90A}"/>
              </a:ext>
            </a:extLst>
          </p:cNvPr>
          <p:cNvSpPr>
            <a:spLocks noGrp="1"/>
          </p:cNvSpPr>
          <p:nvPr>
            <p:ph idx="1"/>
          </p:nvPr>
        </p:nvSpPr>
        <p:spPr>
          <a:xfrm>
            <a:off x="381000" y="381000"/>
            <a:ext cx="7962900" cy="5257800"/>
          </a:xfrm>
        </p:spPr>
        <p:txBody>
          <a:bodyPr/>
          <a:lstStyle/>
          <a:p>
            <a:r>
              <a:rPr lang="en-IN" sz="2800" dirty="0"/>
              <a:t>Definition and Explanation</a:t>
            </a:r>
          </a:p>
          <a:p>
            <a:r>
              <a:rPr lang="en-IN" sz="2400" dirty="0"/>
              <a:t>Mixed methods research involves collecting, </a:t>
            </a:r>
            <a:r>
              <a:rPr lang="en-IN" sz="2400" dirty="0" err="1"/>
              <a:t>analyzing</a:t>
            </a:r>
            <a:r>
              <a:rPr lang="en-IN" sz="2400" dirty="0"/>
              <a:t>, and integrating both quantitative (numerical data) and qualitative (descriptive data) information within a single study.</a:t>
            </a:r>
          </a:p>
          <a:p>
            <a:r>
              <a:rPr lang="en-IN" sz="2400" dirty="0"/>
              <a:t>This approach is particularly useful for addressing complex research questions that cannot be fully understood through a single method alone.</a:t>
            </a:r>
          </a:p>
          <a:p>
            <a:r>
              <a:rPr lang="en-IN" sz="2400" dirty="0"/>
              <a:t>By blending qualitative insights with quantitative evidence, researchers can gain a more nuanced understanding of phenomena.</a:t>
            </a:r>
          </a:p>
          <a:p>
            <a:endParaRPr lang="en-IN" dirty="0"/>
          </a:p>
        </p:txBody>
      </p:sp>
    </p:spTree>
    <p:extLst>
      <p:ext uri="{BB962C8B-B14F-4D97-AF65-F5344CB8AC3E}">
        <p14:creationId xmlns:p14="http://schemas.microsoft.com/office/powerpoint/2010/main" val="1216507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2325AC-3D32-B3A7-CAE8-1D8D62038877}"/>
              </a:ext>
            </a:extLst>
          </p:cNvPr>
          <p:cNvSpPr txBox="1"/>
          <p:nvPr/>
        </p:nvSpPr>
        <p:spPr>
          <a:xfrm>
            <a:off x="381000" y="304800"/>
            <a:ext cx="8610600" cy="4729500"/>
          </a:xfrm>
          <a:prstGeom prst="rect">
            <a:avLst/>
          </a:prstGeom>
          <a:noFill/>
        </p:spPr>
        <p:txBody>
          <a:bodyPr wrap="square">
            <a:spAutoFit/>
          </a:bodyPr>
          <a:lstStyle/>
          <a:p>
            <a:pPr>
              <a:lnSpc>
                <a:spcPct val="107000"/>
              </a:lnSpc>
              <a:spcAft>
                <a:spcPts val="800"/>
              </a:spcAft>
              <a:buNone/>
            </a:pPr>
            <a:r>
              <a:rPr lang="en-IN" sz="2400" b="1" kern="100" dirty="0">
                <a:effectLst/>
                <a:latin typeface="Calibri" panose="020F0502020204030204" pitchFamily="34" charset="0"/>
                <a:ea typeface="Calibri" panose="020F0502020204030204" pitchFamily="34" charset="0"/>
                <a:cs typeface="Times New Roman" panose="02020603050405020304" pitchFamily="18" charset="0"/>
              </a:rPr>
              <a:t>Integration of Approaches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The integration of qualitative and quantitative approaches in mixed methods research can occur at various stages of the research process.</a:t>
            </a:r>
          </a:p>
          <a:p>
            <a:pPr>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For example, researchers may use qualitative methods (such as interviews or focus groups) to explore participants’ experiences and perceptions, and then employ quantitative methods (such as surveys or experiments) to test hypotheses and measure variables.</a:t>
            </a:r>
          </a:p>
          <a:p>
            <a:pPr>
              <a:lnSpc>
                <a:spcPct val="107000"/>
              </a:lnSpc>
              <a:spcAft>
                <a:spcPts val="800"/>
              </a:spcAft>
              <a:buNone/>
            </a:pPr>
            <a:r>
              <a:rPr lang="en-IN" sz="2400" kern="100" dirty="0">
                <a:effectLst/>
                <a:latin typeface="Calibri" panose="020F0502020204030204" pitchFamily="34" charset="0"/>
                <a:ea typeface="Calibri" panose="020F0502020204030204" pitchFamily="34" charset="0"/>
                <a:cs typeface="Times New Roman" panose="02020603050405020304" pitchFamily="18" charset="0"/>
              </a:rPr>
              <a:t>This combination allows for triangulation, where different data sources and methods converge to enhance the reliability and validity of the results.</a:t>
            </a:r>
          </a:p>
        </p:txBody>
      </p:sp>
    </p:spTree>
    <p:extLst>
      <p:ext uri="{BB962C8B-B14F-4D97-AF65-F5344CB8AC3E}">
        <p14:creationId xmlns:p14="http://schemas.microsoft.com/office/powerpoint/2010/main" val="3939260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B7412A-95D5-0ECB-4766-666147A0FB3C}"/>
              </a:ext>
            </a:extLst>
          </p:cNvPr>
          <p:cNvSpPr>
            <a:spLocks noGrp="1"/>
          </p:cNvSpPr>
          <p:nvPr>
            <p:ph idx="1"/>
          </p:nvPr>
        </p:nvSpPr>
        <p:spPr>
          <a:xfrm>
            <a:off x="304800" y="304800"/>
            <a:ext cx="8610600" cy="6324600"/>
          </a:xfrm>
        </p:spPr>
        <p:txBody>
          <a:bodyPr>
            <a:normAutofit/>
          </a:bodyPr>
          <a:lstStyle/>
          <a:p>
            <a:r>
              <a:rPr lang="en-IN" sz="2800" dirty="0"/>
              <a:t>Examples in Educational Research</a:t>
            </a:r>
          </a:p>
          <a:p>
            <a:r>
              <a:rPr lang="en-IN" sz="2000" dirty="0"/>
              <a:t>In educational research, mixed methods can provide valuable insights into teaching and learning processes.</a:t>
            </a:r>
          </a:p>
          <a:p>
            <a:r>
              <a:rPr lang="en-IN" sz="2000" dirty="0"/>
              <a:t>For instance, a study might use quantitative surveys to assess students’ academic performance and then conduct qualitative interviews to explore students’ attitudes toward their learning experiences.</a:t>
            </a:r>
          </a:p>
          <a:p>
            <a:r>
              <a:rPr lang="en-IN" sz="2000" dirty="0"/>
              <a:t>Another example is evaluating the effectiveness of a new teaching strategy by analysing test scores (quantitative) and gathering feedback from teachers and students through focus groups (qualitative).</a:t>
            </a:r>
          </a:p>
          <a:p>
            <a:r>
              <a:rPr lang="en-IN" sz="2000" dirty="0"/>
              <a:t>By integrating these methods, researchers can develop a richer understanding of educational interventions and their impact.</a:t>
            </a:r>
          </a:p>
          <a:p>
            <a:r>
              <a:rPr lang="en-IN" sz="2000" dirty="0"/>
              <a:t>Overall, mixed methods research offers a robust framework for exploring educational issues from multiple perspectives, leading to more comprehensive and actionable insights.</a:t>
            </a:r>
          </a:p>
          <a:p>
            <a:endParaRPr lang="en-IN" sz="2000" dirty="0"/>
          </a:p>
        </p:txBody>
      </p:sp>
    </p:spTree>
    <p:extLst>
      <p:ext uri="{BB962C8B-B14F-4D97-AF65-F5344CB8AC3E}">
        <p14:creationId xmlns:p14="http://schemas.microsoft.com/office/powerpoint/2010/main" val="3979357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5800"/>
            <a:ext cx="7520940" cy="548640"/>
          </a:xfrm>
        </p:spPr>
        <p:txBody>
          <a:bodyPr/>
          <a:lstStyle/>
          <a:p>
            <a:r>
              <a:rPr lang="en-US" dirty="0"/>
              <a:t>Scales of measurement:</a:t>
            </a:r>
            <a:endParaRPr lang="en-IN" dirty="0"/>
          </a:p>
        </p:txBody>
      </p:sp>
      <p:sp>
        <p:nvSpPr>
          <p:cNvPr id="3" name="Content Placeholder 2"/>
          <p:cNvSpPr>
            <a:spLocks noGrp="1"/>
          </p:cNvSpPr>
          <p:nvPr>
            <p:ph idx="1"/>
          </p:nvPr>
        </p:nvSpPr>
        <p:spPr>
          <a:xfrm>
            <a:off x="838200" y="1447800"/>
            <a:ext cx="7520940" cy="3579849"/>
          </a:xfrm>
        </p:spPr>
        <p:txBody>
          <a:bodyPr>
            <a:normAutofit fontScale="77500" lnSpcReduction="20000"/>
          </a:bodyPr>
          <a:lstStyle/>
          <a:p>
            <a:pPr marL="571500" indent="-571500">
              <a:buFont typeface="Wingdings" pitchFamily="2" charset="2"/>
              <a:buChar char="Ø"/>
            </a:pPr>
            <a:r>
              <a:rPr lang="en-US" sz="3600" b="0" dirty="0"/>
              <a:t>Levels of measurement are also called scales of measurement.</a:t>
            </a:r>
          </a:p>
          <a:p>
            <a:pPr marL="0" indent="0"/>
            <a:endParaRPr lang="en-US" sz="3600" b="0" dirty="0"/>
          </a:p>
          <a:p>
            <a:pPr marL="571500" indent="-571500">
              <a:buFont typeface="Wingdings" pitchFamily="2" charset="2"/>
              <a:buChar char="Ø"/>
            </a:pPr>
            <a:r>
              <a:rPr lang="en-US" sz="3600" b="0" dirty="0"/>
              <a:t>Depending on the level of measurement of the variable, you can analyze your data. There is a </a:t>
            </a:r>
            <a:r>
              <a:rPr lang="en-US" sz="3600" b="0" dirty="0">
                <a:solidFill>
                  <a:srgbClr val="0070C0"/>
                </a:solidFill>
              </a:rPr>
              <a:t>hierarchy in the complexity and precision of the level of measurement</a:t>
            </a:r>
            <a:r>
              <a:rPr lang="en-US" sz="3600" b="0" dirty="0"/>
              <a:t>, from low (nominal) to high (ratio).</a:t>
            </a:r>
            <a:endParaRPr lang="en-IN" sz="3600" b="0" dirty="0"/>
          </a:p>
        </p:txBody>
      </p:sp>
    </p:spTree>
    <p:extLst>
      <p:ext uri="{BB962C8B-B14F-4D97-AF65-F5344CB8AC3E}">
        <p14:creationId xmlns:p14="http://schemas.microsoft.com/office/powerpoint/2010/main" val="1753089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685800"/>
            <a:ext cx="7635240" cy="4461972"/>
          </a:xfrm>
        </p:spPr>
        <p:txBody>
          <a:bodyPr>
            <a:normAutofit/>
          </a:bodyPr>
          <a:lstStyle/>
          <a:p>
            <a:r>
              <a:rPr lang="en-US" sz="2800" dirty="0"/>
              <a:t>There are </a:t>
            </a:r>
            <a:r>
              <a:rPr lang="en-US" sz="2800" dirty="0">
                <a:solidFill>
                  <a:srgbClr val="FF0000"/>
                </a:solidFill>
              </a:rPr>
              <a:t>four different </a:t>
            </a:r>
            <a:r>
              <a:rPr lang="en-US" sz="2800" dirty="0"/>
              <a:t>scales of measurement. The data can be defined as being one of the four scales. The four types of scales are:</a:t>
            </a:r>
          </a:p>
          <a:p>
            <a:endParaRPr lang="en-IN" sz="2800" dirty="0"/>
          </a:p>
          <a:p>
            <a:pPr marL="457200" lvl="0" indent="-457200">
              <a:buFont typeface="Wingdings" pitchFamily="2" charset="2"/>
              <a:buChar char="v"/>
            </a:pPr>
            <a:r>
              <a:rPr lang="en-US" sz="2800" dirty="0"/>
              <a:t>Nominal Scale</a:t>
            </a:r>
            <a:endParaRPr lang="en-IN" sz="2800" dirty="0"/>
          </a:p>
          <a:p>
            <a:pPr marL="457200" lvl="0" indent="-457200">
              <a:buFont typeface="Wingdings" pitchFamily="2" charset="2"/>
              <a:buChar char="v"/>
            </a:pPr>
            <a:r>
              <a:rPr lang="en-US" sz="2800" dirty="0"/>
              <a:t>Ordinal Scale</a:t>
            </a:r>
            <a:endParaRPr lang="en-IN" sz="2800" dirty="0"/>
          </a:p>
          <a:p>
            <a:pPr marL="457200" lvl="0" indent="-457200">
              <a:buFont typeface="Wingdings" pitchFamily="2" charset="2"/>
              <a:buChar char="v"/>
            </a:pPr>
            <a:r>
              <a:rPr lang="en-US" sz="2800" dirty="0"/>
              <a:t>Interval Scale</a:t>
            </a:r>
            <a:endParaRPr lang="en-IN" sz="2800" dirty="0"/>
          </a:p>
          <a:p>
            <a:pPr marL="457200" lvl="0" indent="-457200">
              <a:buFont typeface="Wingdings" pitchFamily="2" charset="2"/>
              <a:buChar char="v"/>
            </a:pPr>
            <a:r>
              <a:rPr lang="en-US" sz="2800" dirty="0"/>
              <a:t>Ratio Scale</a:t>
            </a:r>
            <a:endParaRPr lang="en-IN" sz="2800" dirty="0"/>
          </a:p>
          <a:p>
            <a:endParaRPr lang="en-IN" sz="2800" dirty="0"/>
          </a:p>
        </p:txBody>
      </p:sp>
    </p:spTree>
    <p:extLst>
      <p:ext uri="{BB962C8B-B14F-4D97-AF65-F5344CB8AC3E}">
        <p14:creationId xmlns:p14="http://schemas.microsoft.com/office/powerpoint/2010/main" val="1386885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7520940" cy="777240"/>
          </a:xfrm>
        </p:spPr>
        <p:txBody>
          <a:bodyPr/>
          <a:lstStyle/>
          <a:p>
            <a:br>
              <a:rPr lang="en-US" dirty="0"/>
            </a:br>
            <a:r>
              <a:rPr lang="en-US" dirty="0"/>
              <a:t>Nominal Scale</a:t>
            </a:r>
            <a:br>
              <a:rPr lang="en-IN" dirty="0"/>
            </a:br>
            <a:endParaRPr lang="en-IN" dirty="0"/>
          </a:p>
        </p:txBody>
      </p:sp>
      <p:sp>
        <p:nvSpPr>
          <p:cNvPr id="3" name="Content Placeholder 2"/>
          <p:cNvSpPr>
            <a:spLocks noGrp="1"/>
          </p:cNvSpPr>
          <p:nvPr>
            <p:ph idx="1"/>
          </p:nvPr>
        </p:nvSpPr>
        <p:spPr>
          <a:xfrm>
            <a:off x="838200" y="1371600"/>
            <a:ext cx="7520940" cy="3579849"/>
          </a:xfrm>
        </p:spPr>
        <p:txBody>
          <a:bodyPr>
            <a:normAutofit/>
          </a:bodyPr>
          <a:lstStyle/>
          <a:p>
            <a:r>
              <a:rPr lang="en-US" sz="2800" dirty="0"/>
              <a:t>A nominal scale is the 1</a:t>
            </a:r>
            <a:r>
              <a:rPr lang="en-US" sz="2800" baseline="30000" dirty="0"/>
              <a:t>st </a:t>
            </a:r>
            <a:r>
              <a:rPr lang="en-US" sz="2800" dirty="0"/>
              <a:t>level of measurement scale in which the numbers serve as </a:t>
            </a:r>
            <a:r>
              <a:rPr lang="en-US" sz="2800" dirty="0">
                <a:solidFill>
                  <a:srgbClr val="FF0000"/>
                </a:solidFill>
              </a:rPr>
              <a:t>“tags” or “labels”</a:t>
            </a:r>
            <a:r>
              <a:rPr lang="en-US" sz="2800" dirty="0"/>
              <a:t> to </a:t>
            </a:r>
            <a:r>
              <a:rPr lang="en-US" sz="2800" dirty="0">
                <a:solidFill>
                  <a:srgbClr val="0070C0"/>
                </a:solidFill>
              </a:rPr>
              <a:t>classify or identify the objects</a:t>
            </a:r>
            <a:r>
              <a:rPr lang="en-US" sz="2800" dirty="0"/>
              <a:t>. </a:t>
            </a:r>
          </a:p>
          <a:p>
            <a:r>
              <a:rPr lang="en-US" sz="2800" dirty="0"/>
              <a:t>A nominal scale usually deals with the non-numeric variables or the numbers that do not have any value.</a:t>
            </a:r>
            <a:endParaRPr lang="en-IN" sz="2800" dirty="0"/>
          </a:p>
        </p:txBody>
      </p:sp>
    </p:spTree>
    <p:extLst>
      <p:ext uri="{BB962C8B-B14F-4D97-AF65-F5344CB8AC3E}">
        <p14:creationId xmlns:p14="http://schemas.microsoft.com/office/powerpoint/2010/main" val="518602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Characteristics of Nominal Scale</a:t>
            </a:r>
            <a:br>
              <a:rPr lang="en-IN" dirty="0"/>
            </a:br>
            <a:endParaRPr lang="en-IN" dirty="0"/>
          </a:p>
        </p:txBody>
      </p:sp>
      <p:sp>
        <p:nvSpPr>
          <p:cNvPr id="3" name="Content Placeholder 2"/>
          <p:cNvSpPr>
            <a:spLocks noGrp="1"/>
          </p:cNvSpPr>
          <p:nvPr>
            <p:ph idx="1"/>
          </p:nvPr>
        </p:nvSpPr>
        <p:spPr>
          <a:xfrm>
            <a:off x="822960" y="914400"/>
            <a:ext cx="8168640" cy="4309572"/>
          </a:xfrm>
        </p:spPr>
        <p:txBody>
          <a:bodyPr>
            <a:noAutofit/>
          </a:bodyPr>
          <a:lstStyle/>
          <a:p>
            <a:pPr marL="457200" lvl="0" indent="-457200">
              <a:buFont typeface="+mj-lt"/>
              <a:buAutoNum type="arabicPeriod"/>
            </a:pPr>
            <a:r>
              <a:rPr lang="en-US" sz="2800" dirty="0"/>
              <a:t>A nominal scale variable is classified into two or more categories. In this measurement mechanism, the answer should fall into either of the classes.</a:t>
            </a:r>
            <a:endParaRPr lang="en-IN" sz="2800" dirty="0"/>
          </a:p>
          <a:p>
            <a:pPr marL="457200" lvl="0" indent="-457200">
              <a:buFont typeface="+mj-lt"/>
              <a:buAutoNum type="arabicPeriod"/>
            </a:pPr>
            <a:r>
              <a:rPr lang="en-US" sz="2800" dirty="0"/>
              <a:t>It is qualitative. The numbers are used here to identify the objects.</a:t>
            </a:r>
            <a:endParaRPr lang="en-IN" sz="2800" dirty="0"/>
          </a:p>
          <a:p>
            <a:pPr marL="457200" lvl="0" indent="-457200">
              <a:buFont typeface="+mj-lt"/>
              <a:buAutoNum type="arabicPeriod"/>
            </a:pPr>
            <a:r>
              <a:rPr lang="en-US" sz="2800" dirty="0"/>
              <a:t>The numbers don’t define the object characteristics. The only permissible aspect of numbers in the nominal scale is “</a:t>
            </a:r>
            <a:r>
              <a:rPr lang="en-US" sz="2800" dirty="0">
                <a:solidFill>
                  <a:srgbClr val="FF0000"/>
                </a:solidFill>
              </a:rPr>
              <a:t>counting</a:t>
            </a:r>
            <a:r>
              <a:rPr lang="en-US" sz="2800" dirty="0"/>
              <a:t>.”</a:t>
            </a:r>
            <a:endParaRPr lang="en-IN" sz="2800" dirty="0"/>
          </a:p>
          <a:p>
            <a:endParaRPr lang="en-IN" sz="2800" dirty="0"/>
          </a:p>
        </p:txBody>
      </p:sp>
    </p:spTree>
    <p:extLst>
      <p:ext uri="{BB962C8B-B14F-4D97-AF65-F5344CB8AC3E}">
        <p14:creationId xmlns:p14="http://schemas.microsoft.com/office/powerpoint/2010/main" val="3194575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Examples of Nominal scale:</a:t>
            </a:r>
            <a:br>
              <a:rPr lang="en-IN" dirty="0"/>
            </a:br>
            <a:endParaRPr lang="en-IN" dirty="0"/>
          </a:p>
        </p:txBody>
      </p:sp>
      <p:sp>
        <p:nvSpPr>
          <p:cNvPr id="3" name="Content Placeholder 2"/>
          <p:cNvSpPr>
            <a:spLocks noGrp="1"/>
          </p:cNvSpPr>
          <p:nvPr>
            <p:ph idx="1"/>
          </p:nvPr>
        </p:nvSpPr>
        <p:spPr>
          <a:xfrm>
            <a:off x="533400" y="1100628"/>
            <a:ext cx="8382000" cy="5376372"/>
          </a:xfrm>
        </p:spPr>
        <p:txBody>
          <a:bodyPr>
            <a:noAutofit/>
          </a:bodyPr>
          <a:lstStyle/>
          <a:p>
            <a:pPr lvl="0"/>
            <a:r>
              <a:rPr lang="en-US" sz="2400" dirty="0"/>
              <a:t>1. What is your </a:t>
            </a:r>
            <a:r>
              <a:rPr lang="en-US" sz="2400" dirty="0">
                <a:solidFill>
                  <a:srgbClr val="FF0000"/>
                </a:solidFill>
              </a:rPr>
              <a:t>gender</a:t>
            </a:r>
            <a:r>
              <a:rPr lang="en-US" sz="2400" dirty="0"/>
              <a:t>?</a:t>
            </a:r>
            <a:endParaRPr lang="en-IN" sz="2400" dirty="0"/>
          </a:p>
          <a:p>
            <a:pPr indent="822325"/>
            <a:r>
              <a:rPr lang="en-US" sz="2400" dirty="0"/>
              <a:t>M- Male</a:t>
            </a:r>
            <a:endParaRPr lang="en-IN" sz="2400" dirty="0"/>
          </a:p>
          <a:p>
            <a:pPr indent="822325"/>
            <a:r>
              <a:rPr lang="en-US" sz="2400" dirty="0"/>
              <a:t>F- Female</a:t>
            </a:r>
            <a:endParaRPr lang="en-IN" sz="2400" dirty="0"/>
          </a:p>
          <a:p>
            <a:r>
              <a:rPr lang="en-US" sz="2400" dirty="0"/>
              <a:t>Here, the variables are used as tags, and the answer to this question should be either M or F.</a:t>
            </a:r>
            <a:endParaRPr lang="en-IN" sz="2400" dirty="0"/>
          </a:p>
          <a:p>
            <a:r>
              <a:rPr lang="en-US" sz="2400" dirty="0"/>
              <a:t> </a:t>
            </a:r>
            <a:endParaRPr lang="en-IN" sz="2400" dirty="0"/>
          </a:p>
          <a:p>
            <a:pPr lvl="0"/>
            <a:r>
              <a:rPr lang="en-US" sz="2400" dirty="0"/>
              <a:t>2. What is your </a:t>
            </a:r>
            <a:r>
              <a:rPr lang="en-US" sz="2400" dirty="0">
                <a:solidFill>
                  <a:srgbClr val="FF0000"/>
                </a:solidFill>
              </a:rPr>
              <a:t>religion</a:t>
            </a:r>
            <a:r>
              <a:rPr lang="en-US" sz="2400" dirty="0"/>
              <a:t>?</a:t>
            </a:r>
            <a:endParaRPr lang="en-IN" sz="2400" dirty="0"/>
          </a:p>
          <a:p>
            <a:pPr marL="1430338" lvl="0" indent="-265113"/>
            <a:r>
              <a:rPr lang="en-US" sz="2400" dirty="0"/>
              <a:t>Hindu </a:t>
            </a:r>
            <a:endParaRPr lang="en-IN" sz="2400" dirty="0"/>
          </a:p>
          <a:p>
            <a:pPr marL="1430338" lvl="0" indent="-265113"/>
            <a:r>
              <a:rPr lang="en-US" sz="2400" dirty="0"/>
              <a:t>Muslim</a:t>
            </a:r>
            <a:endParaRPr lang="en-IN" sz="2400" dirty="0"/>
          </a:p>
          <a:p>
            <a:pPr marL="265113" lvl="0" indent="900113"/>
            <a:r>
              <a:rPr lang="en-US" sz="2400" dirty="0"/>
              <a:t>Christan</a:t>
            </a:r>
            <a:endParaRPr lang="en-IN" sz="2400" dirty="0"/>
          </a:p>
          <a:p>
            <a:pPr marL="1430338" lvl="0" indent="-265113"/>
            <a:r>
              <a:rPr lang="en-US" sz="2400" dirty="0"/>
              <a:t>Sikh</a:t>
            </a:r>
            <a:endParaRPr lang="en-IN" sz="2400" dirty="0"/>
          </a:p>
          <a:p>
            <a:endParaRPr lang="en-IN" sz="2400" dirty="0"/>
          </a:p>
        </p:txBody>
      </p:sp>
    </p:spTree>
    <p:extLst>
      <p:ext uri="{BB962C8B-B14F-4D97-AF65-F5344CB8AC3E}">
        <p14:creationId xmlns:p14="http://schemas.microsoft.com/office/powerpoint/2010/main" val="1830581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762000"/>
            <a:ext cx="7520940" cy="5257800"/>
          </a:xfrm>
        </p:spPr>
        <p:txBody>
          <a:bodyPr>
            <a:normAutofit lnSpcReduction="10000"/>
          </a:bodyPr>
          <a:lstStyle/>
          <a:p>
            <a:pPr lvl="0"/>
            <a:r>
              <a:rPr lang="en-US" sz="2400" dirty="0"/>
              <a:t>3. What is your </a:t>
            </a:r>
            <a:r>
              <a:rPr lang="en-US" sz="2400" dirty="0">
                <a:solidFill>
                  <a:srgbClr val="FF0000"/>
                </a:solidFill>
              </a:rPr>
              <a:t>caste</a:t>
            </a:r>
            <a:r>
              <a:rPr lang="en-US" sz="2400" dirty="0"/>
              <a:t>?</a:t>
            </a:r>
            <a:endParaRPr lang="en-IN" sz="2400" dirty="0"/>
          </a:p>
          <a:p>
            <a:pPr lvl="0" indent="468313"/>
            <a:r>
              <a:rPr lang="en-US" sz="2400" dirty="0"/>
              <a:t>General          </a:t>
            </a:r>
            <a:endParaRPr lang="en-IN" sz="2400" dirty="0"/>
          </a:p>
          <a:p>
            <a:pPr lvl="0" indent="468313"/>
            <a:r>
              <a:rPr lang="en-US" sz="2400" dirty="0"/>
              <a:t>SC</a:t>
            </a:r>
            <a:endParaRPr lang="en-IN" sz="2400" dirty="0"/>
          </a:p>
          <a:p>
            <a:pPr lvl="0" indent="468313"/>
            <a:r>
              <a:rPr lang="en-US" sz="2400" dirty="0"/>
              <a:t>ST</a:t>
            </a:r>
            <a:endParaRPr lang="en-IN" sz="2400" dirty="0"/>
          </a:p>
          <a:p>
            <a:pPr lvl="0" indent="468313"/>
            <a:r>
              <a:rPr lang="en-US" sz="2400" dirty="0"/>
              <a:t>OBC /SEBC</a:t>
            </a:r>
          </a:p>
          <a:p>
            <a:pPr lvl="0" indent="468313"/>
            <a:r>
              <a:rPr lang="en-US" sz="2400" dirty="0"/>
              <a:t>EWS</a:t>
            </a:r>
          </a:p>
          <a:p>
            <a:pPr lvl="0" indent="468313"/>
            <a:endParaRPr lang="en-IN" sz="2400" dirty="0"/>
          </a:p>
          <a:p>
            <a:pPr lvl="0"/>
            <a:r>
              <a:rPr lang="en-US" sz="2400" dirty="0"/>
              <a:t>4. What is your </a:t>
            </a:r>
            <a:r>
              <a:rPr lang="en-US" sz="2400" dirty="0">
                <a:solidFill>
                  <a:srgbClr val="FF0000"/>
                </a:solidFill>
              </a:rPr>
              <a:t>nationality</a:t>
            </a:r>
            <a:r>
              <a:rPr lang="en-US" sz="2400" dirty="0"/>
              <a:t>?</a:t>
            </a:r>
            <a:endParaRPr lang="en-IN" sz="2400" dirty="0"/>
          </a:p>
          <a:p>
            <a:pPr lvl="0" indent="468313"/>
            <a:r>
              <a:rPr lang="en-US" sz="2400" dirty="0"/>
              <a:t>Indian</a:t>
            </a:r>
            <a:endParaRPr lang="en-IN" sz="2400" dirty="0"/>
          </a:p>
          <a:p>
            <a:pPr lvl="0" indent="468313"/>
            <a:r>
              <a:rPr lang="en-US" sz="2400" dirty="0"/>
              <a:t>Nepali</a:t>
            </a:r>
            <a:endParaRPr lang="en-IN" sz="2400" dirty="0"/>
          </a:p>
          <a:p>
            <a:pPr lvl="0" indent="468313"/>
            <a:r>
              <a:rPr lang="en-US" sz="2400" dirty="0"/>
              <a:t>Tibetan</a:t>
            </a:r>
            <a:endParaRPr lang="en-IN" sz="2400" dirty="0"/>
          </a:p>
          <a:p>
            <a:pPr lvl="0" indent="468313"/>
            <a:r>
              <a:rPr lang="en-US" sz="2400" dirty="0" err="1"/>
              <a:t>Mayanmarian</a:t>
            </a:r>
            <a:r>
              <a:rPr lang="en-US" sz="2400" dirty="0"/>
              <a:t> </a:t>
            </a:r>
            <a:endParaRPr lang="en-IN" sz="2400" dirty="0"/>
          </a:p>
          <a:p>
            <a:endParaRPr lang="en-IN" sz="2400" dirty="0"/>
          </a:p>
        </p:txBody>
      </p:sp>
    </p:spTree>
    <p:extLst>
      <p:ext uri="{BB962C8B-B14F-4D97-AF65-F5344CB8AC3E}">
        <p14:creationId xmlns:p14="http://schemas.microsoft.com/office/powerpoint/2010/main" val="253671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795828"/>
            <a:ext cx="7520940" cy="5376372"/>
          </a:xfrm>
        </p:spPr>
        <p:txBody>
          <a:bodyPr>
            <a:noAutofit/>
          </a:bodyPr>
          <a:lstStyle/>
          <a:p>
            <a:pPr lvl="0"/>
            <a:r>
              <a:rPr lang="en-US" sz="2800" dirty="0"/>
              <a:t>5. What is your </a:t>
            </a:r>
            <a:r>
              <a:rPr lang="en-US" sz="2800" dirty="0">
                <a:solidFill>
                  <a:srgbClr val="FF0000"/>
                </a:solidFill>
              </a:rPr>
              <a:t>marital status</a:t>
            </a:r>
            <a:r>
              <a:rPr lang="en-US" sz="2800" dirty="0"/>
              <a:t>?</a:t>
            </a:r>
            <a:endParaRPr lang="en-IN" sz="2800" dirty="0"/>
          </a:p>
          <a:p>
            <a:pPr lvl="0" indent="468313"/>
            <a:r>
              <a:rPr lang="en-US" sz="2800" dirty="0"/>
              <a:t>Married  </a:t>
            </a:r>
            <a:endParaRPr lang="en-IN" sz="2800" dirty="0"/>
          </a:p>
          <a:p>
            <a:pPr lvl="0" indent="468313"/>
            <a:r>
              <a:rPr lang="en-US" sz="2800" dirty="0"/>
              <a:t>Unmarried</a:t>
            </a:r>
            <a:endParaRPr lang="en-IN" sz="2800" dirty="0"/>
          </a:p>
          <a:p>
            <a:pPr lvl="0" indent="468313"/>
            <a:r>
              <a:rPr lang="en-US" sz="2800" dirty="0"/>
              <a:t>Divorced</a:t>
            </a:r>
            <a:endParaRPr lang="en-IN" sz="2800" dirty="0"/>
          </a:p>
          <a:p>
            <a:pPr lvl="0" indent="468313"/>
            <a:r>
              <a:rPr lang="en-US" sz="2800" dirty="0"/>
              <a:t>Separated</a:t>
            </a:r>
            <a:endParaRPr lang="en-IN" sz="2800" dirty="0"/>
          </a:p>
          <a:p>
            <a:pPr lvl="0"/>
            <a:r>
              <a:rPr lang="en-US" sz="2800" dirty="0"/>
              <a:t>6. Where do you </a:t>
            </a:r>
            <a:r>
              <a:rPr lang="en-US" sz="2800" dirty="0">
                <a:solidFill>
                  <a:srgbClr val="FF0000"/>
                </a:solidFill>
              </a:rPr>
              <a:t>live (residential area)</a:t>
            </a:r>
            <a:r>
              <a:rPr lang="en-US" sz="2800" dirty="0"/>
              <a:t>?</a:t>
            </a:r>
            <a:endParaRPr lang="en-IN" sz="2800" dirty="0"/>
          </a:p>
          <a:p>
            <a:pPr lvl="0" indent="557213"/>
            <a:r>
              <a:rPr lang="en-US" sz="2800" dirty="0"/>
              <a:t>Suburban</a:t>
            </a:r>
            <a:endParaRPr lang="en-IN" sz="2800" dirty="0"/>
          </a:p>
          <a:p>
            <a:pPr lvl="0" indent="557213"/>
            <a:r>
              <a:rPr lang="en-US" sz="2800" dirty="0"/>
              <a:t>Village </a:t>
            </a:r>
          </a:p>
          <a:p>
            <a:pPr lvl="0" indent="557213"/>
            <a:r>
              <a:rPr lang="en-US" sz="2800" dirty="0"/>
              <a:t>City</a:t>
            </a:r>
          </a:p>
          <a:p>
            <a:pPr lvl="0" indent="557213"/>
            <a:r>
              <a:rPr lang="en-US" sz="2800" dirty="0"/>
              <a:t>Town </a:t>
            </a:r>
            <a:endParaRPr lang="en-IN" sz="2800" dirty="0"/>
          </a:p>
          <a:p>
            <a:pPr lvl="0" indent="557213"/>
            <a:endParaRPr lang="en-IN" sz="2800" dirty="0"/>
          </a:p>
          <a:p>
            <a:endParaRPr lang="en-IN" sz="2800" dirty="0"/>
          </a:p>
        </p:txBody>
      </p:sp>
    </p:spTree>
    <p:extLst>
      <p:ext uri="{BB962C8B-B14F-4D97-AF65-F5344CB8AC3E}">
        <p14:creationId xmlns:p14="http://schemas.microsoft.com/office/powerpoint/2010/main" val="1322243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sz="3200" i="1" dirty="0">
              <a:solidFill>
                <a:schemeClr val="accent4">
                  <a:lumMod val="50000"/>
                </a:schemeClr>
              </a:solidFill>
            </a:endParaRPr>
          </a:p>
          <a:p>
            <a:r>
              <a:rPr lang="en-US" sz="3200" i="1" dirty="0">
                <a:solidFill>
                  <a:schemeClr val="accent4">
                    <a:lumMod val="50000"/>
                  </a:schemeClr>
                </a:solidFill>
              </a:rPr>
              <a:t>Remark: Nominal scale is often used in research surveys and questionnaires  where only variable </a:t>
            </a:r>
            <a:r>
              <a:rPr lang="en-US" sz="3200" i="1" dirty="0">
                <a:solidFill>
                  <a:srgbClr val="FF0000"/>
                </a:solidFill>
              </a:rPr>
              <a:t>labels</a:t>
            </a:r>
            <a:r>
              <a:rPr lang="en-US" sz="3200" i="1" dirty="0">
                <a:solidFill>
                  <a:schemeClr val="accent4">
                    <a:lumMod val="50000"/>
                  </a:schemeClr>
                </a:solidFill>
              </a:rPr>
              <a:t> hold significance.</a:t>
            </a:r>
            <a:endParaRPr lang="en-IN" sz="3200" i="1" dirty="0">
              <a:solidFill>
                <a:schemeClr val="accent4">
                  <a:lumMod val="50000"/>
                </a:schemeClr>
              </a:solidFill>
            </a:endParaRPr>
          </a:p>
          <a:p>
            <a:endParaRPr lang="en-IN" sz="3200" dirty="0">
              <a:solidFill>
                <a:schemeClr val="accent4">
                  <a:lumMod val="50000"/>
                </a:schemeClr>
              </a:solidFill>
            </a:endParaRPr>
          </a:p>
        </p:txBody>
      </p:sp>
    </p:spTree>
    <p:extLst>
      <p:ext uri="{BB962C8B-B14F-4D97-AF65-F5344CB8AC3E}">
        <p14:creationId xmlns:p14="http://schemas.microsoft.com/office/powerpoint/2010/main" val="3765774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763000" cy="6096000"/>
          </a:xfrm>
        </p:spPr>
        <p:txBody>
          <a:bodyPr>
            <a:noAutofit/>
          </a:bodyPr>
          <a:lstStyle/>
          <a:p>
            <a:r>
              <a:rPr lang="en-US" sz="2400" dirty="0"/>
              <a:t>For instance, a customer survey asking “Which brand of smartphones do you prefer?” Options : </a:t>
            </a:r>
          </a:p>
          <a:p>
            <a:r>
              <a:rPr lang="en-US" sz="2400" dirty="0"/>
              <a:t>“Apple”- 1 , “Samsung”-2, “OnePlus”-3.</a:t>
            </a:r>
            <a:endParaRPr lang="en-IN" sz="2400" dirty="0"/>
          </a:p>
          <a:p>
            <a:pPr lvl="0"/>
            <a:endParaRPr lang="en-US" sz="2400" dirty="0"/>
          </a:p>
          <a:p>
            <a:pPr lvl="0"/>
            <a:r>
              <a:rPr lang="en-US" sz="2400" dirty="0"/>
              <a:t>In the above example, when a survey respondent selects Apple as their preferred brand, the data entered and associated will be “1”. This helped in quantifying and answering the final question</a:t>
            </a:r>
          </a:p>
          <a:p>
            <a:pPr lvl="0">
              <a:buFont typeface="Wingdings" panose="05000000000000000000" pitchFamily="2" charset="2"/>
              <a:buChar char="§"/>
            </a:pPr>
            <a:r>
              <a:rPr lang="en-US" sz="2400" i="1" dirty="0">
                <a:solidFill>
                  <a:schemeClr val="accent4">
                    <a:lumMod val="75000"/>
                  </a:schemeClr>
                </a:solidFill>
              </a:rPr>
              <a:t>How many respondents selected Apple?</a:t>
            </a:r>
          </a:p>
          <a:p>
            <a:pPr lvl="0">
              <a:buFont typeface="Wingdings" panose="05000000000000000000" pitchFamily="2" charset="2"/>
              <a:buChar char="§"/>
            </a:pPr>
            <a:r>
              <a:rPr lang="en-US" sz="2400" i="1" dirty="0">
                <a:solidFill>
                  <a:schemeClr val="accent4">
                    <a:lumMod val="75000"/>
                  </a:schemeClr>
                </a:solidFill>
              </a:rPr>
              <a:t>How many selected Samsung, and how many went for OnePlus?</a:t>
            </a:r>
          </a:p>
          <a:p>
            <a:pPr lvl="0">
              <a:buFont typeface="Wingdings" panose="05000000000000000000" pitchFamily="2" charset="2"/>
              <a:buChar char="§"/>
            </a:pPr>
            <a:r>
              <a:rPr lang="en-US" sz="2400" i="1" dirty="0">
                <a:solidFill>
                  <a:schemeClr val="accent4">
                    <a:lumMod val="75000"/>
                  </a:schemeClr>
                </a:solidFill>
              </a:rPr>
              <a:t>Which one is of the highest sale?.</a:t>
            </a:r>
            <a:endParaRPr lang="en-IN" sz="2400" i="1" dirty="0">
              <a:solidFill>
                <a:schemeClr val="accent4">
                  <a:lumMod val="75000"/>
                </a:schemeClr>
              </a:solidFill>
            </a:endParaRPr>
          </a:p>
          <a:p>
            <a:pPr lvl="0"/>
            <a:endParaRPr lang="en-US" sz="2400" dirty="0"/>
          </a:p>
          <a:p>
            <a:pPr lvl="0"/>
            <a:r>
              <a:rPr lang="en-US" sz="2400" dirty="0"/>
              <a:t>This is the fundamental of quantitative research, and nominal scale is the most fundamental research scale.</a:t>
            </a:r>
            <a:endParaRPr lang="en-IN" sz="2400" dirty="0"/>
          </a:p>
          <a:p>
            <a:endParaRPr lang="en-IN" sz="2400" dirty="0"/>
          </a:p>
        </p:txBody>
      </p:sp>
    </p:spTree>
    <p:extLst>
      <p:ext uri="{BB962C8B-B14F-4D97-AF65-F5344CB8AC3E}">
        <p14:creationId xmlns:p14="http://schemas.microsoft.com/office/powerpoint/2010/main" val="2744763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594360"/>
            <a:ext cx="7520940" cy="548640"/>
          </a:xfrm>
        </p:spPr>
        <p:txBody>
          <a:bodyPr/>
          <a:lstStyle/>
          <a:p>
            <a:r>
              <a:rPr lang="en-US" dirty="0"/>
              <a:t>Ordinal Scale:</a:t>
            </a:r>
            <a:endParaRPr lang="en-IN" dirty="0"/>
          </a:p>
        </p:txBody>
      </p:sp>
      <p:sp>
        <p:nvSpPr>
          <p:cNvPr id="3" name="Content Placeholder 2"/>
          <p:cNvSpPr>
            <a:spLocks noGrp="1"/>
          </p:cNvSpPr>
          <p:nvPr>
            <p:ph idx="1"/>
          </p:nvPr>
        </p:nvSpPr>
        <p:spPr>
          <a:xfrm>
            <a:off x="609600" y="1219200"/>
            <a:ext cx="8321040" cy="3943812"/>
          </a:xfrm>
        </p:spPr>
        <p:txBody>
          <a:bodyPr>
            <a:normAutofit/>
          </a:bodyPr>
          <a:lstStyle/>
          <a:p>
            <a:endParaRPr lang="en-US" sz="2800" dirty="0"/>
          </a:p>
          <a:p>
            <a:r>
              <a:rPr lang="en-US" sz="2800" dirty="0"/>
              <a:t>The ordinal scale is the 2</a:t>
            </a:r>
            <a:r>
              <a:rPr lang="en-US" sz="2800" baseline="30000" dirty="0"/>
              <a:t>nd</a:t>
            </a:r>
            <a:r>
              <a:rPr lang="en-US" sz="2800" dirty="0"/>
              <a:t> level of measurement that reports the </a:t>
            </a:r>
            <a:r>
              <a:rPr lang="en-US" sz="2800" dirty="0">
                <a:solidFill>
                  <a:srgbClr val="FF0000"/>
                </a:solidFill>
              </a:rPr>
              <a:t>ordering and ranking of data without establishing the degree of variation between them. </a:t>
            </a:r>
            <a:r>
              <a:rPr lang="en-US" sz="2800" dirty="0"/>
              <a:t>Ordinal represents the “order.”</a:t>
            </a:r>
            <a:endParaRPr lang="en-IN" sz="2800" dirty="0"/>
          </a:p>
        </p:txBody>
      </p:sp>
    </p:spTree>
    <p:extLst>
      <p:ext uri="{BB962C8B-B14F-4D97-AF65-F5344CB8AC3E}">
        <p14:creationId xmlns:p14="http://schemas.microsoft.com/office/powerpoint/2010/main" val="6347953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Characteristics of the Ordinal Scale</a:t>
            </a:r>
            <a:br>
              <a:rPr lang="en-IN" dirty="0"/>
            </a:br>
            <a:endParaRPr lang="en-IN" dirty="0"/>
          </a:p>
        </p:txBody>
      </p:sp>
      <p:sp>
        <p:nvSpPr>
          <p:cNvPr id="3" name="Content Placeholder 2"/>
          <p:cNvSpPr>
            <a:spLocks noGrp="1"/>
          </p:cNvSpPr>
          <p:nvPr>
            <p:ph idx="1"/>
          </p:nvPr>
        </p:nvSpPr>
        <p:spPr>
          <a:xfrm>
            <a:off x="822960" y="1100628"/>
            <a:ext cx="7940040" cy="5452572"/>
          </a:xfrm>
        </p:spPr>
        <p:txBody>
          <a:bodyPr>
            <a:noAutofit/>
          </a:bodyPr>
          <a:lstStyle/>
          <a:p>
            <a:pPr marL="514350" lvl="0" indent="-514350">
              <a:buFont typeface="+mj-lt"/>
              <a:buAutoNum type="arabicPeriod"/>
            </a:pPr>
            <a:r>
              <a:rPr lang="en-US" sz="2800" dirty="0"/>
              <a:t>The ordinal scale shows the </a:t>
            </a:r>
            <a:r>
              <a:rPr lang="en-US" sz="2800" dirty="0">
                <a:solidFill>
                  <a:schemeClr val="accent4">
                    <a:lumMod val="75000"/>
                  </a:schemeClr>
                </a:solidFill>
              </a:rPr>
              <a:t>relative ranking </a:t>
            </a:r>
            <a:r>
              <a:rPr lang="en-US" sz="2800" dirty="0"/>
              <a:t>of the variables.</a:t>
            </a:r>
            <a:endParaRPr lang="en-IN" sz="2800" dirty="0"/>
          </a:p>
          <a:p>
            <a:pPr marL="514350" lvl="0" indent="-514350">
              <a:buFont typeface="+mj-lt"/>
              <a:buAutoNum type="arabicPeriod"/>
            </a:pPr>
            <a:r>
              <a:rPr lang="en-US" sz="2800" dirty="0"/>
              <a:t>It </a:t>
            </a:r>
            <a:r>
              <a:rPr lang="en-US" sz="2800" dirty="0">
                <a:solidFill>
                  <a:schemeClr val="accent4">
                    <a:lumMod val="75000"/>
                  </a:schemeClr>
                </a:solidFill>
              </a:rPr>
              <a:t>identifies and describes the magnitude </a:t>
            </a:r>
            <a:r>
              <a:rPr lang="en-US" sz="2800" dirty="0"/>
              <a:t>of a variable.</a:t>
            </a:r>
            <a:endParaRPr lang="en-IN" sz="2800" dirty="0"/>
          </a:p>
          <a:p>
            <a:pPr marL="514350" lvl="0" indent="-514350">
              <a:buFont typeface="+mj-lt"/>
              <a:buAutoNum type="arabicPeriod"/>
            </a:pPr>
            <a:r>
              <a:rPr lang="en-US" sz="2800" dirty="0"/>
              <a:t>Along with the information provided by the nominal scale, ordinal scales give the rankings of those variables.</a:t>
            </a:r>
            <a:endParaRPr lang="en-IN" sz="2800" dirty="0"/>
          </a:p>
          <a:p>
            <a:pPr marL="514350" lvl="0" indent="-514350">
              <a:buFont typeface="+mj-lt"/>
              <a:buAutoNum type="arabicPeriod"/>
            </a:pPr>
            <a:r>
              <a:rPr lang="en-US" sz="2800" dirty="0"/>
              <a:t>The </a:t>
            </a:r>
            <a:r>
              <a:rPr lang="en-US" sz="2800" dirty="0">
                <a:solidFill>
                  <a:srgbClr val="0070C0"/>
                </a:solidFill>
              </a:rPr>
              <a:t>interval properties are not known</a:t>
            </a:r>
            <a:r>
              <a:rPr lang="en-US" sz="2800" dirty="0"/>
              <a:t>.</a:t>
            </a:r>
            <a:endParaRPr lang="en-IN" sz="2800" dirty="0"/>
          </a:p>
          <a:p>
            <a:endParaRPr lang="en-IN" sz="2800" dirty="0"/>
          </a:p>
        </p:txBody>
      </p:sp>
    </p:spTree>
    <p:extLst>
      <p:ext uri="{BB962C8B-B14F-4D97-AF65-F5344CB8AC3E}">
        <p14:creationId xmlns:p14="http://schemas.microsoft.com/office/powerpoint/2010/main" val="3830989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b="1" dirty="0"/>
            </a:br>
            <a:r>
              <a:rPr lang="en-US" b="1" dirty="0"/>
              <a:t>Examples of ordinal scale:</a:t>
            </a:r>
            <a:br>
              <a:rPr lang="en-IN" dirty="0"/>
            </a:br>
            <a:endParaRPr lang="en-IN" dirty="0"/>
          </a:p>
        </p:txBody>
      </p:sp>
      <p:sp>
        <p:nvSpPr>
          <p:cNvPr id="3" name="Content Placeholder 2"/>
          <p:cNvSpPr>
            <a:spLocks noGrp="1"/>
          </p:cNvSpPr>
          <p:nvPr>
            <p:ph idx="1"/>
          </p:nvPr>
        </p:nvSpPr>
        <p:spPr>
          <a:xfrm>
            <a:off x="822960" y="1100628"/>
            <a:ext cx="7520940" cy="5604972"/>
          </a:xfrm>
        </p:spPr>
        <p:txBody>
          <a:bodyPr>
            <a:noAutofit/>
          </a:bodyPr>
          <a:lstStyle/>
          <a:p>
            <a:pPr lvl="0">
              <a:buAutoNum type="arabicPeriod"/>
            </a:pPr>
            <a:r>
              <a:rPr lang="en-US" sz="2400" dirty="0"/>
              <a:t>Ranking of school students – </a:t>
            </a:r>
          </a:p>
          <a:p>
            <a:pPr marL="0" lvl="0" indent="811213"/>
            <a:r>
              <a:rPr lang="en-US" sz="2400" dirty="0"/>
              <a:t>1</a:t>
            </a:r>
            <a:r>
              <a:rPr lang="en-US" sz="2400" baseline="30000" dirty="0"/>
              <a:t>st</a:t>
            </a:r>
            <a:r>
              <a:rPr lang="en-US" sz="2400" dirty="0"/>
              <a:t> Position – 91%</a:t>
            </a:r>
          </a:p>
          <a:p>
            <a:pPr marL="0" lvl="0" indent="811213"/>
            <a:r>
              <a:rPr lang="en-US" sz="2400" dirty="0"/>
              <a:t>2</a:t>
            </a:r>
            <a:r>
              <a:rPr lang="en-US" sz="2400" baseline="30000" dirty="0"/>
              <a:t>nd</a:t>
            </a:r>
            <a:r>
              <a:rPr lang="en-US" sz="2400" dirty="0"/>
              <a:t> Position – 89%</a:t>
            </a:r>
          </a:p>
          <a:p>
            <a:pPr marL="0" lvl="0" indent="811213"/>
            <a:r>
              <a:rPr lang="en-US" sz="2400" dirty="0"/>
              <a:t>3</a:t>
            </a:r>
            <a:r>
              <a:rPr lang="en-US" sz="2400" baseline="30000" dirty="0"/>
              <a:t>rd</a:t>
            </a:r>
            <a:r>
              <a:rPr lang="en-US" sz="2400" dirty="0"/>
              <a:t> Position – 82%</a:t>
            </a:r>
          </a:p>
          <a:p>
            <a:pPr marL="0" lvl="0" indent="811213"/>
            <a:endParaRPr lang="en-US" sz="2400" dirty="0"/>
          </a:p>
          <a:p>
            <a:pPr lvl="0"/>
            <a:r>
              <a:rPr lang="en-US" sz="2400" dirty="0"/>
              <a:t>2. Evaluating the frequency of occurrences-</a:t>
            </a:r>
          </a:p>
          <a:p>
            <a:pPr marL="0" lvl="0" indent="0"/>
            <a:r>
              <a:rPr lang="en-US" sz="2400" dirty="0"/>
              <a:t>      I do smoke:</a:t>
            </a:r>
            <a:endParaRPr lang="en-IN" sz="2400" dirty="0"/>
          </a:p>
          <a:p>
            <a:pPr marL="173038" lvl="1" indent="638175"/>
            <a:r>
              <a:rPr lang="en-US" sz="2400" b="1" dirty="0"/>
              <a:t>Very often     ( more than 10 times)    15</a:t>
            </a:r>
            <a:endParaRPr lang="en-IN" sz="2400" b="1" dirty="0"/>
          </a:p>
          <a:p>
            <a:pPr marL="173038" lvl="1" indent="638175"/>
            <a:r>
              <a:rPr lang="en-US" sz="2400" b="1" dirty="0"/>
              <a:t>Often             (5 to 9 times)                   7</a:t>
            </a:r>
            <a:endParaRPr lang="en-IN" sz="2400" b="1" dirty="0"/>
          </a:p>
          <a:p>
            <a:pPr marL="173038" lvl="1" indent="638175"/>
            <a:r>
              <a:rPr lang="en-US" sz="2400" b="1" dirty="0"/>
              <a:t>Not often       (1 o 4 times)                    4</a:t>
            </a:r>
            <a:endParaRPr lang="en-IN" sz="2400" b="1" dirty="0"/>
          </a:p>
          <a:p>
            <a:pPr marL="173038" lvl="1" indent="638175"/>
            <a:r>
              <a:rPr lang="en-US" sz="2400" b="1" dirty="0"/>
              <a:t>Not at all        (0 times)                          0</a:t>
            </a:r>
            <a:endParaRPr lang="en-IN" sz="2400" b="1" dirty="0"/>
          </a:p>
        </p:txBody>
      </p:sp>
    </p:spTree>
    <p:extLst>
      <p:ext uri="{BB962C8B-B14F-4D97-AF65-F5344CB8AC3E}">
        <p14:creationId xmlns:p14="http://schemas.microsoft.com/office/powerpoint/2010/main" val="2291805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457200"/>
            <a:ext cx="8229600" cy="6248400"/>
          </a:xfrm>
        </p:spPr>
        <p:txBody>
          <a:bodyPr>
            <a:normAutofit/>
          </a:bodyPr>
          <a:lstStyle/>
          <a:p>
            <a:pPr lvl="0"/>
            <a:r>
              <a:rPr lang="en-US" dirty="0"/>
              <a:t>3.  </a:t>
            </a:r>
            <a:r>
              <a:rPr lang="en-US" sz="2000" dirty="0"/>
              <a:t>Ratings in restaurant:</a:t>
            </a:r>
          </a:p>
          <a:p>
            <a:pPr lvl="0">
              <a:buFont typeface="Wingdings" pitchFamily="2" charset="2"/>
              <a:buChar char="ü"/>
            </a:pPr>
            <a:r>
              <a:rPr lang="en-US" sz="1800" dirty="0"/>
              <a:t>Quality of food </a:t>
            </a:r>
          </a:p>
          <a:p>
            <a:pPr lvl="0">
              <a:buFont typeface="Wingdings" pitchFamily="2" charset="2"/>
              <a:buChar char="ü"/>
            </a:pPr>
            <a:endParaRPr lang="en-US" dirty="0"/>
          </a:p>
          <a:p>
            <a:pPr lvl="0">
              <a:buFont typeface="Wingdings" pitchFamily="2" charset="2"/>
              <a:buChar char="ü"/>
            </a:pPr>
            <a:endParaRPr lang="en-US" dirty="0"/>
          </a:p>
          <a:p>
            <a:pPr lvl="0">
              <a:buFont typeface="Wingdings" pitchFamily="2" charset="2"/>
              <a:buChar char="ü"/>
            </a:pPr>
            <a:r>
              <a:rPr lang="en-US" sz="1800" dirty="0"/>
              <a:t>Quantity of food</a:t>
            </a:r>
          </a:p>
          <a:p>
            <a:pPr lvl="0">
              <a:buFont typeface="Wingdings" pitchFamily="2" charset="2"/>
              <a:buChar char="ü"/>
            </a:pPr>
            <a:endParaRPr lang="en-US" dirty="0"/>
          </a:p>
          <a:p>
            <a:pPr lvl="0">
              <a:buFont typeface="Wingdings" pitchFamily="2" charset="2"/>
              <a:buChar char="ü"/>
            </a:pPr>
            <a:endParaRPr lang="en-US" dirty="0"/>
          </a:p>
          <a:p>
            <a:pPr lvl="0">
              <a:buFont typeface="Wingdings" pitchFamily="2" charset="2"/>
              <a:buChar char="ü"/>
            </a:pPr>
            <a:r>
              <a:rPr lang="en-US" sz="1800" dirty="0"/>
              <a:t>Services of catering</a:t>
            </a:r>
          </a:p>
          <a:p>
            <a:pPr lvl="0">
              <a:buFont typeface="Wingdings" pitchFamily="2" charset="2"/>
              <a:buChar char="ü"/>
            </a:pPr>
            <a:endParaRPr lang="en-US" dirty="0"/>
          </a:p>
          <a:p>
            <a:pPr lvl="0">
              <a:buFont typeface="Wingdings" pitchFamily="2" charset="2"/>
              <a:buChar char="ü"/>
            </a:pPr>
            <a:endParaRPr lang="en-US" dirty="0"/>
          </a:p>
          <a:p>
            <a:pPr lvl="0">
              <a:buFont typeface="Wingdings" pitchFamily="2" charset="2"/>
              <a:buChar char="ü"/>
            </a:pPr>
            <a:r>
              <a:rPr lang="en-US" sz="1800" dirty="0"/>
              <a:t>Ambience of restaurant</a:t>
            </a:r>
          </a:p>
          <a:p>
            <a:pPr lvl="0">
              <a:buFont typeface="Wingdings" pitchFamily="2" charset="2"/>
              <a:buChar char="ü"/>
            </a:pPr>
            <a:endParaRPr lang="en-US" dirty="0"/>
          </a:p>
          <a:p>
            <a:pPr lvl="0">
              <a:buFont typeface="Wingdings" pitchFamily="2" charset="2"/>
              <a:buChar char="ü"/>
            </a:pPr>
            <a:endParaRPr lang="en-US" dirty="0"/>
          </a:p>
          <a:p>
            <a:pPr lvl="0">
              <a:buFont typeface="Wingdings" pitchFamily="2" charset="2"/>
              <a:buChar char="ü"/>
            </a:pPr>
            <a:r>
              <a:rPr lang="en-US" sz="1800" dirty="0"/>
              <a:t>Hygiene of restaurant </a:t>
            </a:r>
          </a:p>
          <a:p>
            <a:pPr lvl="0"/>
            <a:endParaRPr lang="en-US" dirty="0"/>
          </a:p>
          <a:p>
            <a:pPr lvl="0"/>
            <a:endParaRPr lang="en-US" dirty="0"/>
          </a:p>
        </p:txBody>
      </p:sp>
      <p:sp>
        <p:nvSpPr>
          <p:cNvPr id="5" name="AutoShape 2" descr="Smiley Face Rating Scale: Everything You Need to Know"/>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220532646"/>
              </p:ext>
            </p:extLst>
          </p:nvPr>
        </p:nvGraphicFramePr>
        <p:xfrm>
          <a:off x="1673225" y="1219200"/>
          <a:ext cx="6708776" cy="457200"/>
        </p:xfrm>
        <a:graphic>
          <a:graphicData uri="http://schemas.openxmlformats.org/drawingml/2006/table">
            <a:tbl>
              <a:tblPr firstRow="1" bandRow="1">
                <a:tableStyleId>{0660B408-B3CF-4A94-85FC-2B1E0A45F4A2}</a:tableStyleId>
              </a:tblPr>
              <a:tblGrid>
                <a:gridCol w="1677194">
                  <a:extLst>
                    <a:ext uri="{9D8B030D-6E8A-4147-A177-3AD203B41FA5}">
                      <a16:colId xmlns:a16="http://schemas.microsoft.com/office/drawing/2014/main" val="20000"/>
                    </a:ext>
                  </a:extLst>
                </a:gridCol>
                <a:gridCol w="1235827">
                  <a:extLst>
                    <a:ext uri="{9D8B030D-6E8A-4147-A177-3AD203B41FA5}">
                      <a16:colId xmlns:a16="http://schemas.microsoft.com/office/drawing/2014/main" val="20001"/>
                    </a:ext>
                  </a:extLst>
                </a:gridCol>
                <a:gridCol w="1500647">
                  <a:extLst>
                    <a:ext uri="{9D8B030D-6E8A-4147-A177-3AD203B41FA5}">
                      <a16:colId xmlns:a16="http://schemas.microsoft.com/office/drawing/2014/main" val="20002"/>
                    </a:ext>
                  </a:extLst>
                </a:gridCol>
                <a:gridCol w="1059281">
                  <a:extLst>
                    <a:ext uri="{9D8B030D-6E8A-4147-A177-3AD203B41FA5}">
                      <a16:colId xmlns:a16="http://schemas.microsoft.com/office/drawing/2014/main" val="20003"/>
                    </a:ext>
                  </a:extLst>
                </a:gridCol>
                <a:gridCol w="1235827">
                  <a:extLst>
                    <a:ext uri="{9D8B030D-6E8A-4147-A177-3AD203B41FA5}">
                      <a16:colId xmlns:a16="http://schemas.microsoft.com/office/drawing/2014/main" val="20004"/>
                    </a:ext>
                  </a:extLst>
                </a:gridCol>
              </a:tblGrid>
              <a:tr h="457200">
                <a:tc>
                  <a:txBody>
                    <a:bodyPr/>
                    <a:lstStyle/>
                    <a:p>
                      <a:r>
                        <a:rPr lang="en-US" dirty="0">
                          <a:solidFill>
                            <a:schemeClr val="tx1">
                              <a:lumMod val="85000"/>
                              <a:lumOff val="15000"/>
                            </a:schemeClr>
                          </a:solidFill>
                        </a:rPr>
                        <a:t>Very Good </a:t>
                      </a:r>
                      <a:endParaRPr lang="en-IN" dirty="0">
                        <a:solidFill>
                          <a:schemeClr val="tx1">
                            <a:lumMod val="85000"/>
                            <a:lumOff val="15000"/>
                          </a:schemeClr>
                        </a:solidFill>
                      </a:endParaRPr>
                    </a:p>
                  </a:txBody>
                  <a:tcPr/>
                </a:tc>
                <a:tc>
                  <a:txBody>
                    <a:bodyPr/>
                    <a:lstStyle/>
                    <a:p>
                      <a:r>
                        <a:rPr lang="en-US" dirty="0">
                          <a:solidFill>
                            <a:schemeClr val="tx1">
                              <a:lumMod val="85000"/>
                              <a:lumOff val="15000"/>
                            </a:schemeClr>
                          </a:solidFill>
                        </a:rPr>
                        <a:t>Good</a:t>
                      </a:r>
                      <a:endParaRPr lang="en-IN" dirty="0">
                        <a:solidFill>
                          <a:schemeClr val="tx1">
                            <a:lumMod val="85000"/>
                            <a:lumOff val="15000"/>
                          </a:schemeClr>
                        </a:solidFill>
                      </a:endParaRPr>
                    </a:p>
                  </a:txBody>
                  <a:tcPr/>
                </a:tc>
                <a:tc>
                  <a:txBody>
                    <a:bodyPr/>
                    <a:lstStyle/>
                    <a:p>
                      <a:r>
                        <a:rPr lang="en-US" dirty="0">
                          <a:solidFill>
                            <a:schemeClr val="tx1">
                              <a:lumMod val="85000"/>
                              <a:lumOff val="15000"/>
                            </a:schemeClr>
                          </a:solidFill>
                        </a:rPr>
                        <a:t>Average</a:t>
                      </a:r>
                      <a:endParaRPr lang="en-IN" dirty="0">
                        <a:solidFill>
                          <a:schemeClr val="tx1">
                            <a:lumMod val="85000"/>
                            <a:lumOff val="15000"/>
                          </a:schemeClr>
                        </a:solidFill>
                      </a:endParaRPr>
                    </a:p>
                  </a:txBody>
                  <a:tcPr/>
                </a:tc>
                <a:tc>
                  <a:txBody>
                    <a:bodyPr/>
                    <a:lstStyle/>
                    <a:p>
                      <a:r>
                        <a:rPr lang="en-US" dirty="0">
                          <a:solidFill>
                            <a:schemeClr val="tx1">
                              <a:lumMod val="85000"/>
                              <a:lumOff val="15000"/>
                            </a:schemeClr>
                          </a:solidFill>
                        </a:rPr>
                        <a:t>Fair</a:t>
                      </a:r>
                      <a:endParaRPr lang="en-IN" dirty="0">
                        <a:solidFill>
                          <a:schemeClr val="tx1">
                            <a:lumMod val="85000"/>
                            <a:lumOff val="15000"/>
                          </a:schemeClr>
                        </a:solidFill>
                      </a:endParaRPr>
                    </a:p>
                  </a:txBody>
                  <a:tcPr/>
                </a:tc>
                <a:tc>
                  <a:txBody>
                    <a:bodyPr/>
                    <a:lstStyle/>
                    <a:p>
                      <a:r>
                        <a:rPr lang="en-US" dirty="0">
                          <a:solidFill>
                            <a:schemeClr val="tx1">
                              <a:lumMod val="85000"/>
                              <a:lumOff val="15000"/>
                            </a:schemeClr>
                          </a:solidFill>
                        </a:rPr>
                        <a:t>Poor</a:t>
                      </a:r>
                      <a:endParaRPr lang="en-IN" dirty="0">
                        <a:solidFill>
                          <a:schemeClr val="tx1">
                            <a:lumMod val="85000"/>
                            <a:lumOff val="15000"/>
                          </a:schemeClr>
                        </a:solidFill>
                      </a:endParaRPr>
                    </a:p>
                  </a:txBody>
                  <a:tcPr/>
                </a:tc>
                <a:extLst>
                  <a:ext uri="{0D108BD9-81ED-4DB2-BD59-A6C34878D82A}">
                    <a16:rowId xmlns:a16="http://schemas.microsoft.com/office/drawing/2014/main" val="10000"/>
                  </a:ext>
                </a:extLst>
              </a:tr>
            </a:tbl>
          </a:graphicData>
        </a:graphic>
      </p:graphicFrame>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225" y="4419600"/>
            <a:ext cx="670877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225" y="2362199"/>
            <a:ext cx="6738989"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225" y="3282566"/>
            <a:ext cx="670877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7025" y="5536605"/>
            <a:ext cx="678497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4086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z="2400" dirty="0"/>
              <a:t>4. Assessing the degree of agreement-</a:t>
            </a:r>
          </a:p>
          <a:p>
            <a:pPr lvl="0"/>
            <a:r>
              <a:rPr lang="en-US" sz="2400" dirty="0"/>
              <a:t>Movies educate students:</a:t>
            </a:r>
            <a:endParaRPr lang="en-IN" sz="2400" dirty="0"/>
          </a:p>
          <a:p>
            <a:pPr marL="173038" lvl="1" indent="638175"/>
            <a:r>
              <a:rPr lang="en-US" sz="2400" b="1" dirty="0"/>
              <a:t>Totally agree</a:t>
            </a:r>
            <a:endParaRPr lang="en-IN" sz="2400" b="1" dirty="0"/>
          </a:p>
          <a:p>
            <a:pPr marL="173038" lvl="1" indent="638175"/>
            <a:r>
              <a:rPr lang="en-US" sz="2400" b="1" dirty="0"/>
              <a:t>Agree</a:t>
            </a:r>
            <a:endParaRPr lang="en-IN" sz="2400" b="1" dirty="0"/>
          </a:p>
          <a:p>
            <a:pPr marL="173038" lvl="1" indent="638175"/>
            <a:r>
              <a:rPr lang="en-US" sz="2400" b="1" dirty="0"/>
              <a:t>Neutral</a:t>
            </a:r>
            <a:endParaRPr lang="en-IN" sz="2400" b="1" dirty="0"/>
          </a:p>
          <a:p>
            <a:pPr marL="173038" lvl="1" indent="638175"/>
            <a:r>
              <a:rPr lang="en-US" sz="2400" b="1" dirty="0"/>
              <a:t>Disagree</a:t>
            </a:r>
            <a:endParaRPr lang="en-IN" sz="2400" b="1" dirty="0"/>
          </a:p>
          <a:p>
            <a:pPr marL="173038" lvl="1" indent="638175"/>
            <a:r>
              <a:rPr lang="en-US" sz="2400" b="1" dirty="0"/>
              <a:t>Totally disagree</a:t>
            </a:r>
            <a:endParaRPr lang="en-IN" sz="2400" b="1" dirty="0"/>
          </a:p>
          <a:p>
            <a:endParaRPr lang="en-IN" sz="2400" dirty="0"/>
          </a:p>
          <a:p>
            <a:endParaRPr lang="en-IN" dirty="0"/>
          </a:p>
        </p:txBody>
      </p:sp>
    </p:spTree>
    <p:extLst>
      <p:ext uri="{BB962C8B-B14F-4D97-AF65-F5344CB8AC3E}">
        <p14:creationId xmlns:p14="http://schemas.microsoft.com/office/powerpoint/2010/main" val="1943537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458200" cy="5715000"/>
          </a:xfrm>
        </p:spPr>
        <p:txBody>
          <a:bodyPr>
            <a:noAutofit/>
          </a:bodyPr>
          <a:lstStyle/>
          <a:p>
            <a:r>
              <a:rPr lang="en-US" sz="1800" dirty="0"/>
              <a:t>5. </a:t>
            </a:r>
            <a:r>
              <a:rPr lang="en-US" sz="2200" dirty="0"/>
              <a:t>How satisfied are you with our services?</a:t>
            </a:r>
            <a:endParaRPr lang="en-IN" sz="2200" dirty="0"/>
          </a:p>
          <a:p>
            <a:pPr lvl="0" indent="557213"/>
            <a:r>
              <a:rPr lang="en-US" sz="2200" dirty="0"/>
              <a:t>Very Unsatisfied – 1</a:t>
            </a:r>
            <a:endParaRPr lang="en-IN" sz="2200" dirty="0"/>
          </a:p>
          <a:p>
            <a:pPr lvl="0" indent="557213"/>
            <a:r>
              <a:rPr lang="en-US" sz="2200" dirty="0"/>
              <a:t>Unsatisfied – 2</a:t>
            </a:r>
            <a:endParaRPr lang="en-IN" sz="2200" dirty="0"/>
          </a:p>
          <a:p>
            <a:pPr lvl="0" indent="557213"/>
            <a:r>
              <a:rPr lang="en-US" sz="2200" dirty="0"/>
              <a:t>Neutral – 3</a:t>
            </a:r>
            <a:endParaRPr lang="en-IN" sz="2200" dirty="0"/>
          </a:p>
          <a:p>
            <a:pPr lvl="0" indent="557213"/>
            <a:r>
              <a:rPr lang="en-US" sz="2200" dirty="0"/>
              <a:t>Satisfied – 4</a:t>
            </a:r>
            <a:endParaRPr lang="en-IN" sz="2200" dirty="0"/>
          </a:p>
          <a:p>
            <a:pPr lvl="0" indent="557213"/>
            <a:r>
              <a:rPr lang="en-US" sz="2200" dirty="0"/>
              <a:t>Very Satisfied – 5</a:t>
            </a:r>
            <a:endParaRPr lang="en-IN" sz="2200" dirty="0"/>
          </a:p>
          <a:p>
            <a:pPr indent="557213"/>
            <a:r>
              <a:rPr lang="en-US" sz="1800" dirty="0"/>
              <a:t> </a:t>
            </a:r>
            <a:endParaRPr lang="en-IN" sz="1800" dirty="0"/>
          </a:p>
          <a:p>
            <a:pPr lvl="0"/>
            <a:r>
              <a:rPr lang="en-US" sz="2400" i="1" dirty="0">
                <a:solidFill>
                  <a:srgbClr val="C00000"/>
                </a:solidFill>
              </a:rPr>
              <a:t>This scale not only assigns labels to the variables but also measures the rank or order of the variables.</a:t>
            </a:r>
            <a:endParaRPr lang="en-IN" sz="2400" i="1" dirty="0">
              <a:solidFill>
                <a:srgbClr val="C00000"/>
              </a:solidFill>
            </a:endParaRPr>
          </a:p>
          <a:p>
            <a:endParaRPr lang="en-IN" sz="1800" dirty="0"/>
          </a:p>
        </p:txBody>
      </p:sp>
    </p:spTree>
    <p:extLst>
      <p:ext uri="{BB962C8B-B14F-4D97-AF65-F5344CB8AC3E}">
        <p14:creationId xmlns:p14="http://schemas.microsoft.com/office/powerpoint/2010/main" val="22557684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Ordinal Data and Analysis  </a:t>
            </a:r>
            <a:br>
              <a:rPr lang="en-IN" dirty="0"/>
            </a:br>
            <a:endParaRPr lang="en-IN" dirty="0"/>
          </a:p>
        </p:txBody>
      </p:sp>
      <p:sp>
        <p:nvSpPr>
          <p:cNvPr id="3" name="Content Placeholder 2"/>
          <p:cNvSpPr>
            <a:spLocks noGrp="1"/>
          </p:cNvSpPr>
          <p:nvPr>
            <p:ph idx="1"/>
          </p:nvPr>
        </p:nvSpPr>
        <p:spPr>
          <a:xfrm>
            <a:off x="822960" y="1100628"/>
            <a:ext cx="7787640" cy="5300172"/>
          </a:xfrm>
        </p:spPr>
        <p:txBody>
          <a:bodyPr>
            <a:normAutofit/>
          </a:bodyPr>
          <a:lstStyle/>
          <a:p>
            <a:r>
              <a:rPr lang="en-US" sz="2400" u="sng" dirty="0">
                <a:hlinkClick r:id="rId2"/>
              </a:rPr>
              <a:t>Ordinal scale data</a:t>
            </a:r>
            <a:r>
              <a:rPr lang="en-US" sz="2400" dirty="0"/>
              <a:t> can be presented in </a:t>
            </a:r>
            <a:r>
              <a:rPr lang="en-US" sz="2400" dirty="0">
                <a:solidFill>
                  <a:srgbClr val="C00000"/>
                </a:solidFill>
              </a:rPr>
              <a:t>tabular or graphical formats </a:t>
            </a:r>
            <a:r>
              <a:rPr lang="en-US" sz="2400" dirty="0"/>
              <a:t>for a researcher to conduct a convenient analysis of collected data. Also, methods such as </a:t>
            </a:r>
            <a:r>
              <a:rPr lang="en-US" sz="2400" dirty="0">
                <a:solidFill>
                  <a:srgbClr val="0070C0"/>
                </a:solidFill>
              </a:rPr>
              <a:t>Mann-Whitney U test and </a:t>
            </a:r>
            <a:r>
              <a:rPr lang="en-US" sz="2400" dirty="0" err="1">
                <a:solidFill>
                  <a:srgbClr val="0070C0"/>
                </a:solidFill>
              </a:rPr>
              <a:t>Kruskal</a:t>
            </a:r>
            <a:r>
              <a:rPr lang="en-US" sz="2400" dirty="0">
                <a:solidFill>
                  <a:srgbClr val="0070C0"/>
                </a:solidFill>
              </a:rPr>
              <a:t>–Wallis H test </a:t>
            </a:r>
            <a:r>
              <a:rPr lang="en-US" sz="2400" dirty="0"/>
              <a:t>can also be used to analyze ordinal data. These methods are generally implemented to compare two or more ordinal groups.</a:t>
            </a:r>
            <a:endParaRPr lang="en-IN" sz="2400" dirty="0"/>
          </a:p>
          <a:p>
            <a:r>
              <a:rPr lang="en-US" sz="2400" dirty="0"/>
              <a:t>In the Mann-Whitney U test, researchers can conclude, which variable of one group is bigger or smaller than another variable of a randomly selected group. While in the </a:t>
            </a:r>
            <a:r>
              <a:rPr lang="en-US" sz="2400" dirty="0" err="1">
                <a:solidFill>
                  <a:srgbClr val="0070C0"/>
                </a:solidFill>
              </a:rPr>
              <a:t>Kruskal</a:t>
            </a:r>
            <a:r>
              <a:rPr lang="en-US" sz="2400" dirty="0">
                <a:solidFill>
                  <a:srgbClr val="0070C0"/>
                </a:solidFill>
              </a:rPr>
              <a:t>–Wallis H test</a:t>
            </a:r>
            <a:r>
              <a:rPr lang="en-US" sz="2400" dirty="0"/>
              <a:t>, researchers can analyze whether two or more ordinal groups have the same median or not.</a:t>
            </a:r>
            <a:endParaRPr lang="en-IN" sz="2400" dirty="0"/>
          </a:p>
          <a:p>
            <a:endParaRPr lang="en-IN" sz="2400" dirty="0"/>
          </a:p>
        </p:txBody>
      </p:sp>
    </p:spTree>
    <p:extLst>
      <p:ext uri="{BB962C8B-B14F-4D97-AF65-F5344CB8AC3E}">
        <p14:creationId xmlns:p14="http://schemas.microsoft.com/office/powerpoint/2010/main" val="1236702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3400"/>
            <a:ext cx="7520940" cy="548640"/>
          </a:xfrm>
        </p:spPr>
        <p:txBody>
          <a:bodyPr/>
          <a:lstStyle/>
          <a:p>
            <a:br>
              <a:rPr lang="en-US" dirty="0"/>
            </a:br>
            <a:r>
              <a:rPr lang="en-US" dirty="0"/>
              <a:t>Interval Scale:</a:t>
            </a:r>
            <a:br>
              <a:rPr lang="en-IN" b="1" dirty="0"/>
            </a:br>
            <a:endParaRPr lang="en-IN" dirty="0"/>
          </a:p>
        </p:txBody>
      </p:sp>
      <p:sp>
        <p:nvSpPr>
          <p:cNvPr id="3" name="Content Placeholder 2"/>
          <p:cNvSpPr>
            <a:spLocks noGrp="1"/>
          </p:cNvSpPr>
          <p:nvPr>
            <p:ph idx="1"/>
          </p:nvPr>
        </p:nvSpPr>
        <p:spPr>
          <a:xfrm>
            <a:off x="914400" y="1219200"/>
            <a:ext cx="7863840" cy="4766772"/>
          </a:xfrm>
        </p:spPr>
        <p:txBody>
          <a:bodyPr>
            <a:normAutofit/>
          </a:bodyPr>
          <a:lstStyle/>
          <a:p>
            <a:r>
              <a:rPr lang="en-US" sz="2800" dirty="0"/>
              <a:t>The interval scale is the 3</a:t>
            </a:r>
            <a:r>
              <a:rPr lang="en-US" sz="2800" baseline="30000" dirty="0"/>
              <a:t>rd</a:t>
            </a:r>
            <a:r>
              <a:rPr lang="en-US" sz="2800" dirty="0"/>
              <a:t> level of measurement scale. It is defined as a quantitative measurement scale in which the </a:t>
            </a:r>
            <a:r>
              <a:rPr lang="en-US" sz="2800" dirty="0">
                <a:solidFill>
                  <a:srgbClr val="C00000"/>
                </a:solidFill>
              </a:rPr>
              <a:t>difference between the two variables is meaningful</a:t>
            </a:r>
            <a:r>
              <a:rPr lang="en-US" sz="2800" dirty="0"/>
              <a:t>. In other words, the variables are measured in an exact manner, not as in a relative way in which the </a:t>
            </a:r>
            <a:r>
              <a:rPr lang="en-US" sz="2800" dirty="0">
                <a:solidFill>
                  <a:srgbClr val="C00000"/>
                </a:solidFill>
              </a:rPr>
              <a:t>presence of zero is arbitrary</a:t>
            </a:r>
            <a:r>
              <a:rPr lang="en-US" sz="2800" dirty="0"/>
              <a:t> . In other words we can say </a:t>
            </a:r>
            <a:r>
              <a:rPr lang="en-US" sz="2800" dirty="0">
                <a:solidFill>
                  <a:srgbClr val="0070C0"/>
                </a:solidFill>
              </a:rPr>
              <a:t>absolute zero is not defined or existed.</a:t>
            </a:r>
            <a:endParaRPr lang="en-IN" sz="2800" dirty="0">
              <a:solidFill>
                <a:srgbClr val="0070C0"/>
              </a:solidFill>
            </a:endParaRPr>
          </a:p>
        </p:txBody>
      </p:sp>
    </p:spTree>
    <p:extLst>
      <p:ext uri="{BB962C8B-B14F-4D97-AF65-F5344CB8AC3E}">
        <p14:creationId xmlns:p14="http://schemas.microsoft.com/office/powerpoint/2010/main" val="147395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Characteristics of Interval Scale:</a:t>
            </a:r>
            <a:br>
              <a:rPr lang="en-IN" dirty="0"/>
            </a:br>
            <a:endParaRPr lang="en-IN" dirty="0"/>
          </a:p>
        </p:txBody>
      </p:sp>
      <p:sp>
        <p:nvSpPr>
          <p:cNvPr id="3" name="Content Placeholder 2"/>
          <p:cNvSpPr>
            <a:spLocks noGrp="1"/>
          </p:cNvSpPr>
          <p:nvPr>
            <p:ph idx="1"/>
          </p:nvPr>
        </p:nvSpPr>
        <p:spPr>
          <a:xfrm>
            <a:off x="822960" y="1100628"/>
            <a:ext cx="8092440" cy="5528772"/>
          </a:xfrm>
        </p:spPr>
        <p:txBody>
          <a:bodyPr>
            <a:normAutofit lnSpcReduction="10000"/>
          </a:bodyPr>
          <a:lstStyle/>
          <a:p>
            <a:pPr marL="457200" lvl="0" indent="-457200">
              <a:buFont typeface="+mj-lt"/>
              <a:buAutoNum type="arabicPeriod"/>
            </a:pPr>
            <a:r>
              <a:rPr lang="en-US" sz="2400" dirty="0"/>
              <a:t>The interval scale is </a:t>
            </a:r>
            <a:r>
              <a:rPr lang="en-US" sz="2400" dirty="0">
                <a:solidFill>
                  <a:srgbClr val="C00000"/>
                </a:solidFill>
              </a:rPr>
              <a:t>quantitative</a:t>
            </a:r>
            <a:r>
              <a:rPr lang="en-US" sz="2400" dirty="0"/>
              <a:t> as it can quantify the difference between the values.</a:t>
            </a:r>
            <a:endParaRPr lang="en-IN" sz="2400" dirty="0"/>
          </a:p>
          <a:p>
            <a:pPr marL="457200" lvl="0" indent="-457200">
              <a:buFont typeface="+mj-lt"/>
              <a:buAutoNum type="arabicPeriod"/>
            </a:pPr>
            <a:r>
              <a:rPr lang="en-US" sz="2400" dirty="0"/>
              <a:t>It allows calculating the </a:t>
            </a:r>
            <a:r>
              <a:rPr lang="en-US" sz="2400" dirty="0">
                <a:solidFill>
                  <a:srgbClr val="C00000"/>
                </a:solidFill>
              </a:rPr>
              <a:t>mean and median</a:t>
            </a:r>
            <a:r>
              <a:rPr lang="en-US" sz="2400" dirty="0"/>
              <a:t> of the variables.</a:t>
            </a:r>
            <a:endParaRPr lang="en-IN" sz="2400" dirty="0"/>
          </a:p>
          <a:p>
            <a:pPr marL="457200" lvl="0" indent="-457200">
              <a:buFont typeface="+mj-lt"/>
              <a:buAutoNum type="arabicPeriod"/>
            </a:pPr>
            <a:r>
              <a:rPr lang="en-US" sz="2400" dirty="0"/>
              <a:t>To understand the difference between the values of the variable, you can subtract the values between the variables.</a:t>
            </a:r>
            <a:endParaRPr lang="en-IN" sz="2400" dirty="0"/>
          </a:p>
          <a:p>
            <a:pPr marL="457200" lvl="0" indent="-457200">
              <a:buFont typeface="+mj-lt"/>
              <a:buAutoNum type="arabicPeriod"/>
            </a:pPr>
            <a:r>
              <a:rPr lang="en-US" sz="2400" dirty="0"/>
              <a:t>The interval scale is the preferred scale in Statistics as it helps to assign any numerical values to arbitrary assessment such as feelings, calendar types, time zones, etc.</a:t>
            </a:r>
          </a:p>
          <a:p>
            <a:pPr marL="457200" lvl="0" indent="-457200">
              <a:buFont typeface="+mj-lt"/>
              <a:buAutoNum type="arabicPeriod"/>
            </a:pPr>
            <a:r>
              <a:rPr lang="en-US" sz="2400" dirty="0"/>
              <a:t>In </a:t>
            </a:r>
            <a:r>
              <a:rPr lang="en-US" sz="2400" dirty="0">
                <a:solidFill>
                  <a:srgbClr val="C00000"/>
                </a:solidFill>
              </a:rPr>
              <a:t>behavioral science </a:t>
            </a:r>
            <a:r>
              <a:rPr lang="en-US" sz="2400" dirty="0"/>
              <a:t>many variables are on interval scale. Like, </a:t>
            </a:r>
            <a:r>
              <a:rPr lang="en-US" sz="2400" u="sng" dirty="0" err="1">
                <a:hlinkClick r:id="rId2"/>
              </a:rPr>
              <a:t>Likert</a:t>
            </a:r>
            <a:r>
              <a:rPr lang="en-US" sz="2400" u="sng" dirty="0">
                <a:hlinkClick r:id="rId2"/>
              </a:rPr>
              <a:t> scale</a:t>
            </a:r>
            <a:r>
              <a:rPr lang="en-US" sz="2400" dirty="0"/>
              <a:t>, </a:t>
            </a:r>
            <a:r>
              <a:rPr lang="en-US" sz="2400" u="sng" dirty="0">
                <a:hlinkClick r:id="rId3"/>
              </a:rPr>
              <a:t>Net Promoter Score</a:t>
            </a:r>
            <a:r>
              <a:rPr lang="en-US" sz="2400" dirty="0"/>
              <a:t>, </a:t>
            </a:r>
            <a:r>
              <a:rPr lang="en-US" sz="2400" u="sng" dirty="0">
                <a:hlinkClick r:id="rId4"/>
              </a:rPr>
              <a:t>Semantic Differential Scale</a:t>
            </a:r>
            <a:r>
              <a:rPr lang="en-US" sz="2400" dirty="0"/>
              <a:t>, Bipolar Matrix Table etc.</a:t>
            </a:r>
            <a:endParaRPr lang="en-IN" sz="2400" dirty="0"/>
          </a:p>
          <a:p>
            <a:pPr marL="457200" indent="-457200">
              <a:buFont typeface="+mj-lt"/>
              <a:buAutoNum type="arabicPeriod"/>
            </a:pPr>
            <a:endParaRPr lang="en-IN" sz="2400" dirty="0"/>
          </a:p>
        </p:txBody>
      </p:sp>
    </p:spTree>
    <p:extLst>
      <p:ext uri="{BB962C8B-B14F-4D97-AF65-F5344CB8AC3E}">
        <p14:creationId xmlns:p14="http://schemas.microsoft.com/office/powerpoint/2010/main" val="92936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Examples of Interval Scale:</a:t>
            </a:r>
            <a:br>
              <a:rPr lang="en-IN" dirty="0"/>
            </a:br>
            <a:endParaRPr lang="en-IN" dirty="0"/>
          </a:p>
        </p:txBody>
      </p:sp>
      <p:sp>
        <p:nvSpPr>
          <p:cNvPr id="3" name="Content Placeholder 2"/>
          <p:cNvSpPr>
            <a:spLocks noGrp="1"/>
          </p:cNvSpPr>
          <p:nvPr>
            <p:ph idx="1"/>
          </p:nvPr>
        </p:nvSpPr>
        <p:spPr>
          <a:xfrm>
            <a:off x="822960" y="1100628"/>
            <a:ext cx="7711440" cy="5147772"/>
          </a:xfrm>
        </p:spPr>
        <p:txBody>
          <a:bodyPr>
            <a:normAutofit/>
          </a:bodyPr>
          <a:lstStyle/>
          <a:p>
            <a:pPr lvl="0">
              <a:buFont typeface="+mj-lt"/>
              <a:buAutoNum type="arabicPeriod"/>
            </a:pPr>
            <a:r>
              <a:rPr lang="en-US" sz="2000" dirty="0"/>
              <a:t>There are situations where </a:t>
            </a:r>
            <a:r>
              <a:rPr lang="en-US" sz="2000" dirty="0">
                <a:solidFill>
                  <a:srgbClr val="C00000"/>
                </a:solidFill>
              </a:rPr>
              <a:t>attitude scales </a:t>
            </a:r>
            <a:r>
              <a:rPr lang="en-US" sz="2000" dirty="0"/>
              <a:t>are considered to be on interval scale.</a:t>
            </a:r>
            <a:endParaRPr lang="en-IN" sz="2000" dirty="0"/>
          </a:p>
          <a:p>
            <a:pPr lvl="0">
              <a:buFont typeface="+mj-lt"/>
              <a:buAutoNum type="arabicPeriod"/>
            </a:pPr>
            <a:r>
              <a:rPr lang="en-US" sz="2000" dirty="0"/>
              <a:t>Apart from the temperature scale, </a:t>
            </a:r>
            <a:r>
              <a:rPr lang="en-US" sz="2000" dirty="0">
                <a:solidFill>
                  <a:srgbClr val="C00000"/>
                </a:solidFill>
              </a:rPr>
              <a:t>time</a:t>
            </a:r>
            <a:r>
              <a:rPr lang="en-US" sz="2000" dirty="0"/>
              <a:t> is also a very common example of an interval scale as the values are already established, constant, and measurable.</a:t>
            </a:r>
            <a:endParaRPr lang="en-IN" sz="2000" dirty="0"/>
          </a:p>
          <a:p>
            <a:pPr lvl="0">
              <a:buFont typeface="+mj-lt"/>
              <a:buAutoNum type="arabicPeriod"/>
            </a:pPr>
            <a:r>
              <a:rPr lang="en-US" sz="2000" dirty="0"/>
              <a:t>Calendar years and time also fall under this category of measurement scales.</a:t>
            </a:r>
            <a:endParaRPr lang="en-IN" sz="2000" dirty="0"/>
          </a:p>
          <a:p>
            <a:pPr lvl="0">
              <a:buFont typeface="+mj-lt"/>
              <a:buAutoNum type="arabicPeriod"/>
            </a:pPr>
            <a:r>
              <a:rPr lang="en-US" sz="2000" u="sng" dirty="0" err="1">
                <a:hlinkClick r:id="rId2"/>
              </a:rPr>
              <a:t>Likert</a:t>
            </a:r>
            <a:r>
              <a:rPr lang="en-US" sz="2000" u="sng" dirty="0">
                <a:hlinkClick r:id="rId2"/>
              </a:rPr>
              <a:t> scale</a:t>
            </a:r>
            <a:r>
              <a:rPr lang="en-US" sz="2000" dirty="0"/>
              <a:t>, </a:t>
            </a:r>
            <a:r>
              <a:rPr lang="en-US" sz="2000" u="sng" dirty="0">
                <a:hlinkClick r:id="rId3"/>
              </a:rPr>
              <a:t>Net Promoter Score</a:t>
            </a:r>
            <a:r>
              <a:rPr lang="en-US" sz="2000" dirty="0"/>
              <a:t>, </a:t>
            </a:r>
            <a:r>
              <a:rPr lang="en-US" sz="2000" u="sng" dirty="0">
                <a:hlinkClick r:id="rId4"/>
              </a:rPr>
              <a:t>Semantic Differential Scale</a:t>
            </a:r>
            <a:r>
              <a:rPr lang="en-US" sz="2000" dirty="0"/>
              <a:t>, Bipolar Matrix Table, etc. are the most-used interval scale examples.</a:t>
            </a:r>
            <a:endParaRPr lang="en-IN" sz="2000" dirty="0"/>
          </a:p>
          <a:p>
            <a:r>
              <a:rPr lang="en-US" sz="2000" dirty="0"/>
              <a:t>The following questions fall under the Interval Scale category:</a:t>
            </a:r>
            <a:endParaRPr lang="en-IN" sz="2000" dirty="0"/>
          </a:p>
          <a:p>
            <a:pPr lvl="0">
              <a:buFont typeface="Arial" pitchFamily="34" charset="0"/>
              <a:buChar char="•"/>
            </a:pPr>
            <a:r>
              <a:rPr lang="en-US" sz="2000" dirty="0"/>
              <a:t>What is your Average family income?</a:t>
            </a:r>
            <a:endParaRPr lang="en-IN" sz="2000" dirty="0"/>
          </a:p>
          <a:p>
            <a:pPr lvl="0">
              <a:buFont typeface="Arial" pitchFamily="34" charset="0"/>
              <a:buChar char="•"/>
            </a:pPr>
            <a:r>
              <a:rPr lang="en-US" sz="2000" dirty="0"/>
              <a:t>What is the temperature in your city.</a:t>
            </a:r>
            <a:endParaRPr lang="en-IN" sz="2000" dirty="0"/>
          </a:p>
          <a:p>
            <a:endParaRPr lang="en-IN" sz="2000" dirty="0"/>
          </a:p>
        </p:txBody>
      </p:sp>
    </p:spTree>
    <p:extLst>
      <p:ext uri="{BB962C8B-B14F-4D97-AF65-F5344CB8AC3E}">
        <p14:creationId xmlns:p14="http://schemas.microsoft.com/office/powerpoint/2010/main" val="857835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096000"/>
          </a:xfrm>
        </p:spPr>
        <p:txBody>
          <a:bodyPr>
            <a:noAutofit/>
          </a:bodyPr>
          <a:lstStyle/>
          <a:p>
            <a:pPr fontAlgn="base"/>
            <a:r>
              <a:rPr lang="en-US" sz="2000" dirty="0"/>
              <a:t>1. Temperature in Celsius or Fahrenheit</a:t>
            </a:r>
            <a:br>
              <a:rPr lang="en-US" sz="2000" b="0" dirty="0"/>
            </a:br>
            <a:r>
              <a:rPr lang="en-US" sz="2000" b="0" dirty="0"/>
              <a:t>Temperature scales, the Celsius and Fahrenheit, are perfect examples of interval scales. They have equal intervals (the difference between 20°C and 30°C is the same as between 30°C and 40°C), but no true zero point as -0°C and -0°F are valid and </a:t>
            </a:r>
            <a:r>
              <a:rPr lang="en-US" sz="2000" dirty="0">
                <a:solidFill>
                  <a:srgbClr val="002060"/>
                </a:solidFill>
              </a:rPr>
              <a:t>do not signify the absence of temperature</a:t>
            </a:r>
            <a:r>
              <a:rPr lang="en-US" sz="2000" dirty="0"/>
              <a:t>.</a:t>
            </a:r>
          </a:p>
          <a:p>
            <a:pPr fontAlgn="base"/>
            <a:r>
              <a:rPr lang="en-US" sz="2000" dirty="0"/>
              <a:t>2. Intelligence Quotient (IQ)</a:t>
            </a:r>
            <a:br>
              <a:rPr lang="en-US" sz="2000" b="0" dirty="0"/>
            </a:br>
            <a:r>
              <a:rPr lang="en-US" sz="2000" b="0" dirty="0"/>
              <a:t>IQ is frequently measured on an interval variable scale. While the difference between scores remains consistent, there is no “zero point” for intelligence, indicating that </a:t>
            </a:r>
            <a:r>
              <a:rPr lang="en-US" sz="2000" b="0" dirty="0">
                <a:solidFill>
                  <a:srgbClr val="002060"/>
                </a:solidFill>
              </a:rPr>
              <a:t>an </a:t>
            </a:r>
            <a:r>
              <a:rPr lang="en-US" sz="2000" dirty="0">
                <a:solidFill>
                  <a:srgbClr val="002060"/>
                </a:solidFill>
              </a:rPr>
              <a:t>IQ of 0 does not signify an absence of intelligence.</a:t>
            </a:r>
          </a:p>
          <a:p>
            <a:pPr fontAlgn="base"/>
            <a:r>
              <a:rPr lang="en-US" sz="2000" dirty="0"/>
              <a:t>3. SAT Scores</a:t>
            </a:r>
            <a:br>
              <a:rPr lang="en-US" sz="2000" b="0" dirty="0"/>
            </a:br>
            <a:r>
              <a:rPr lang="en-US" sz="2000" b="0" dirty="0"/>
              <a:t>Scholastic Aptitude Test (SAT) scores are typically in the interval scale. The distance between 1200 and 1300 is the same as that between 1300 and 1400, </a:t>
            </a:r>
            <a:r>
              <a:rPr lang="en-US" sz="2000" dirty="0">
                <a:solidFill>
                  <a:srgbClr val="002060"/>
                </a:solidFill>
              </a:rPr>
              <a:t>yet there isn’t an absolute zero indicating the complete lack of aptitude or knowledge.</a:t>
            </a:r>
          </a:p>
        </p:txBody>
      </p:sp>
    </p:spTree>
    <p:extLst>
      <p:ext uri="{BB962C8B-B14F-4D97-AF65-F5344CB8AC3E}">
        <p14:creationId xmlns:p14="http://schemas.microsoft.com/office/powerpoint/2010/main" val="3327742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82000" cy="6248400"/>
          </a:xfrm>
        </p:spPr>
        <p:txBody>
          <a:bodyPr>
            <a:normAutofit/>
          </a:bodyPr>
          <a:lstStyle/>
          <a:p>
            <a:pPr fontAlgn="base"/>
            <a:r>
              <a:rPr lang="en-US" sz="2400" dirty="0"/>
              <a:t>4. Years AD</a:t>
            </a:r>
            <a:br>
              <a:rPr lang="en-US" sz="2400" b="0" dirty="0"/>
            </a:br>
            <a:r>
              <a:rPr lang="en-US" sz="2400" b="0" dirty="0"/>
              <a:t>The scale of years AD (Anno Domini) is interval. Counting years begins not from an absolute zero point but from the designated start of the Gregorian calendar. </a:t>
            </a:r>
            <a:r>
              <a:rPr lang="en-US" sz="2400" dirty="0">
                <a:solidFill>
                  <a:srgbClr val="002060"/>
                </a:solidFill>
              </a:rPr>
              <a:t>The year 0 AD does not signify the absence of time.</a:t>
            </a:r>
          </a:p>
          <a:p>
            <a:pPr fontAlgn="base"/>
            <a:r>
              <a:rPr lang="en-US" sz="2400" dirty="0"/>
              <a:t>5. Latitude Degrees</a:t>
            </a:r>
            <a:br>
              <a:rPr lang="en-US" sz="2400" b="0" dirty="0"/>
            </a:br>
            <a:r>
              <a:rPr lang="en-US" sz="2400" b="0" dirty="0"/>
              <a:t>Degrees of latitude, stretching from -90° at the South Pole to 90° at the North Pole, form an interval scale. There are consistent intervals across the scale, </a:t>
            </a:r>
            <a:r>
              <a:rPr lang="en-US" sz="2400" dirty="0">
                <a:solidFill>
                  <a:srgbClr val="002060"/>
                </a:solidFill>
              </a:rPr>
              <a:t>with 0° not representing a lack of latitude</a:t>
            </a:r>
            <a:r>
              <a:rPr lang="en-US" sz="2400" b="0" dirty="0"/>
              <a:t>.</a:t>
            </a:r>
          </a:p>
          <a:p>
            <a:pPr fontAlgn="base"/>
            <a:r>
              <a:rPr lang="en-US" sz="2400" dirty="0"/>
              <a:t>6. Dates</a:t>
            </a:r>
            <a:br>
              <a:rPr lang="en-US" sz="2400" b="0" dirty="0"/>
            </a:br>
            <a:r>
              <a:rPr lang="en-US" sz="2400" b="0" dirty="0" err="1"/>
              <a:t>Dates</a:t>
            </a:r>
            <a:r>
              <a:rPr lang="en-US" sz="2400" b="0" dirty="0"/>
              <a:t> are interval variables, as the interval between any two dates is consistent. However, </a:t>
            </a:r>
            <a:r>
              <a:rPr lang="en-US" sz="2400" dirty="0">
                <a:solidFill>
                  <a:srgbClr val="002060"/>
                </a:solidFill>
              </a:rPr>
              <a:t>there is no true zero point in any calendar system.</a:t>
            </a:r>
          </a:p>
          <a:p>
            <a:endParaRPr lang="en-IN" sz="2400" dirty="0"/>
          </a:p>
        </p:txBody>
      </p:sp>
    </p:spTree>
    <p:extLst>
      <p:ext uri="{BB962C8B-B14F-4D97-AF65-F5344CB8AC3E}">
        <p14:creationId xmlns:p14="http://schemas.microsoft.com/office/powerpoint/2010/main" val="1783746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172200"/>
          </a:xfrm>
        </p:spPr>
        <p:txBody>
          <a:bodyPr>
            <a:noAutofit/>
          </a:bodyPr>
          <a:lstStyle/>
          <a:p>
            <a:pPr fontAlgn="base"/>
            <a:r>
              <a:rPr lang="en-US" sz="2200" dirty="0"/>
              <a:t>7. Elevations Above Sea Level</a:t>
            </a:r>
            <a:br>
              <a:rPr lang="en-US" sz="2200" b="0" dirty="0"/>
            </a:br>
            <a:r>
              <a:rPr lang="en-US" sz="2200" b="0" dirty="0"/>
              <a:t>The measure of elevations above sea level serves as an interval variable. While the intervals are consistent, </a:t>
            </a:r>
            <a:r>
              <a:rPr lang="en-US" sz="2200" dirty="0">
                <a:solidFill>
                  <a:srgbClr val="002060"/>
                </a:solidFill>
              </a:rPr>
              <a:t>there is no authentic zero point, as sea level does not indicate the absence of elevation.</a:t>
            </a:r>
          </a:p>
          <a:p>
            <a:pPr fontAlgn="base"/>
            <a:r>
              <a:rPr lang="en-US" sz="2200" dirty="0"/>
              <a:t>8. Credit Scores</a:t>
            </a:r>
            <a:br>
              <a:rPr lang="en-US" sz="2200" b="0" dirty="0"/>
            </a:br>
            <a:r>
              <a:rPr lang="en-US" sz="2200" b="0" dirty="0"/>
              <a:t>Credit scores follow an interval variable scale. The gap between a credit score of 600 and 700 is equal to that between 700 and 800. However, </a:t>
            </a:r>
            <a:r>
              <a:rPr lang="en-US" sz="2200" dirty="0">
                <a:solidFill>
                  <a:srgbClr val="002060"/>
                </a:solidFill>
              </a:rPr>
              <a:t>a score of 0 does not represent a complete absence of creditworthiness.</a:t>
            </a:r>
          </a:p>
          <a:p>
            <a:pPr fontAlgn="base"/>
            <a:r>
              <a:rPr lang="en-US" sz="2200" dirty="0"/>
              <a:t>9. Shoe Sizes</a:t>
            </a:r>
            <a:br>
              <a:rPr lang="en-US" sz="2200" b="0" dirty="0"/>
            </a:br>
            <a:r>
              <a:rPr lang="en-US" sz="2200" b="0" dirty="0"/>
              <a:t>Shoe sizes, using any standardized measure, be it the US, UK or EU systems. For example in US, the difference between Size 8 and Size 9 is an increment of one unit, but </a:t>
            </a:r>
            <a:r>
              <a:rPr lang="en-US" sz="2200" dirty="0">
                <a:solidFill>
                  <a:srgbClr val="002060"/>
                </a:solidFill>
              </a:rPr>
              <a:t>zero does not suggest that the foot size is non-existent.</a:t>
            </a:r>
          </a:p>
          <a:p>
            <a:pPr fontAlgn="base"/>
            <a:r>
              <a:rPr lang="en-US" sz="2200" dirty="0"/>
              <a:t>10. Golf Scores</a:t>
            </a:r>
            <a:br>
              <a:rPr lang="en-US" sz="2200" b="0" dirty="0"/>
            </a:br>
            <a:r>
              <a:rPr lang="en-US" sz="2200" b="0" dirty="0"/>
              <a:t>Golf scores are measured on an interval scale. The difference between scores is uniform, </a:t>
            </a:r>
            <a:r>
              <a:rPr lang="en-US" sz="2200" dirty="0">
                <a:solidFill>
                  <a:srgbClr val="002060"/>
                </a:solidFill>
              </a:rPr>
              <a:t>yet a score of zero does not infer the absence of skill.</a:t>
            </a:r>
          </a:p>
          <a:p>
            <a:endParaRPr lang="en-IN" sz="2200" dirty="0"/>
          </a:p>
        </p:txBody>
      </p:sp>
    </p:spTree>
    <p:extLst>
      <p:ext uri="{BB962C8B-B14F-4D97-AF65-F5344CB8AC3E}">
        <p14:creationId xmlns:p14="http://schemas.microsoft.com/office/powerpoint/2010/main" val="1253536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8915400" cy="6400800"/>
          </a:xfrm>
        </p:spPr>
        <p:txBody>
          <a:bodyPr>
            <a:normAutofit/>
          </a:bodyPr>
          <a:lstStyle/>
          <a:p>
            <a:pPr fontAlgn="base"/>
            <a:r>
              <a:rPr lang="en-US" sz="2000" dirty="0"/>
              <a:t>11. Opinions on a five-point scale</a:t>
            </a:r>
            <a:br>
              <a:rPr lang="en-US" sz="2000" b="0" dirty="0"/>
            </a:br>
            <a:r>
              <a:rPr lang="en-US" sz="2000" b="0" dirty="0"/>
              <a:t>opinions expressed on a five-point scale (like weak(&gt;10%), below average(10% to 40%), average (40% to 60%) , above average (60% to 90%), strong (&lt; 90%) are interval variables. While there is a </a:t>
            </a:r>
            <a:r>
              <a:rPr lang="en-US" sz="2000" dirty="0">
                <a:solidFill>
                  <a:srgbClr val="002060"/>
                </a:solidFill>
              </a:rPr>
              <a:t>uniform distance between the categories, there is no true zero point, indicating absolute lack of an opinion.</a:t>
            </a:r>
          </a:p>
          <a:p>
            <a:pPr fontAlgn="base"/>
            <a:r>
              <a:rPr lang="en-US" sz="2000" dirty="0"/>
              <a:t>12. Sound pitch</a:t>
            </a:r>
            <a:br>
              <a:rPr lang="en-US" sz="2000" b="0" dirty="0"/>
            </a:br>
            <a:r>
              <a:rPr lang="en-US" sz="2000" b="0" dirty="0"/>
              <a:t>sound pitches in terms of musical notes form an interval variable, having consistent differences between each note, but </a:t>
            </a:r>
            <a:r>
              <a:rPr lang="en-US" sz="2000" dirty="0">
                <a:solidFill>
                  <a:srgbClr val="002060"/>
                </a:solidFill>
              </a:rPr>
              <a:t>no zero point signaling an absence of pitch.</a:t>
            </a:r>
          </a:p>
          <a:p>
            <a:pPr fontAlgn="base"/>
            <a:r>
              <a:rPr lang="en-US" sz="2000" dirty="0"/>
              <a:t>13. ACT scores</a:t>
            </a:r>
            <a:br>
              <a:rPr lang="en-US" sz="2000" b="0" dirty="0"/>
            </a:br>
            <a:r>
              <a:rPr lang="en-US" sz="2000" b="0" dirty="0"/>
              <a:t>ACT (American college testing) scores form an interval variable. The gap between a score of 20 and 30 is identical to that between 30 and 40. However, </a:t>
            </a:r>
            <a:r>
              <a:rPr lang="en-US" sz="2000" dirty="0">
                <a:solidFill>
                  <a:srgbClr val="002060"/>
                </a:solidFill>
              </a:rPr>
              <a:t>a score of 0 does not mean the total lack of knowledge or aptitude.</a:t>
            </a:r>
          </a:p>
          <a:p>
            <a:pPr fontAlgn="base"/>
            <a:r>
              <a:rPr lang="en-US" sz="2000" dirty="0"/>
              <a:t>14. Minutes past the hour</a:t>
            </a:r>
            <a:br>
              <a:rPr lang="en-US" sz="2000" b="0" dirty="0"/>
            </a:br>
            <a:r>
              <a:rPr lang="en-US" sz="2000" b="0" dirty="0"/>
              <a:t>minutes past the hour, be it on a digital or analog clock, form an interval variable. A consistent measure is evident in minutes, and </a:t>
            </a:r>
            <a:r>
              <a:rPr lang="en-US" sz="2000" dirty="0">
                <a:solidFill>
                  <a:srgbClr val="002060"/>
                </a:solidFill>
              </a:rPr>
              <a:t>yet the start of the hour (0 minutes) doesn’t indicate an absence of time.</a:t>
            </a:r>
          </a:p>
          <a:p>
            <a:endParaRPr lang="en-IN" sz="2000" dirty="0"/>
          </a:p>
        </p:txBody>
      </p:sp>
    </p:spTree>
    <p:extLst>
      <p:ext uri="{BB962C8B-B14F-4D97-AF65-F5344CB8AC3E}">
        <p14:creationId xmlns:p14="http://schemas.microsoft.com/office/powerpoint/2010/main" val="1201557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23" y="609600"/>
            <a:ext cx="9144000" cy="6096000"/>
          </a:xfrm>
        </p:spPr>
        <p:txBody>
          <a:bodyPr>
            <a:normAutofit/>
          </a:bodyPr>
          <a:lstStyle/>
          <a:p>
            <a:pPr fontAlgn="base"/>
            <a:r>
              <a:rPr lang="en-US" sz="2400" dirty="0"/>
              <a:t>15. Scores on Standard Academic Tests</a:t>
            </a:r>
            <a:br>
              <a:rPr lang="en-US" sz="2400" b="0" dirty="0"/>
            </a:br>
            <a:r>
              <a:rPr lang="en-US" sz="2400" b="0" dirty="0"/>
              <a:t>Scores obtained on common academic tests like GRE, GMAT, MCAT, form interval variables. Equal intervals exist between scores, but </a:t>
            </a:r>
            <a:r>
              <a:rPr lang="en-US" sz="2400" dirty="0">
                <a:solidFill>
                  <a:srgbClr val="002060"/>
                </a:solidFill>
              </a:rPr>
              <a:t>zero doesn’t signify an absence of knowledge or abilities.</a:t>
            </a:r>
          </a:p>
          <a:p>
            <a:pPr fontAlgn="base"/>
            <a:r>
              <a:rPr lang="en-US" sz="2400" dirty="0"/>
              <a:t>16. Blood Pressure</a:t>
            </a:r>
            <a:br>
              <a:rPr lang="en-US" sz="2400" b="0" dirty="0"/>
            </a:br>
            <a:r>
              <a:rPr lang="en-US" sz="2400" b="0" dirty="0"/>
              <a:t>Blood pressure readings represent an interval variable. The difference between category values are consistent, but </a:t>
            </a:r>
            <a:r>
              <a:rPr lang="en-US" sz="2400" dirty="0">
                <a:solidFill>
                  <a:srgbClr val="002060"/>
                </a:solidFill>
              </a:rPr>
              <a:t>there is no true zero point representing an absence of blood pressure.</a:t>
            </a:r>
          </a:p>
          <a:p>
            <a:r>
              <a:rPr lang="en-US" sz="2400" dirty="0"/>
              <a:t>17. Stock Market Values</a:t>
            </a:r>
            <a:br>
              <a:rPr lang="en-US" sz="2400" b="0" dirty="0"/>
            </a:br>
            <a:r>
              <a:rPr lang="en-US" sz="2400" b="0" dirty="0"/>
              <a:t>Stock market values, along with many other financial statistics, form an interval variable. The intervals are predictable, </a:t>
            </a:r>
            <a:r>
              <a:rPr lang="en-US" sz="2400" dirty="0">
                <a:solidFill>
                  <a:srgbClr val="002060"/>
                </a:solidFill>
              </a:rPr>
              <a:t>and zero does not denote a total lack of value.</a:t>
            </a:r>
          </a:p>
          <a:p>
            <a:endParaRPr lang="en-IN" sz="2400" dirty="0"/>
          </a:p>
        </p:txBody>
      </p:sp>
    </p:spTree>
    <p:extLst>
      <p:ext uri="{BB962C8B-B14F-4D97-AF65-F5344CB8AC3E}">
        <p14:creationId xmlns:p14="http://schemas.microsoft.com/office/powerpoint/2010/main" val="3819556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839200" cy="6705600"/>
          </a:xfrm>
        </p:spPr>
        <p:txBody>
          <a:bodyPr>
            <a:normAutofit/>
          </a:bodyPr>
          <a:lstStyle/>
          <a:p>
            <a:pPr fontAlgn="base"/>
            <a:r>
              <a:rPr lang="en-US" sz="2200" dirty="0"/>
              <a:t>18. Social Media Likes</a:t>
            </a:r>
            <a:br>
              <a:rPr lang="en-US" sz="2200" b="0" dirty="0"/>
            </a:br>
            <a:r>
              <a:rPr lang="en-US" sz="2200" b="0" dirty="0"/>
              <a:t>The number of likes on a social media post forms an interval variable. They can be counted accurately, but </a:t>
            </a:r>
            <a:r>
              <a:rPr lang="en-US" sz="2200" dirty="0">
                <a:solidFill>
                  <a:srgbClr val="002060"/>
                </a:solidFill>
              </a:rPr>
              <a:t>zero likes does not mean an absence of quality or relevance.</a:t>
            </a:r>
          </a:p>
          <a:p>
            <a:pPr fontAlgn="base"/>
            <a:r>
              <a:rPr lang="en-US" sz="2200" dirty="0"/>
              <a:t>19. Race Finishing Times</a:t>
            </a:r>
            <a:br>
              <a:rPr lang="en-US" sz="2200" b="0" dirty="0"/>
            </a:br>
            <a:r>
              <a:rPr lang="en-US" sz="2200" b="0" dirty="0"/>
              <a:t>Finishing times in a race are an interval variable. Times can be precisely measured, but </a:t>
            </a:r>
            <a:r>
              <a:rPr lang="en-US" sz="2200" dirty="0">
                <a:solidFill>
                  <a:srgbClr val="002060"/>
                </a:solidFill>
              </a:rPr>
              <a:t>a time of zero does not represent an absence of time or effort.</a:t>
            </a:r>
          </a:p>
          <a:p>
            <a:pPr fontAlgn="base"/>
            <a:r>
              <a:rPr lang="en-US" sz="2200" dirty="0"/>
              <a:t>20. Survey Responses on a Seven-Point Scale</a:t>
            </a:r>
            <a:br>
              <a:rPr lang="en-US" sz="2200" b="0" dirty="0"/>
            </a:br>
            <a:r>
              <a:rPr lang="en-US" sz="2200" b="0" dirty="0"/>
              <a:t>Survey responses measured on a seven-point range form an interval variable. Each point on the scale is equidistant, yet, </a:t>
            </a:r>
            <a:r>
              <a:rPr lang="en-US" sz="2200" dirty="0">
                <a:solidFill>
                  <a:srgbClr val="002060"/>
                </a:solidFill>
              </a:rPr>
              <a:t>the zero on the scale does not signify the complete lack of an opinion.</a:t>
            </a:r>
          </a:p>
        </p:txBody>
      </p:sp>
    </p:spTree>
    <p:extLst>
      <p:ext uri="{BB962C8B-B14F-4D97-AF65-F5344CB8AC3E}">
        <p14:creationId xmlns:p14="http://schemas.microsoft.com/office/powerpoint/2010/main" val="32551426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839200" cy="6477000"/>
          </a:xfrm>
        </p:spPr>
        <p:txBody>
          <a:bodyPr>
            <a:normAutofit/>
          </a:bodyPr>
          <a:lstStyle/>
          <a:p>
            <a:pPr fontAlgn="base"/>
            <a:r>
              <a:rPr lang="en-US" sz="2400" dirty="0"/>
              <a:t>21. Viva voice Test Scores</a:t>
            </a:r>
            <a:br>
              <a:rPr lang="en-US" sz="2400" b="0" dirty="0"/>
            </a:br>
            <a:r>
              <a:rPr lang="en-US" sz="2400" b="0" dirty="0" err="1"/>
              <a:t>Scores</a:t>
            </a:r>
            <a:r>
              <a:rPr lang="en-US" sz="2400" b="0" dirty="0"/>
              <a:t> on academic tests form an interval variable. The difference between scores is uniform, but </a:t>
            </a:r>
            <a:r>
              <a:rPr lang="en-US" sz="2400" dirty="0">
                <a:solidFill>
                  <a:srgbClr val="002060"/>
                </a:solidFill>
              </a:rPr>
              <a:t>zero does not represent a complete absence of knowledge or comprehension skills.</a:t>
            </a:r>
          </a:p>
          <a:p>
            <a:pPr fontAlgn="base"/>
            <a:r>
              <a:rPr lang="en-US" sz="2400" dirty="0"/>
              <a:t>22. pH Level</a:t>
            </a:r>
            <a:br>
              <a:rPr lang="en-US" sz="2400" b="0" dirty="0"/>
            </a:br>
            <a:r>
              <a:rPr lang="en-US" sz="2400" b="0" dirty="0"/>
              <a:t>The pH level of a solution is an interval variable. The scale has equal intervals, but a pH of </a:t>
            </a:r>
            <a:r>
              <a:rPr lang="en-US" sz="2400" dirty="0">
                <a:solidFill>
                  <a:srgbClr val="002060"/>
                </a:solidFill>
              </a:rPr>
              <a:t>0 does not signify the absence of acidity or alkalinity.</a:t>
            </a:r>
          </a:p>
          <a:p>
            <a:pPr fontAlgn="base"/>
            <a:r>
              <a:rPr lang="en-US" sz="2400" dirty="0"/>
              <a:t>23. Economic Indicators</a:t>
            </a:r>
            <a:br>
              <a:rPr lang="en-US" sz="2400" b="0" dirty="0"/>
            </a:br>
            <a:r>
              <a:rPr lang="en-US" sz="2400" b="0" dirty="0"/>
              <a:t>Common economic indicators like inflation, interest rates, etc., are interval variables. The difference between rates is uniform, but a </a:t>
            </a:r>
            <a:r>
              <a:rPr lang="en-US" sz="2400" dirty="0">
                <a:solidFill>
                  <a:srgbClr val="002060"/>
                </a:solidFill>
              </a:rPr>
              <a:t>zero rate does not signify an absence of economic activity</a:t>
            </a:r>
            <a:r>
              <a:rPr lang="en-US" sz="2400" b="0" dirty="0"/>
              <a:t>.</a:t>
            </a:r>
          </a:p>
        </p:txBody>
      </p:sp>
    </p:spTree>
    <p:extLst>
      <p:ext uri="{BB962C8B-B14F-4D97-AF65-F5344CB8AC3E}">
        <p14:creationId xmlns:p14="http://schemas.microsoft.com/office/powerpoint/2010/main" val="21774294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Ratio Scale:</a:t>
            </a:r>
            <a:br>
              <a:rPr lang="en-IN" b="1" dirty="0"/>
            </a:br>
            <a:endParaRPr lang="en-IN" dirty="0"/>
          </a:p>
        </p:txBody>
      </p:sp>
      <p:sp>
        <p:nvSpPr>
          <p:cNvPr id="3" name="Content Placeholder 2"/>
          <p:cNvSpPr>
            <a:spLocks noGrp="1"/>
          </p:cNvSpPr>
          <p:nvPr>
            <p:ph idx="1"/>
          </p:nvPr>
        </p:nvSpPr>
        <p:spPr>
          <a:xfrm>
            <a:off x="822960" y="1100628"/>
            <a:ext cx="7863840" cy="4842972"/>
          </a:xfrm>
        </p:spPr>
        <p:txBody>
          <a:bodyPr>
            <a:normAutofit fontScale="92500"/>
          </a:bodyPr>
          <a:lstStyle/>
          <a:p>
            <a:r>
              <a:rPr lang="en-US" sz="2800" dirty="0"/>
              <a:t>The ratio scale is the 4</a:t>
            </a:r>
            <a:r>
              <a:rPr lang="en-US" sz="2800" baseline="30000" dirty="0"/>
              <a:t>th</a:t>
            </a:r>
            <a:r>
              <a:rPr lang="en-US" sz="2800" dirty="0"/>
              <a:t> level of measurement scale, which is quantitative. It is a type of variable measurement scale. It allows researchers to compare the differences or intervals. The ratio scale has a unique feature. </a:t>
            </a:r>
            <a:r>
              <a:rPr lang="en-US" sz="2800" dirty="0">
                <a:solidFill>
                  <a:srgbClr val="FF0000"/>
                </a:solidFill>
              </a:rPr>
              <a:t>It possesses the character of the origin or zero points.</a:t>
            </a:r>
          </a:p>
          <a:p>
            <a:r>
              <a:rPr lang="en-US" sz="2800" i="1" dirty="0"/>
              <a:t>Remark: Ratio data is a form of quantitative measurement that has a true zero point, signifying a complete absence of the attribute . This distinct zero allows for meaningful calculations of proportions and ratio between measurements</a:t>
            </a:r>
            <a:r>
              <a:rPr lang="en-US" sz="2800" dirty="0"/>
              <a:t>. </a:t>
            </a:r>
          </a:p>
          <a:p>
            <a:endParaRPr lang="en-IN" sz="2800" dirty="0"/>
          </a:p>
        </p:txBody>
      </p:sp>
    </p:spTree>
    <p:extLst>
      <p:ext uri="{BB962C8B-B14F-4D97-AF65-F5344CB8AC3E}">
        <p14:creationId xmlns:p14="http://schemas.microsoft.com/office/powerpoint/2010/main" val="2042270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Characteristics of Ratio Scale:</a:t>
            </a:r>
            <a:br>
              <a:rPr lang="en-IN" dirty="0"/>
            </a:br>
            <a:endParaRPr lang="en-IN" dirty="0"/>
          </a:p>
        </p:txBody>
      </p:sp>
      <p:sp>
        <p:nvSpPr>
          <p:cNvPr id="3" name="Content Placeholder 2"/>
          <p:cNvSpPr>
            <a:spLocks noGrp="1"/>
          </p:cNvSpPr>
          <p:nvPr>
            <p:ph idx="1"/>
          </p:nvPr>
        </p:nvSpPr>
        <p:spPr>
          <a:xfrm>
            <a:off x="822960" y="1100628"/>
            <a:ext cx="8092440" cy="5300172"/>
          </a:xfrm>
        </p:spPr>
        <p:txBody>
          <a:bodyPr>
            <a:normAutofit/>
          </a:bodyPr>
          <a:lstStyle/>
          <a:p>
            <a:pPr lvl="0">
              <a:buFont typeface="+mj-lt"/>
              <a:buAutoNum type="arabicPeriod"/>
            </a:pPr>
            <a:r>
              <a:rPr lang="en-US" sz="2400" dirty="0"/>
              <a:t>Ratio scale has a feature of </a:t>
            </a:r>
            <a:r>
              <a:rPr lang="en-US" sz="2400" dirty="0">
                <a:solidFill>
                  <a:srgbClr val="002060"/>
                </a:solidFill>
              </a:rPr>
              <a:t>absolute zero</a:t>
            </a:r>
            <a:r>
              <a:rPr lang="en-US" sz="2400" dirty="0"/>
              <a:t>.</a:t>
            </a:r>
            <a:endParaRPr lang="en-IN" sz="2400" dirty="0"/>
          </a:p>
          <a:p>
            <a:pPr lvl="0">
              <a:buFont typeface="+mj-lt"/>
              <a:buAutoNum type="arabicPeriod"/>
            </a:pPr>
            <a:r>
              <a:rPr lang="en-US" sz="2400" dirty="0"/>
              <a:t>It </a:t>
            </a:r>
            <a:r>
              <a:rPr lang="en-US" sz="2400" dirty="0">
                <a:solidFill>
                  <a:srgbClr val="002060"/>
                </a:solidFill>
              </a:rPr>
              <a:t>doesn’t have negative numbers, because of its zero-point feature</a:t>
            </a:r>
            <a:endParaRPr lang="en-IN" sz="2400" dirty="0">
              <a:solidFill>
                <a:srgbClr val="002060"/>
              </a:solidFill>
            </a:endParaRPr>
          </a:p>
          <a:p>
            <a:pPr lvl="0">
              <a:buFont typeface="+mj-lt"/>
              <a:buAutoNum type="arabicPeriod"/>
            </a:pPr>
            <a:r>
              <a:rPr lang="en-US" sz="2400" dirty="0"/>
              <a:t>It affords unique opportunities for statistical analysis. The variables can be orderly added, subtracted, multiplied, divided. Mean, median, and mode can be calculated using the ratio scale.</a:t>
            </a:r>
            <a:endParaRPr lang="en-IN" sz="2400" dirty="0"/>
          </a:p>
          <a:p>
            <a:pPr lvl="0">
              <a:buFont typeface="+mj-lt"/>
              <a:buAutoNum type="arabicPeriod"/>
            </a:pPr>
            <a:r>
              <a:rPr lang="en-US" sz="2400" dirty="0"/>
              <a:t>Ratio scale has unique and useful properties. One such feature is that </a:t>
            </a:r>
            <a:r>
              <a:rPr lang="en-US" sz="2400" dirty="0">
                <a:solidFill>
                  <a:srgbClr val="002060"/>
                </a:solidFill>
              </a:rPr>
              <a:t>it allows unit conversions like kilogram – calories, gram – calories, </a:t>
            </a:r>
            <a:r>
              <a:rPr lang="en-US" sz="2400" dirty="0"/>
              <a:t>etc.</a:t>
            </a:r>
            <a:endParaRPr lang="en-IN" sz="2400" dirty="0"/>
          </a:p>
          <a:p>
            <a:endParaRPr lang="en-IN" dirty="0"/>
          </a:p>
        </p:txBody>
      </p:sp>
    </p:spTree>
    <p:extLst>
      <p:ext uri="{BB962C8B-B14F-4D97-AF65-F5344CB8AC3E}">
        <p14:creationId xmlns:p14="http://schemas.microsoft.com/office/powerpoint/2010/main" val="2100010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Examples of ratio scale:</a:t>
            </a:r>
            <a:br>
              <a:rPr lang="en-IN" dirty="0"/>
            </a:br>
            <a:endParaRPr lang="en-IN" dirty="0"/>
          </a:p>
        </p:txBody>
      </p:sp>
      <p:sp>
        <p:nvSpPr>
          <p:cNvPr id="3" name="Content Placeholder 2"/>
          <p:cNvSpPr>
            <a:spLocks noGrp="1"/>
          </p:cNvSpPr>
          <p:nvPr>
            <p:ph idx="1"/>
          </p:nvPr>
        </p:nvSpPr>
        <p:spPr>
          <a:xfrm>
            <a:off x="822960" y="1100628"/>
            <a:ext cx="7520940" cy="5833572"/>
          </a:xfrm>
        </p:spPr>
        <p:txBody>
          <a:bodyPr>
            <a:noAutofit/>
          </a:bodyPr>
          <a:lstStyle/>
          <a:p>
            <a:r>
              <a:rPr lang="en-US" sz="2800" dirty="0"/>
              <a:t>1. </a:t>
            </a:r>
            <a:r>
              <a:rPr lang="en-US" sz="2000" dirty="0"/>
              <a:t>What is your weight in Kg?</a:t>
            </a:r>
            <a:endParaRPr lang="en-IN" sz="2000" dirty="0"/>
          </a:p>
          <a:p>
            <a:pPr lvl="0" indent="911225"/>
            <a:r>
              <a:rPr lang="en-US" sz="2000" dirty="0"/>
              <a:t>Less than 55 kg</a:t>
            </a:r>
            <a:endParaRPr lang="en-IN" sz="2000" dirty="0"/>
          </a:p>
          <a:p>
            <a:pPr lvl="0" indent="911225"/>
            <a:r>
              <a:rPr lang="en-US" sz="2000" dirty="0"/>
              <a:t>55 – 75 kg</a:t>
            </a:r>
            <a:endParaRPr lang="en-IN" sz="2000" dirty="0"/>
          </a:p>
          <a:p>
            <a:pPr lvl="0" indent="911225"/>
            <a:r>
              <a:rPr lang="en-US" sz="2000" dirty="0"/>
              <a:t>76 – 85 kg</a:t>
            </a:r>
            <a:endParaRPr lang="en-IN" sz="2000" dirty="0"/>
          </a:p>
          <a:p>
            <a:pPr lvl="0" indent="911225"/>
            <a:r>
              <a:rPr lang="en-US" sz="2000" dirty="0"/>
              <a:t>86 – 95 kg</a:t>
            </a:r>
            <a:endParaRPr lang="en-IN" sz="2000" dirty="0"/>
          </a:p>
          <a:p>
            <a:pPr lvl="0" indent="911225"/>
            <a:r>
              <a:rPr lang="en-US" sz="2000" dirty="0"/>
              <a:t>More than 95 kg</a:t>
            </a:r>
          </a:p>
          <a:p>
            <a:pPr lvl="0" indent="911225"/>
            <a:endParaRPr lang="en-IN" sz="2000" dirty="0"/>
          </a:p>
          <a:p>
            <a:r>
              <a:rPr lang="en-US" sz="2000" dirty="0"/>
              <a:t>2. What is your daughter’s current height?</a:t>
            </a:r>
            <a:endParaRPr lang="en-IN" sz="2000" dirty="0"/>
          </a:p>
          <a:p>
            <a:pPr marL="173038" lvl="1" indent="0">
              <a:buNone/>
            </a:pPr>
            <a:r>
              <a:rPr lang="en-US" sz="2000" b="1" dirty="0"/>
              <a:t>	     Less than 5 feet</a:t>
            </a:r>
            <a:endParaRPr lang="en-IN" sz="2000" b="1" dirty="0"/>
          </a:p>
          <a:p>
            <a:pPr marL="173038" lvl="1" indent="0">
              <a:buNone/>
            </a:pPr>
            <a:r>
              <a:rPr lang="en-US" sz="2000" b="1" dirty="0"/>
              <a:t>                 5 feet 1 inch – 5 feet 5 inches</a:t>
            </a:r>
            <a:endParaRPr lang="en-IN" sz="2000" b="1" dirty="0"/>
          </a:p>
          <a:p>
            <a:pPr marL="173038" lvl="1" indent="0">
              <a:buNone/>
            </a:pPr>
            <a:r>
              <a:rPr lang="en-US" sz="2000" b="1" dirty="0"/>
              <a:t>                 5 feet 6 inches- 6 feet</a:t>
            </a:r>
            <a:endParaRPr lang="en-IN" sz="2000" b="1" dirty="0"/>
          </a:p>
          <a:p>
            <a:pPr marL="173038" lvl="1" indent="0">
              <a:buNone/>
            </a:pPr>
            <a:r>
              <a:rPr lang="en-US" sz="2000" b="1" dirty="0"/>
              <a:t>                 More than 6 feet</a:t>
            </a:r>
          </a:p>
          <a:p>
            <a:endParaRPr lang="en-IN" dirty="0"/>
          </a:p>
          <a:p>
            <a:pPr marL="173038" lvl="1" indent="0">
              <a:buNone/>
            </a:pPr>
            <a:endParaRPr lang="en-IN" sz="2000" b="1" dirty="0"/>
          </a:p>
        </p:txBody>
      </p:sp>
    </p:spTree>
    <p:extLst>
      <p:ext uri="{BB962C8B-B14F-4D97-AF65-F5344CB8AC3E}">
        <p14:creationId xmlns:p14="http://schemas.microsoft.com/office/powerpoint/2010/main" val="1015461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553200"/>
          </a:xfrm>
        </p:spPr>
        <p:txBody>
          <a:bodyPr>
            <a:noAutofit/>
          </a:bodyPr>
          <a:lstStyle/>
          <a:p>
            <a:pPr>
              <a:buAutoNum type="arabicPeriod"/>
            </a:pPr>
            <a:r>
              <a:rPr lang="en-US" sz="2400" dirty="0"/>
              <a:t>Weight</a:t>
            </a:r>
            <a:br>
              <a:rPr lang="en-US" sz="2400" dirty="0"/>
            </a:br>
            <a:r>
              <a:rPr lang="en-US" sz="2400" b="0" dirty="0"/>
              <a:t>If </a:t>
            </a:r>
            <a:r>
              <a:rPr lang="en-US" sz="2400" dirty="0">
                <a:solidFill>
                  <a:srgbClr val="002060"/>
                </a:solidFill>
              </a:rPr>
              <a:t>an object weighs 0 grams (or 0 kilograms, or 0 pounds), it truly has no weight.</a:t>
            </a:r>
            <a:r>
              <a:rPr lang="en-US" sz="2400" b="0" dirty="0"/>
              <a:t> You can also say that an object weighing 10 grams is twice as heavy as an object weighing 5 grams. This demonstrates both a true zero and meaningful ratios between measurements.</a:t>
            </a:r>
          </a:p>
          <a:p>
            <a:pPr fontAlgn="base"/>
            <a:r>
              <a:rPr lang="en-US" sz="2400" dirty="0"/>
              <a:t>2. Height</a:t>
            </a:r>
            <a:br>
              <a:rPr lang="en-US" sz="2400" b="0" dirty="0"/>
            </a:br>
            <a:r>
              <a:rPr lang="en-US" sz="2400" b="0" dirty="0"/>
              <a:t>The measurement of </a:t>
            </a:r>
            <a:r>
              <a:rPr lang="en-US" sz="2400" dirty="0">
                <a:solidFill>
                  <a:srgbClr val="002060"/>
                </a:solidFill>
              </a:rPr>
              <a:t>height in units like centimeters or feet also has a true zero. </a:t>
            </a:r>
            <a:r>
              <a:rPr lang="en-US" sz="2400" b="0" dirty="0"/>
              <a:t>If something is 0 centimeters tall, it has no height. A tree that’s 20 meters tall is twice as tall as a tree that’s 10 meters tall.</a:t>
            </a:r>
          </a:p>
          <a:p>
            <a:pPr fontAlgn="base"/>
            <a:r>
              <a:rPr lang="en-US" sz="2400" dirty="0"/>
              <a:t>3. Age</a:t>
            </a:r>
            <a:br>
              <a:rPr lang="en-US" sz="2400" b="0" dirty="0"/>
            </a:br>
            <a:r>
              <a:rPr lang="en-US" sz="2400" dirty="0" err="1">
                <a:solidFill>
                  <a:srgbClr val="002060"/>
                </a:solidFill>
              </a:rPr>
              <a:t>Age</a:t>
            </a:r>
            <a:r>
              <a:rPr lang="en-US" sz="2400" dirty="0">
                <a:solidFill>
                  <a:srgbClr val="002060"/>
                </a:solidFill>
              </a:rPr>
              <a:t> is measured from a defined point of starting</a:t>
            </a:r>
            <a:r>
              <a:rPr lang="en-US" sz="2400" b="0" dirty="0"/>
              <a:t>, which is birth (age 0). If someone is 20 years old, they are twice as old as someone who is 10 years old.</a:t>
            </a:r>
          </a:p>
          <a:p>
            <a:pPr>
              <a:buAutoNum type="arabicPeriod"/>
            </a:pPr>
            <a:endParaRPr lang="en-IN" sz="2400" dirty="0"/>
          </a:p>
        </p:txBody>
      </p:sp>
    </p:spTree>
    <p:extLst>
      <p:ext uri="{BB962C8B-B14F-4D97-AF65-F5344CB8AC3E}">
        <p14:creationId xmlns:p14="http://schemas.microsoft.com/office/powerpoint/2010/main" val="4106967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686800" cy="6477000"/>
          </a:xfrm>
        </p:spPr>
        <p:txBody>
          <a:bodyPr>
            <a:noAutofit/>
          </a:bodyPr>
          <a:lstStyle/>
          <a:p>
            <a:pPr fontAlgn="base"/>
            <a:r>
              <a:rPr lang="en-US" sz="2200" dirty="0"/>
              <a:t>4. Distance</a:t>
            </a:r>
            <a:br>
              <a:rPr lang="en-US" sz="2200" b="0" dirty="0"/>
            </a:br>
            <a:r>
              <a:rPr lang="en-US" sz="2200" b="0" dirty="0"/>
              <a:t>If you measure the distance of a journey in miles or kilometers, a distance of </a:t>
            </a:r>
            <a:r>
              <a:rPr lang="en-US" sz="2200" dirty="0">
                <a:solidFill>
                  <a:srgbClr val="002060"/>
                </a:solidFill>
              </a:rPr>
              <a:t>0 means no moveme</a:t>
            </a:r>
            <a:r>
              <a:rPr lang="en-US" sz="2200" b="0" dirty="0">
                <a:solidFill>
                  <a:srgbClr val="002060"/>
                </a:solidFill>
              </a:rPr>
              <a:t>nt</a:t>
            </a:r>
            <a:r>
              <a:rPr lang="en-US" sz="2200" b="0" dirty="0"/>
              <a:t> has occurred. A journey that is 100 kilometers long is twice as long as a journey that is 50 kilometers long.</a:t>
            </a:r>
          </a:p>
          <a:p>
            <a:pPr fontAlgn="base"/>
            <a:r>
              <a:rPr lang="en-US" sz="2200" dirty="0"/>
              <a:t>5. Volume</a:t>
            </a:r>
            <a:br>
              <a:rPr lang="en-US" sz="2200" b="0" dirty="0"/>
            </a:br>
            <a:r>
              <a:rPr lang="en-US" sz="2200" b="0" dirty="0"/>
              <a:t>Consider a container’s volume measured in liters or gallons. If a container holds </a:t>
            </a:r>
            <a:r>
              <a:rPr lang="en-US" sz="2200" dirty="0">
                <a:solidFill>
                  <a:srgbClr val="002060"/>
                </a:solidFill>
              </a:rPr>
              <a:t>0 liters, it’s empty</a:t>
            </a:r>
            <a:r>
              <a:rPr lang="en-US" sz="2200" b="0" dirty="0"/>
              <a:t>. A container holding 8 liters contains twice the volume of a container holding 4 liters.</a:t>
            </a:r>
          </a:p>
          <a:p>
            <a:pPr fontAlgn="base"/>
            <a:r>
              <a:rPr lang="en-US" sz="2200" dirty="0"/>
              <a:t>6. Income</a:t>
            </a:r>
            <a:br>
              <a:rPr lang="en-US" sz="2200" b="0" dirty="0"/>
            </a:br>
            <a:r>
              <a:rPr lang="en-US" sz="2200" b="0" dirty="0"/>
              <a:t>If someone earns </a:t>
            </a:r>
            <a:r>
              <a:rPr lang="en-US" sz="2200" dirty="0">
                <a:solidFill>
                  <a:srgbClr val="002060"/>
                </a:solidFill>
              </a:rPr>
              <a:t>$0, it means they have no income</a:t>
            </a:r>
            <a:r>
              <a:rPr lang="en-US" sz="2200" b="0" dirty="0"/>
              <a:t>. An individual earning $200,000 annually earns twice as much as someone earning $100,000 annually.</a:t>
            </a:r>
          </a:p>
          <a:p>
            <a:pPr fontAlgn="base"/>
            <a:r>
              <a:rPr lang="en-US" sz="2200" dirty="0"/>
              <a:t>7. Speed</a:t>
            </a:r>
            <a:br>
              <a:rPr lang="en-US" sz="2200" b="0" dirty="0"/>
            </a:br>
            <a:r>
              <a:rPr lang="en-US" sz="2200" b="0" dirty="0"/>
              <a:t>If a vehicle is moving at </a:t>
            </a:r>
            <a:r>
              <a:rPr lang="en-US" sz="2200" dirty="0">
                <a:solidFill>
                  <a:srgbClr val="002060"/>
                </a:solidFill>
              </a:rPr>
              <a:t>0 kilometers per hour (or 0 miles per hour), it’s at a standstill.</a:t>
            </a:r>
            <a:r>
              <a:rPr lang="en-US" sz="2200" b="0" dirty="0"/>
              <a:t> A car traveling at 60 km/h is moving twice as fast as one traveling at 30 km/h.</a:t>
            </a:r>
          </a:p>
          <a:p>
            <a:endParaRPr lang="en-IN" sz="2200" dirty="0"/>
          </a:p>
        </p:txBody>
      </p:sp>
    </p:spTree>
    <p:extLst>
      <p:ext uri="{BB962C8B-B14F-4D97-AF65-F5344CB8AC3E}">
        <p14:creationId xmlns:p14="http://schemas.microsoft.com/office/powerpoint/2010/main" val="22260880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77000"/>
          </a:xfrm>
        </p:spPr>
        <p:txBody>
          <a:bodyPr>
            <a:noAutofit/>
          </a:bodyPr>
          <a:lstStyle/>
          <a:p>
            <a:pPr fontAlgn="base"/>
            <a:r>
              <a:rPr lang="en-US" sz="2000" dirty="0"/>
              <a:t>8. Energy Consumption</a:t>
            </a:r>
            <a:br>
              <a:rPr lang="en-US" sz="2000" b="0" dirty="0"/>
            </a:br>
            <a:r>
              <a:rPr lang="en-US" sz="2000" b="0" dirty="0"/>
              <a:t>Measured in units like kilowatt-hours (kWh) or joules. If an appliance consumes </a:t>
            </a:r>
            <a:r>
              <a:rPr lang="en-US" sz="2000" dirty="0">
                <a:solidFill>
                  <a:srgbClr val="002060"/>
                </a:solidFill>
              </a:rPr>
              <a:t>0 kWh, it hasn’t used any energy. </a:t>
            </a:r>
            <a:r>
              <a:rPr lang="en-US" sz="2000" b="0" dirty="0"/>
              <a:t>An appliance using 20 kWh has consumed twice the energy of one that has used 10 kWh.</a:t>
            </a:r>
          </a:p>
          <a:p>
            <a:pPr fontAlgn="base"/>
            <a:r>
              <a:rPr lang="en-US" sz="2000" dirty="0"/>
              <a:t>9. Population</a:t>
            </a:r>
            <a:br>
              <a:rPr lang="en-US" sz="2000" b="0" dirty="0"/>
            </a:br>
            <a:r>
              <a:rPr lang="en-US" sz="2000" b="0" dirty="0"/>
              <a:t>If a certain species has a population of </a:t>
            </a:r>
            <a:r>
              <a:rPr lang="en-US" sz="2000" dirty="0">
                <a:solidFill>
                  <a:srgbClr val="002060"/>
                </a:solidFill>
              </a:rPr>
              <a:t>0 in a particular area, it means there are no individuals of that species present. </a:t>
            </a:r>
            <a:r>
              <a:rPr lang="en-US" sz="2000" b="0" dirty="0"/>
              <a:t>A region with a population of 10,000 people has twice as many inhabitants as a region with 5,000 people.</a:t>
            </a:r>
          </a:p>
          <a:p>
            <a:pPr fontAlgn="base"/>
            <a:r>
              <a:rPr lang="en-US" sz="2000" dirty="0"/>
              <a:t>10. Sound Intensity</a:t>
            </a:r>
            <a:br>
              <a:rPr lang="en-US" sz="2000" b="0" dirty="0"/>
            </a:br>
            <a:r>
              <a:rPr lang="en-US" sz="2000" b="0" dirty="0"/>
              <a:t>This is often measured in decibels. A sound level of </a:t>
            </a:r>
            <a:r>
              <a:rPr lang="en-US" sz="2000" dirty="0">
                <a:solidFill>
                  <a:srgbClr val="002060"/>
                </a:solidFill>
              </a:rPr>
              <a:t>0 decibels represents the threshold of hearing and is effectively no sound for the human ear. </a:t>
            </a:r>
            <a:r>
              <a:rPr lang="en-US" sz="2000" b="0" dirty="0"/>
              <a:t>A sound that is 20 decibels is 10 times more intense than a sound that is 10 decibels due to the logarithmic scale of decibels, but the ratio is meaningful.</a:t>
            </a:r>
          </a:p>
          <a:p>
            <a:pPr fontAlgn="base"/>
            <a:r>
              <a:rPr lang="en-US" sz="2000" dirty="0"/>
              <a:t>11. Sales or Revenue</a:t>
            </a:r>
            <a:br>
              <a:rPr lang="en-US" sz="2000" b="0" dirty="0"/>
            </a:br>
            <a:r>
              <a:rPr lang="en-US" sz="2000" b="0" dirty="0"/>
              <a:t>For businesses, the total sales or revenue can be measured in currency units like dollars, euros, etc. If a business reports </a:t>
            </a:r>
            <a:r>
              <a:rPr lang="en-US" sz="2000" dirty="0">
                <a:solidFill>
                  <a:srgbClr val="002060"/>
                </a:solidFill>
              </a:rPr>
              <a:t>$0 in sales, it means no sales were made</a:t>
            </a:r>
            <a:r>
              <a:rPr lang="en-US" sz="2000" b="0" dirty="0"/>
              <a:t>. A business that earns $2 million in a month generates twice the revenue as one that earns $1 million in the same period.</a:t>
            </a:r>
          </a:p>
          <a:p>
            <a:endParaRPr lang="en-IN" sz="2000" dirty="0"/>
          </a:p>
          <a:p>
            <a:pPr fontAlgn="base"/>
            <a:endParaRPr lang="en-IN" sz="2000" dirty="0"/>
          </a:p>
        </p:txBody>
      </p:sp>
    </p:spTree>
    <p:extLst>
      <p:ext uri="{BB962C8B-B14F-4D97-AF65-F5344CB8AC3E}">
        <p14:creationId xmlns:p14="http://schemas.microsoft.com/office/powerpoint/2010/main" val="4045145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477000"/>
          </a:xfrm>
        </p:spPr>
        <p:txBody>
          <a:bodyPr>
            <a:noAutofit/>
          </a:bodyPr>
          <a:lstStyle/>
          <a:p>
            <a:pPr fontAlgn="base"/>
            <a:endParaRPr lang="en-US" sz="2000" b="0" dirty="0"/>
          </a:p>
          <a:p>
            <a:pPr fontAlgn="base"/>
            <a:r>
              <a:rPr lang="en-US" sz="2000" dirty="0"/>
              <a:t>12. Production Quantities</a:t>
            </a:r>
            <a:br>
              <a:rPr lang="en-US" sz="2000" b="0" dirty="0"/>
            </a:br>
            <a:r>
              <a:rPr lang="en-US" sz="2000" b="0" dirty="0"/>
              <a:t>In a manufacturing context, if </a:t>
            </a:r>
            <a:r>
              <a:rPr lang="en-US" sz="2000" dirty="0">
                <a:solidFill>
                  <a:srgbClr val="002060"/>
                </a:solidFill>
              </a:rPr>
              <a:t>0 units are produced, it indicates no goods were manufactured</a:t>
            </a:r>
            <a:r>
              <a:rPr lang="en-US" sz="2000" b="0" dirty="0"/>
              <a:t>. If one day 400 units are produced and another day 200 units are produced, the first day’s production is twice that of the second.</a:t>
            </a:r>
          </a:p>
          <a:p>
            <a:pPr fontAlgn="base"/>
            <a:r>
              <a:rPr lang="en-US" sz="2000" dirty="0"/>
              <a:t>13. Battery Life</a:t>
            </a:r>
            <a:br>
              <a:rPr lang="en-US" sz="2000" b="0" dirty="0"/>
            </a:br>
            <a:r>
              <a:rPr lang="en-US" sz="2000" b="0" dirty="0"/>
              <a:t>For electronic devices like smartphones or laptops, battery life can be measured in hours or percentage. A battery life of </a:t>
            </a:r>
            <a:r>
              <a:rPr lang="en-US" sz="2000" dirty="0">
                <a:solidFill>
                  <a:srgbClr val="002060"/>
                </a:solidFill>
              </a:rPr>
              <a:t>0 hours or 0% indicates the device is fully drained</a:t>
            </a:r>
            <a:r>
              <a:rPr lang="en-US" sz="2000" b="0" dirty="0"/>
              <a:t>. A device with a battery life of 8 hours has twice the remaining usage time as a device with 4 hours of battery life.</a:t>
            </a:r>
          </a:p>
          <a:p>
            <a:pPr fontAlgn="base"/>
            <a:r>
              <a:rPr lang="en-US" sz="2000" dirty="0"/>
              <a:t>14. Disk Space</a:t>
            </a:r>
            <a:br>
              <a:rPr lang="en-US" sz="2000" b="0" dirty="0"/>
            </a:br>
            <a:r>
              <a:rPr lang="en-US" sz="2000" b="0" dirty="0"/>
              <a:t>On a computer or digital storage device, the total storage or free space can be measured in bytes, kilobytes, megabytes, gigabytes, etc. A </a:t>
            </a:r>
            <a:r>
              <a:rPr lang="en-US" sz="2000" dirty="0">
                <a:solidFill>
                  <a:srgbClr val="002060"/>
                </a:solidFill>
              </a:rPr>
              <a:t>storage space of 0 GB means there’s no storage capacity</a:t>
            </a:r>
            <a:r>
              <a:rPr lang="en-US" sz="2000" b="0" dirty="0"/>
              <a:t>. A hard drive with 500 GB of storage has twice the capacity as one with 250 GB.</a:t>
            </a:r>
          </a:p>
          <a:p>
            <a:endParaRPr lang="en-IN" sz="2000" dirty="0"/>
          </a:p>
        </p:txBody>
      </p:sp>
    </p:spTree>
    <p:extLst>
      <p:ext uri="{BB962C8B-B14F-4D97-AF65-F5344CB8AC3E}">
        <p14:creationId xmlns:p14="http://schemas.microsoft.com/office/powerpoint/2010/main" val="668270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9144000" cy="5867400"/>
          </a:xfrm>
        </p:spPr>
        <p:txBody>
          <a:bodyPr>
            <a:normAutofit/>
          </a:bodyPr>
          <a:lstStyle/>
          <a:p>
            <a:pPr fontAlgn="base"/>
            <a:endParaRPr lang="en-US" sz="2000" dirty="0"/>
          </a:p>
          <a:p>
            <a:pPr fontAlgn="base"/>
            <a:r>
              <a:rPr lang="en-US" sz="2000" dirty="0"/>
              <a:t>15. Physical Force</a:t>
            </a:r>
            <a:br>
              <a:rPr lang="en-US" sz="2000" b="0" dirty="0"/>
            </a:br>
            <a:r>
              <a:rPr lang="en-US" sz="2000" b="0" dirty="0"/>
              <a:t>Measured in units like </a:t>
            </a:r>
            <a:r>
              <a:rPr lang="en-US" sz="2000" b="0" dirty="0" err="1"/>
              <a:t>Newtons</a:t>
            </a:r>
            <a:r>
              <a:rPr lang="en-US" sz="2000" b="0" dirty="0"/>
              <a:t>. If a force of </a:t>
            </a:r>
            <a:r>
              <a:rPr lang="en-US" sz="2000" dirty="0">
                <a:solidFill>
                  <a:srgbClr val="002060"/>
                </a:solidFill>
              </a:rPr>
              <a:t>0 </a:t>
            </a:r>
            <a:r>
              <a:rPr lang="en-US" sz="2000" dirty="0" err="1">
                <a:solidFill>
                  <a:srgbClr val="002060"/>
                </a:solidFill>
              </a:rPr>
              <a:t>newtons</a:t>
            </a:r>
            <a:r>
              <a:rPr lang="en-US" sz="2000" dirty="0">
                <a:solidFill>
                  <a:srgbClr val="002060"/>
                </a:solidFill>
              </a:rPr>
              <a:t> is applied to an object, it means there’s no force being exerted</a:t>
            </a:r>
            <a:r>
              <a:rPr lang="en-US" sz="2000" b="0" dirty="0"/>
              <a:t>. An applied force of 20 </a:t>
            </a:r>
            <a:r>
              <a:rPr lang="en-US" sz="2000" b="0" dirty="0" err="1"/>
              <a:t>newtons</a:t>
            </a:r>
            <a:r>
              <a:rPr lang="en-US" sz="2000" b="0" dirty="0"/>
              <a:t> is twice as much as a force of 10 </a:t>
            </a:r>
            <a:r>
              <a:rPr lang="en-US" sz="2000" b="0" dirty="0" err="1"/>
              <a:t>newtons</a:t>
            </a:r>
            <a:r>
              <a:rPr lang="en-US" sz="2000" b="0" dirty="0"/>
              <a:t>.</a:t>
            </a:r>
          </a:p>
          <a:p>
            <a:r>
              <a:rPr lang="en-US" sz="2000" dirty="0"/>
              <a:t>16. Light Intensity</a:t>
            </a:r>
            <a:br>
              <a:rPr lang="en-US" sz="2000" b="0" dirty="0"/>
            </a:br>
            <a:r>
              <a:rPr lang="en-US" sz="2000" b="0" dirty="0"/>
              <a:t>This can be measured in lumens or candela. A light source emitting </a:t>
            </a:r>
            <a:r>
              <a:rPr lang="en-US" sz="2000" dirty="0">
                <a:solidFill>
                  <a:srgbClr val="002060"/>
                </a:solidFill>
              </a:rPr>
              <a:t>0 lumens or candela effectively emits no light</a:t>
            </a:r>
            <a:r>
              <a:rPr lang="en-US" sz="2000" b="0" dirty="0"/>
              <a:t>. A lamp emitting 200 lumens is twice as bright as a lamp emitting 100 lumens.</a:t>
            </a:r>
          </a:p>
          <a:p>
            <a:pPr fontAlgn="base"/>
            <a:r>
              <a:rPr lang="en-US" sz="2000" dirty="0"/>
              <a:t>17. Concentration</a:t>
            </a:r>
            <a:br>
              <a:rPr lang="en-US" sz="2000" b="0" dirty="0"/>
            </a:br>
            <a:r>
              <a:rPr lang="en-US" sz="2000" b="0" dirty="0"/>
              <a:t>In chemistry, concentration can be measured in molarity (moles per liter) or in parts per million (ppm). A solution with a concentration of </a:t>
            </a:r>
            <a:r>
              <a:rPr lang="en-US" sz="2000" dirty="0">
                <a:solidFill>
                  <a:srgbClr val="002060"/>
                </a:solidFill>
              </a:rPr>
              <a:t>0 M or 0 ppm has none of the solute</a:t>
            </a:r>
            <a:r>
              <a:rPr lang="en-US" sz="2000" b="0" dirty="0"/>
              <a:t>. A solution with 2 M concentration has twice the amount of solute as a solution with 1 M concentration.</a:t>
            </a:r>
          </a:p>
          <a:p>
            <a:pPr fontAlgn="base"/>
            <a:endParaRPr lang="en-IN" sz="2000" dirty="0"/>
          </a:p>
        </p:txBody>
      </p:sp>
    </p:spTree>
    <p:extLst>
      <p:ext uri="{BB962C8B-B14F-4D97-AF65-F5344CB8AC3E}">
        <p14:creationId xmlns:p14="http://schemas.microsoft.com/office/powerpoint/2010/main" val="14579843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3074" name="Picture 2" descr="Scales of Measur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7200"/>
            <a:ext cx="9144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4032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Summary –  Levels of Measurement</a:t>
            </a:r>
            <a:br>
              <a:rPr lang="en-IN" b="1"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5766730"/>
              </p:ext>
            </p:extLst>
          </p:nvPr>
        </p:nvGraphicFramePr>
        <p:xfrm>
          <a:off x="228600" y="1143001"/>
          <a:ext cx="8610600" cy="5410199"/>
        </p:xfrm>
        <a:graphic>
          <a:graphicData uri="http://schemas.openxmlformats.org/drawingml/2006/table">
            <a:tbl>
              <a:tblPr firstRow="1" firstCol="1" bandRow="1">
                <a:tableStyleId>{D113A9D2-9D6B-4929-AA2D-F23B5EE8CBE7}</a:tableStyleId>
              </a:tblPr>
              <a:tblGrid>
                <a:gridCol w="4801378">
                  <a:extLst>
                    <a:ext uri="{9D8B030D-6E8A-4147-A177-3AD203B41FA5}">
                      <a16:colId xmlns:a16="http://schemas.microsoft.com/office/drawing/2014/main" val="20000"/>
                    </a:ext>
                  </a:extLst>
                </a:gridCol>
                <a:gridCol w="1076704">
                  <a:extLst>
                    <a:ext uri="{9D8B030D-6E8A-4147-A177-3AD203B41FA5}">
                      <a16:colId xmlns:a16="http://schemas.microsoft.com/office/drawing/2014/main" val="20001"/>
                    </a:ext>
                  </a:extLst>
                </a:gridCol>
                <a:gridCol w="979902">
                  <a:extLst>
                    <a:ext uri="{9D8B030D-6E8A-4147-A177-3AD203B41FA5}">
                      <a16:colId xmlns:a16="http://schemas.microsoft.com/office/drawing/2014/main" val="20002"/>
                    </a:ext>
                  </a:extLst>
                </a:gridCol>
                <a:gridCol w="991791">
                  <a:extLst>
                    <a:ext uri="{9D8B030D-6E8A-4147-A177-3AD203B41FA5}">
                      <a16:colId xmlns:a16="http://schemas.microsoft.com/office/drawing/2014/main" val="20003"/>
                    </a:ext>
                  </a:extLst>
                </a:gridCol>
                <a:gridCol w="760825">
                  <a:extLst>
                    <a:ext uri="{9D8B030D-6E8A-4147-A177-3AD203B41FA5}">
                      <a16:colId xmlns:a16="http://schemas.microsoft.com/office/drawing/2014/main" val="20004"/>
                    </a:ext>
                  </a:extLst>
                </a:gridCol>
              </a:tblGrid>
              <a:tr h="758669">
                <a:tc>
                  <a:txBody>
                    <a:bodyPr/>
                    <a:lstStyle/>
                    <a:p>
                      <a:pPr>
                        <a:lnSpc>
                          <a:spcPct val="115000"/>
                        </a:lnSpc>
                        <a:spcAft>
                          <a:spcPts val="1000"/>
                        </a:spcAft>
                      </a:pPr>
                      <a:r>
                        <a:rPr lang="en-US" sz="2000" dirty="0">
                          <a:solidFill>
                            <a:schemeClr val="tx1"/>
                          </a:solidFill>
                          <a:effectLst/>
                        </a:rPr>
                        <a:t>Offers:</a:t>
                      </a:r>
                      <a:endParaRPr lang="en-IN" sz="2000" dirty="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Nominal</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Ordinal</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Interval</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Ratio</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0"/>
                  </a:ext>
                </a:extLst>
              </a:tr>
              <a:tr h="530072">
                <a:tc>
                  <a:txBody>
                    <a:bodyPr/>
                    <a:lstStyle/>
                    <a:p>
                      <a:pPr>
                        <a:lnSpc>
                          <a:spcPct val="115000"/>
                        </a:lnSpc>
                        <a:spcAft>
                          <a:spcPts val="1000"/>
                        </a:spcAft>
                      </a:pPr>
                      <a:r>
                        <a:rPr lang="en-US" sz="2000">
                          <a:solidFill>
                            <a:schemeClr val="tx1"/>
                          </a:solidFill>
                          <a:effectLst/>
                        </a:rPr>
                        <a:t>The sequence of variables is established</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1"/>
                  </a:ext>
                </a:extLst>
              </a:tr>
              <a:tr h="530072">
                <a:tc>
                  <a:txBody>
                    <a:bodyPr/>
                    <a:lstStyle/>
                    <a:p>
                      <a:pPr>
                        <a:lnSpc>
                          <a:spcPct val="115000"/>
                        </a:lnSpc>
                        <a:spcAft>
                          <a:spcPts val="1000"/>
                        </a:spcAft>
                      </a:pPr>
                      <a:r>
                        <a:rPr lang="en-US" sz="2000">
                          <a:solidFill>
                            <a:schemeClr val="tx1"/>
                          </a:solidFill>
                          <a:effectLst/>
                        </a:rPr>
                        <a:t>Mode</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2"/>
                  </a:ext>
                </a:extLst>
              </a:tr>
              <a:tr h="530072">
                <a:tc>
                  <a:txBody>
                    <a:bodyPr/>
                    <a:lstStyle/>
                    <a:p>
                      <a:pPr>
                        <a:lnSpc>
                          <a:spcPct val="115000"/>
                        </a:lnSpc>
                        <a:spcAft>
                          <a:spcPts val="1000"/>
                        </a:spcAft>
                      </a:pPr>
                      <a:r>
                        <a:rPr lang="en-US" sz="2000">
                          <a:solidFill>
                            <a:schemeClr val="tx1"/>
                          </a:solidFill>
                          <a:effectLst/>
                        </a:rPr>
                        <a:t>Median</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3"/>
                  </a:ext>
                </a:extLst>
              </a:tr>
              <a:tr h="530072">
                <a:tc>
                  <a:txBody>
                    <a:bodyPr/>
                    <a:lstStyle/>
                    <a:p>
                      <a:pPr>
                        <a:lnSpc>
                          <a:spcPct val="115000"/>
                        </a:lnSpc>
                        <a:spcAft>
                          <a:spcPts val="1000"/>
                        </a:spcAft>
                      </a:pPr>
                      <a:r>
                        <a:rPr lang="en-US" sz="2000">
                          <a:solidFill>
                            <a:schemeClr val="tx1"/>
                          </a:solidFill>
                          <a:effectLst/>
                        </a:rPr>
                        <a:t>Mean</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4"/>
                  </a:ext>
                </a:extLst>
              </a:tr>
              <a:tr h="941026">
                <a:tc>
                  <a:txBody>
                    <a:bodyPr/>
                    <a:lstStyle/>
                    <a:p>
                      <a:pPr>
                        <a:lnSpc>
                          <a:spcPct val="115000"/>
                        </a:lnSpc>
                        <a:spcAft>
                          <a:spcPts val="1000"/>
                        </a:spcAft>
                      </a:pPr>
                      <a:r>
                        <a:rPr lang="en-US" sz="2000">
                          <a:solidFill>
                            <a:schemeClr val="tx1"/>
                          </a:solidFill>
                          <a:effectLst/>
                        </a:rPr>
                        <a:t>Difference between variables can be evaluated</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5"/>
                  </a:ext>
                </a:extLst>
              </a:tr>
              <a:tr h="530072">
                <a:tc>
                  <a:txBody>
                    <a:bodyPr/>
                    <a:lstStyle/>
                    <a:p>
                      <a:pPr>
                        <a:lnSpc>
                          <a:spcPct val="115000"/>
                        </a:lnSpc>
                        <a:spcAft>
                          <a:spcPts val="1000"/>
                        </a:spcAft>
                      </a:pPr>
                      <a:r>
                        <a:rPr lang="en-US" sz="2000">
                          <a:solidFill>
                            <a:schemeClr val="tx1"/>
                          </a:solidFill>
                          <a:effectLst/>
                        </a:rPr>
                        <a:t>Addition and Subtraction of variables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6"/>
                  </a:ext>
                </a:extLst>
              </a:tr>
              <a:tr h="530072">
                <a:tc>
                  <a:txBody>
                    <a:bodyPr/>
                    <a:lstStyle/>
                    <a:p>
                      <a:pPr>
                        <a:lnSpc>
                          <a:spcPct val="115000"/>
                        </a:lnSpc>
                        <a:spcAft>
                          <a:spcPts val="1000"/>
                        </a:spcAft>
                      </a:pPr>
                      <a:r>
                        <a:rPr lang="en-US" sz="2000">
                          <a:solidFill>
                            <a:schemeClr val="tx1"/>
                          </a:solidFill>
                          <a:effectLst/>
                        </a:rPr>
                        <a:t>Multiplication and Division of variables</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Yes</a:t>
                      </a:r>
                      <a:endParaRPr lang="en-IN" sz="200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7"/>
                  </a:ext>
                </a:extLst>
              </a:tr>
              <a:tr h="530072">
                <a:tc>
                  <a:txBody>
                    <a:bodyPr/>
                    <a:lstStyle/>
                    <a:p>
                      <a:pPr>
                        <a:lnSpc>
                          <a:spcPct val="115000"/>
                        </a:lnSpc>
                        <a:spcAft>
                          <a:spcPts val="1000"/>
                        </a:spcAft>
                      </a:pPr>
                      <a:r>
                        <a:rPr lang="en-US" sz="2000">
                          <a:solidFill>
                            <a:schemeClr val="tx1"/>
                          </a:solidFill>
                          <a:effectLst/>
                        </a:rPr>
                        <a:t>Absolute zero</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a:solidFill>
                            <a:schemeClr val="tx1"/>
                          </a:solidFill>
                          <a:effectLst/>
                        </a:rPr>
                        <a:t>–</a:t>
                      </a:r>
                      <a:endParaRPr lang="en-IN" sz="2000">
                        <a:solidFill>
                          <a:schemeClr val="tx1"/>
                        </a:solidFill>
                        <a:effectLst/>
                        <a:latin typeface="Calibri"/>
                        <a:ea typeface="Times New Roman"/>
                        <a:cs typeface="Mangal"/>
                      </a:endParaRPr>
                    </a:p>
                  </a:txBody>
                  <a:tcPr marL="78105" marR="78105" marT="38735" marB="38735" anchor="ctr"/>
                </a:tc>
                <a:tc>
                  <a:txBody>
                    <a:bodyPr/>
                    <a:lstStyle/>
                    <a:p>
                      <a:pPr>
                        <a:lnSpc>
                          <a:spcPct val="115000"/>
                        </a:lnSpc>
                        <a:spcAft>
                          <a:spcPts val="1000"/>
                        </a:spcAft>
                      </a:pPr>
                      <a:r>
                        <a:rPr lang="en-US" sz="2000" dirty="0">
                          <a:solidFill>
                            <a:schemeClr val="tx1"/>
                          </a:solidFill>
                          <a:effectLst/>
                        </a:rPr>
                        <a:t>Yes</a:t>
                      </a:r>
                      <a:endParaRPr lang="en-IN" sz="2000" dirty="0">
                        <a:solidFill>
                          <a:schemeClr val="tx1"/>
                        </a:solidFill>
                        <a:effectLst/>
                        <a:latin typeface="Calibri"/>
                        <a:ea typeface="Times New Roman"/>
                        <a:cs typeface="Mangal"/>
                      </a:endParaRPr>
                    </a:p>
                  </a:txBody>
                  <a:tcPr marL="78105" marR="78105" marT="38735" marB="38735"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64233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solidFill>
            <a:srgbClr val="FFC000"/>
          </a:solidFill>
        </p:spPr>
        <p:txBody>
          <a:bodyPr>
            <a:normAutofit/>
          </a:bodyPr>
          <a:lstStyle/>
          <a:p>
            <a:pPr algn="ctr"/>
            <a:endParaRPr lang="en-US" sz="6000" dirty="0">
              <a:solidFill>
                <a:srgbClr val="7030A0"/>
              </a:solidFill>
            </a:endParaRPr>
          </a:p>
          <a:p>
            <a:pPr algn="ctr"/>
            <a:r>
              <a:rPr lang="en-US" sz="6000" dirty="0">
                <a:solidFill>
                  <a:srgbClr val="7030A0"/>
                </a:solidFill>
              </a:rPr>
              <a:t>Thank you</a:t>
            </a:r>
            <a:endParaRPr lang="en-IN" sz="6000" dirty="0">
              <a:solidFill>
                <a:srgbClr val="7030A0"/>
              </a:solidFill>
            </a:endParaRPr>
          </a:p>
        </p:txBody>
      </p:sp>
    </p:spTree>
    <p:extLst>
      <p:ext uri="{BB962C8B-B14F-4D97-AF65-F5344CB8AC3E}">
        <p14:creationId xmlns:p14="http://schemas.microsoft.com/office/powerpoint/2010/main" val="383668142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1154</TotalTime>
  <Words>4847</Words>
  <Application>Microsoft Office PowerPoint</Application>
  <PresentationFormat>On-screen Show (4:3)</PresentationFormat>
  <Paragraphs>330</Paragraphs>
  <Slides>56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Franklin Gothic Book</vt:lpstr>
      <vt:lpstr>Franklin Gothic Medium</vt:lpstr>
      <vt:lpstr>Wingdings</vt:lpstr>
      <vt:lpstr>Angles</vt:lpstr>
      <vt:lpstr>Methods of Educational Research and scales of Measurement</vt:lpstr>
      <vt:lpstr>PowerPoint Presentation</vt:lpstr>
      <vt:lpstr>Categorisation of researches: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Scales of measurement:</vt:lpstr>
      <vt:lpstr>PowerPoint Presentation</vt:lpstr>
      <vt:lpstr> Nominal Scale </vt:lpstr>
      <vt:lpstr> Characteristics of Nominal Scale </vt:lpstr>
      <vt:lpstr> Examples of Nominal scale: </vt:lpstr>
      <vt:lpstr>PowerPoint Presentation</vt:lpstr>
      <vt:lpstr>PowerPoint Presentation</vt:lpstr>
      <vt:lpstr>PowerPoint Presentation</vt:lpstr>
      <vt:lpstr>PowerPoint Presentation</vt:lpstr>
      <vt:lpstr>Ordinal Scale:</vt:lpstr>
      <vt:lpstr> Characteristics of the Ordinal Scale </vt:lpstr>
      <vt:lpstr> Examples of ordinal scale: </vt:lpstr>
      <vt:lpstr>PowerPoint Presentation</vt:lpstr>
      <vt:lpstr>PowerPoint Presentation</vt:lpstr>
      <vt:lpstr>PowerPoint Presentation</vt:lpstr>
      <vt:lpstr> Ordinal Data and Analysis   </vt:lpstr>
      <vt:lpstr> Interval Scale: </vt:lpstr>
      <vt:lpstr> Characteristics of Interval Scale: </vt:lpstr>
      <vt:lpstr> Examples of Interval Scale: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Ratio Scale: </vt:lpstr>
      <vt:lpstr> Characteristics of Ratio Scale: </vt:lpstr>
      <vt:lpstr> Examples of ratio scale: </vt:lpstr>
      <vt:lpstr>PowerPoint Presentation</vt:lpstr>
      <vt:lpstr>PowerPoint Presentation</vt:lpstr>
      <vt:lpstr>PowerPoint Presentation</vt:lpstr>
      <vt:lpstr>PowerPoint Presentation</vt:lpstr>
      <vt:lpstr>PowerPoint Presentation</vt:lpstr>
      <vt:lpstr>PowerPoint Presentation</vt:lpstr>
      <vt:lpstr> Summary –  Levels of Measurement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SONIA</dc:creator>
  <cp:lastModifiedBy>Sonia Rohilla</cp:lastModifiedBy>
  <cp:revision>368</cp:revision>
  <dcterms:created xsi:type="dcterms:W3CDTF">2006-08-16T00:00:00Z</dcterms:created>
  <dcterms:modified xsi:type="dcterms:W3CDTF">2026-06-20T08:01:36Z</dcterms:modified>
</cp:coreProperties>
</file>