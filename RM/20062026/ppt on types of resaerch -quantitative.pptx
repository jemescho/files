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8"/>
  </p:notesMasterIdLst>
  <p:sldIdLst>
    <p:sldId id="256" r:id="rId2"/>
    <p:sldId id="261" r:id="rId3"/>
    <p:sldId id="259" r:id="rId4"/>
    <p:sldId id="260" r:id="rId5"/>
    <p:sldId id="274" r:id="rId6"/>
    <p:sldId id="273" r:id="rId7"/>
    <p:sldId id="279" r:id="rId8"/>
    <p:sldId id="280" r:id="rId9"/>
    <p:sldId id="262" r:id="rId10"/>
    <p:sldId id="263" r:id="rId11"/>
    <p:sldId id="264" r:id="rId12"/>
    <p:sldId id="265" r:id="rId13"/>
    <p:sldId id="275" r:id="rId14"/>
    <p:sldId id="276" r:id="rId15"/>
    <p:sldId id="266" r:id="rId16"/>
    <p:sldId id="267" r:id="rId17"/>
    <p:sldId id="269" r:id="rId18"/>
    <p:sldId id="270" r:id="rId19"/>
    <p:sldId id="277" r:id="rId20"/>
    <p:sldId id="271" r:id="rId21"/>
    <p:sldId id="268" r:id="rId22"/>
    <p:sldId id="272" r:id="rId23"/>
    <p:sldId id="278" r:id="rId24"/>
    <p:sldId id="258" r:id="rId25"/>
    <p:sldId id="257"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BBAEE-589F-4BB9-AA7E-6804BF5D3595}" type="datetimeFigureOut">
              <a:rPr lang="en-IN" smtClean="0"/>
              <a:t>19-06-2026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521A93-9CF9-4DAD-AE05-0923AA04D369}" type="slidenum">
              <a:rPr lang="en-IN" smtClean="0"/>
              <a:t>‹#›</a:t>
            </a:fld>
            <a:endParaRPr lang="en-IN"/>
          </a:p>
        </p:txBody>
      </p:sp>
    </p:spTree>
    <p:extLst>
      <p:ext uri="{BB962C8B-B14F-4D97-AF65-F5344CB8AC3E}">
        <p14:creationId xmlns:p14="http://schemas.microsoft.com/office/powerpoint/2010/main" val="460624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5521A93-9CF9-4DAD-AE05-0923AA04D369}" type="slidenum">
              <a:rPr lang="en-IN" smtClean="0"/>
              <a:t>22</a:t>
            </a:fld>
            <a:endParaRPr lang="en-IN"/>
          </a:p>
        </p:txBody>
      </p:sp>
    </p:spTree>
    <p:extLst>
      <p:ext uri="{BB962C8B-B14F-4D97-AF65-F5344CB8AC3E}">
        <p14:creationId xmlns:p14="http://schemas.microsoft.com/office/powerpoint/2010/main" val="1608445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BBA5AA-F295-449C-8D21-78F5155C406C}" type="datetimeFigureOut">
              <a:rPr lang="en-IN" smtClean="0"/>
              <a:t>19-06-2026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3F51C31D-4167-486F-9B81-86D894C68C7A}" type="slidenum">
              <a:rPr lang="en-IN" smtClean="0"/>
              <a:t>‹#›</a:t>
            </a:fld>
            <a:endParaRPr lang="en-IN"/>
          </a:p>
        </p:txBody>
      </p:sp>
    </p:spTree>
    <p:extLst>
      <p:ext uri="{BB962C8B-B14F-4D97-AF65-F5344CB8AC3E}">
        <p14:creationId xmlns:p14="http://schemas.microsoft.com/office/powerpoint/2010/main" val="3922253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BBA5AA-F295-449C-8D21-78F5155C406C}"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3F51C31D-4167-486F-9B81-86D894C68C7A}" type="slidenum">
              <a:rPr lang="en-IN" smtClean="0"/>
              <a:t>‹#›</a:t>
            </a:fld>
            <a:endParaRPr lang="en-IN"/>
          </a:p>
        </p:txBody>
      </p:sp>
    </p:spTree>
    <p:extLst>
      <p:ext uri="{BB962C8B-B14F-4D97-AF65-F5344CB8AC3E}">
        <p14:creationId xmlns:p14="http://schemas.microsoft.com/office/powerpoint/2010/main" val="362125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BBA5AA-F295-449C-8D21-78F5155C406C}"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F51C31D-4167-486F-9B81-86D894C68C7A}" type="slidenum">
              <a:rPr lang="en-IN" smtClean="0"/>
              <a:t>‹#›</a:t>
            </a:fld>
            <a:endParaRPr lang="en-IN"/>
          </a:p>
        </p:txBody>
      </p:sp>
    </p:spTree>
    <p:extLst>
      <p:ext uri="{BB962C8B-B14F-4D97-AF65-F5344CB8AC3E}">
        <p14:creationId xmlns:p14="http://schemas.microsoft.com/office/powerpoint/2010/main" val="1290642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BBA5AA-F295-449C-8D21-78F5155C406C}"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F51C31D-4167-486F-9B81-86D894C68C7A}" type="slidenum">
              <a:rPr lang="en-IN" smtClean="0"/>
              <a:t>‹#›</a:t>
            </a:fld>
            <a:endParaRPr lang="en-IN"/>
          </a:p>
        </p:txBody>
      </p:sp>
    </p:spTree>
    <p:extLst>
      <p:ext uri="{BB962C8B-B14F-4D97-AF65-F5344CB8AC3E}">
        <p14:creationId xmlns:p14="http://schemas.microsoft.com/office/powerpoint/2010/main" val="1833101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BBA5AA-F295-449C-8D21-78F5155C406C}" type="datetimeFigureOut">
              <a:rPr lang="en-IN" smtClean="0"/>
              <a:t>19-06-2026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F51C31D-4167-486F-9B81-86D894C68C7A}" type="slidenum">
              <a:rPr lang="en-IN" smtClean="0"/>
              <a:t>‹#›</a:t>
            </a:fld>
            <a:endParaRPr lang="en-IN"/>
          </a:p>
        </p:txBody>
      </p:sp>
    </p:spTree>
    <p:extLst>
      <p:ext uri="{BB962C8B-B14F-4D97-AF65-F5344CB8AC3E}">
        <p14:creationId xmlns:p14="http://schemas.microsoft.com/office/powerpoint/2010/main" val="286233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BBA5AA-F295-449C-8D21-78F5155C406C}" type="datetimeFigureOut">
              <a:rPr lang="en-IN" smtClean="0"/>
              <a:t>19-06-2026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F51C31D-4167-486F-9B81-86D894C68C7A}" type="slidenum">
              <a:rPr lang="en-IN" smtClean="0"/>
              <a:t>‹#›</a:t>
            </a:fld>
            <a:endParaRPr lang="en-IN"/>
          </a:p>
        </p:txBody>
      </p:sp>
    </p:spTree>
    <p:extLst>
      <p:ext uri="{BB962C8B-B14F-4D97-AF65-F5344CB8AC3E}">
        <p14:creationId xmlns:p14="http://schemas.microsoft.com/office/powerpoint/2010/main" val="1428919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BBA5AA-F295-449C-8D21-78F5155C406C}" type="datetimeFigureOut">
              <a:rPr lang="en-IN" smtClean="0"/>
              <a:t>19-06-2026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F51C31D-4167-486F-9B81-86D894C68C7A}" type="slidenum">
              <a:rPr lang="en-IN" smtClean="0"/>
              <a:t>‹#›</a:t>
            </a:fld>
            <a:endParaRPr lang="en-IN"/>
          </a:p>
        </p:txBody>
      </p:sp>
    </p:spTree>
    <p:extLst>
      <p:ext uri="{BB962C8B-B14F-4D97-AF65-F5344CB8AC3E}">
        <p14:creationId xmlns:p14="http://schemas.microsoft.com/office/powerpoint/2010/main" val="2926249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BBA5AA-F295-449C-8D21-78F5155C406C}"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F51C31D-4167-486F-9B81-86D894C68C7A}" type="slidenum">
              <a:rPr lang="en-IN" smtClean="0"/>
              <a:t>‹#›</a:t>
            </a:fld>
            <a:endParaRPr lang="en-IN"/>
          </a:p>
        </p:txBody>
      </p:sp>
    </p:spTree>
    <p:extLst>
      <p:ext uri="{BB962C8B-B14F-4D97-AF65-F5344CB8AC3E}">
        <p14:creationId xmlns:p14="http://schemas.microsoft.com/office/powerpoint/2010/main" val="3416597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BBA5AA-F295-449C-8D21-78F5155C406C}"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F51C31D-4167-486F-9B81-86D894C68C7A}" type="slidenum">
              <a:rPr lang="en-IN" smtClean="0"/>
              <a:t>‹#›</a:t>
            </a:fld>
            <a:endParaRPr lang="en-IN"/>
          </a:p>
        </p:txBody>
      </p:sp>
    </p:spTree>
    <p:extLst>
      <p:ext uri="{BB962C8B-B14F-4D97-AF65-F5344CB8AC3E}">
        <p14:creationId xmlns:p14="http://schemas.microsoft.com/office/powerpoint/2010/main" val="3081653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BBA5AA-F295-449C-8D21-78F5155C406C}"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F51C31D-4167-486F-9B81-86D894C68C7A}" type="slidenum">
              <a:rPr lang="en-IN" smtClean="0"/>
              <a:t>‹#›</a:t>
            </a:fld>
            <a:endParaRPr lang="en-IN"/>
          </a:p>
        </p:txBody>
      </p:sp>
    </p:spTree>
    <p:extLst>
      <p:ext uri="{BB962C8B-B14F-4D97-AF65-F5344CB8AC3E}">
        <p14:creationId xmlns:p14="http://schemas.microsoft.com/office/powerpoint/2010/main" val="1746375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BBA5AA-F295-449C-8D21-78F5155C406C}"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F51C31D-4167-486F-9B81-86D894C68C7A}" type="slidenum">
              <a:rPr lang="en-IN" smtClean="0"/>
              <a:t>‹#›</a:t>
            </a:fld>
            <a:endParaRPr lang="en-IN"/>
          </a:p>
        </p:txBody>
      </p:sp>
    </p:spTree>
    <p:extLst>
      <p:ext uri="{BB962C8B-B14F-4D97-AF65-F5344CB8AC3E}">
        <p14:creationId xmlns:p14="http://schemas.microsoft.com/office/powerpoint/2010/main" val="38317033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BBA5AA-F295-449C-8D21-78F5155C406C}"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F51C31D-4167-486F-9B81-86D894C68C7A}" type="slidenum">
              <a:rPr lang="en-IN" smtClean="0"/>
              <a:t>‹#›</a:t>
            </a:fld>
            <a:endParaRPr lang="en-IN"/>
          </a:p>
        </p:txBody>
      </p:sp>
    </p:spTree>
    <p:extLst>
      <p:ext uri="{BB962C8B-B14F-4D97-AF65-F5344CB8AC3E}">
        <p14:creationId xmlns:p14="http://schemas.microsoft.com/office/powerpoint/2010/main" val="3562093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BBA5AA-F295-449C-8D21-78F5155C406C}"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F51C31D-4167-486F-9B81-86D894C68C7A}" type="slidenum">
              <a:rPr lang="en-IN" smtClean="0"/>
              <a:t>‹#›</a:t>
            </a:fld>
            <a:endParaRPr lang="en-IN"/>
          </a:p>
        </p:txBody>
      </p:sp>
    </p:spTree>
    <p:extLst>
      <p:ext uri="{BB962C8B-B14F-4D97-AF65-F5344CB8AC3E}">
        <p14:creationId xmlns:p14="http://schemas.microsoft.com/office/powerpoint/2010/main" val="3464770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BBA5AA-F295-449C-8D21-78F5155C406C}"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F51C31D-4167-486F-9B81-86D894C68C7A}" type="slidenum">
              <a:rPr lang="en-IN" smtClean="0"/>
              <a:t>‹#›</a:t>
            </a:fld>
            <a:endParaRPr lang="en-IN"/>
          </a:p>
        </p:txBody>
      </p:sp>
    </p:spTree>
    <p:extLst>
      <p:ext uri="{BB962C8B-B14F-4D97-AF65-F5344CB8AC3E}">
        <p14:creationId xmlns:p14="http://schemas.microsoft.com/office/powerpoint/2010/main" val="14927635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BBA5AA-F295-449C-8D21-78F5155C406C}"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F51C31D-4167-486F-9B81-86D894C68C7A}" type="slidenum">
              <a:rPr lang="en-IN" smtClean="0"/>
              <a:t>‹#›</a:t>
            </a:fld>
            <a:endParaRPr lang="en-IN"/>
          </a:p>
        </p:txBody>
      </p:sp>
    </p:spTree>
    <p:extLst>
      <p:ext uri="{BB962C8B-B14F-4D97-AF65-F5344CB8AC3E}">
        <p14:creationId xmlns:p14="http://schemas.microsoft.com/office/powerpoint/2010/main" val="15016636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BBA5AA-F295-449C-8D21-78F5155C406C}"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F51C31D-4167-486F-9B81-86D894C68C7A}" type="slidenum">
              <a:rPr lang="en-IN" smtClean="0"/>
              <a:t>‹#›</a:t>
            </a:fld>
            <a:endParaRPr lang="en-IN"/>
          </a:p>
        </p:txBody>
      </p:sp>
    </p:spTree>
    <p:extLst>
      <p:ext uri="{BB962C8B-B14F-4D97-AF65-F5344CB8AC3E}">
        <p14:creationId xmlns:p14="http://schemas.microsoft.com/office/powerpoint/2010/main" val="3320807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BBA5AA-F295-449C-8D21-78F5155C406C}"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F51C31D-4167-486F-9B81-86D894C68C7A}" type="slidenum">
              <a:rPr lang="en-IN" smtClean="0"/>
              <a:t>‹#›</a:t>
            </a:fld>
            <a:endParaRPr lang="en-IN"/>
          </a:p>
        </p:txBody>
      </p:sp>
    </p:spTree>
    <p:extLst>
      <p:ext uri="{BB962C8B-B14F-4D97-AF65-F5344CB8AC3E}">
        <p14:creationId xmlns:p14="http://schemas.microsoft.com/office/powerpoint/2010/main" val="1811251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BBA5AA-F295-449C-8D21-78F5155C406C}" type="datetimeFigureOut">
              <a:rPr lang="en-IN" smtClean="0"/>
              <a:t>19-06-2026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F51C31D-4167-486F-9B81-86D894C68C7A}" type="slidenum">
              <a:rPr lang="en-IN" smtClean="0"/>
              <a:t>‹#›</a:t>
            </a:fld>
            <a:endParaRPr lang="en-IN"/>
          </a:p>
        </p:txBody>
      </p:sp>
    </p:spTree>
    <p:extLst>
      <p:ext uri="{BB962C8B-B14F-4D97-AF65-F5344CB8AC3E}">
        <p14:creationId xmlns:p14="http://schemas.microsoft.com/office/powerpoint/2010/main" val="281118226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scribbr.com/methodology/qualitative-research/" TargetMode="External"/><Relationship Id="rId2" Type="http://schemas.openxmlformats.org/officeDocument/2006/relationships/hyperlink" Target="https://www.scribbr.com/research-bias/generalizability/"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scribbr.com/commonly-confused-words/affect-vs-effec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surveymonkey.com/templates/customer-satisfaction-survey-template/" TargetMode="External"/><Relationship Id="rId2" Type="http://schemas.openxmlformats.org/officeDocument/2006/relationships/hyperlink" Target="https://www.surveymonkey.com/mp/gathering-demographic-information-from-survey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surveymonkey.com/mp/what-is-secondary-research/"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65740-9C06-2451-5E60-19D3CF9CA87C}"/>
              </a:ext>
            </a:extLst>
          </p:cNvPr>
          <p:cNvSpPr>
            <a:spLocks noGrp="1"/>
          </p:cNvSpPr>
          <p:nvPr>
            <p:ph type="ctrTitle"/>
          </p:nvPr>
        </p:nvSpPr>
        <p:spPr>
          <a:xfrm>
            <a:off x="1510748" y="1380068"/>
            <a:ext cx="9992275" cy="2616199"/>
          </a:xfrm>
        </p:spPr>
        <p:txBody>
          <a:bodyPr>
            <a:normAutofit fontScale="90000"/>
          </a:bodyPr>
          <a:lstStyle/>
          <a:p>
            <a:pPr algn="ctr"/>
            <a:r>
              <a:rPr lang="en-US" sz="6700" b="1" dirty="0">
                <a:solidFill>
                  <a:srgbClr val="FF0000"/>
                </a:solidFill>
              </a:rPr>
              <a:t>Types of Research – Quantitative </a:t>
            </a:r>
            <a:br>
              <a:rPr lang="en-US" dirty="0"/>
            </a:br>
            <a:endParaRPr lang="en-IN" b="1" dirty="0"/>
          </a:p>
        </p:txBody>
      </p:sp>
      <p:sp>
        <p:nvSpPr>
          <p:cNvPr id="3" name="Subtitle 2">
            <a:extLst>
              <a:ext uri="{FF2B5EF4-FFF2-40B4-BE49-F238E27FC236}">
                <a16:creationId xmlns:a16="http://schemas.microsoft.com/office/drawing/2014/main" id="{AADE9AAE-5143-1D99-C87F-55FD7E850607}"/>
              </a:ext>
            </a:extLst>
          </p:cNvPr>
          <p:cNvSpPr>
            <a:spLocks noGrp="1"/>
          </p:cNvSpPr>
          <p:nvPr>
            <p:ph type="subTitle" idx="1"/>
          </p:nvPr>
        </p:nvSpPr>
        <p:spPr>
          <a:xfrm>
            <a:off x="3906077" y="3588026"/>
            <a:ext cx="6033053" cy="2693504"/>
          </a:xfrm>
        </p:spPr>
        <p:txBody>
          <a:bodyPr>
            <a:normAutofit fontScale="85000" lnSpcReduction="20000"/>
          </a:bodyPr>
          <a:lstStyle/>
          <a:p>
            <a:pPr algn="ctr"/>
            <a:r>
              <a:rPr lang="en-US" sz="2400" b="1" dirty="0" err="1">
                <a:solidFill>
                  <a:schemeClr val="accent1"/>
                </a:solidFill>
              </a:rPr>
              <a:t>Ph.D</a:t>
            </a:r>
            <a:r>
              <a:rPr lang="en-US" sz="2400" b="1" dirty="0">
                <a:solidFill>
                  <a:schemeClr val="accent1"/>
                </a:solidFill>
              </a:rPr>
              <a:t> Course work on </a:t>
            </a:r>
          </a:p>
          <a:p>
            <a:pPr algn="ctr"/>
            <a:r>
              <a:rPr lang="en-US" sz="2400" b="1" dirty="0">
                <a:solidFill>
                  <a:schemeClr val="accent1"/>
                </a:solidFill>
              </a:rPr>
              <a:t>Fundamentals of Research Methodology</a:t>
            </a:r>
          </a:p>
          <a:p>
            <a:pPr algn="ctr"/>
            <a:endParaRPr lang="en-US" b="1">
              <a:solidFill>
                <a:srgbClr val="C00000"/>
              </a:solidFill>
            </a:endParaRPr>
          </a:p>
          <a:p>
            <a:pPr algn="ctr"/>
            <a:r>
              <a:rPr lang="en-US" b="1">
                <a:solidFill>
                  <a:srgbClr val="C00000"/>
                </a:solidFill>
              </a:rPr>
              <a:t>Dr</a:t>
            </a:r>
            <a:r>
              <a:rPr lang="en-US" b="1" dirty="0">
                <a:solidFill>
                  <a:srgbClr val="C00000"/>
                </a:solidFill>
              </a:rPr>
              <a:t>. Pratiksha Modi </a:t>
            </a:r>
          </a:p>
          <a:p>
            <a:pPr algn="ctr"/>
            <a:r>
              <a:rPr lang="en-US" sz="2400" b="1" dirty="0">
                <a:solidFill>
                  <a:srgbClr val="C00000"/>
                </a:solidFill>
              </a:rPr>
              <a:t>Assistant Professor </a:t>
            </a:r>
          </a:p>
          <a:p>
            <a:pPr algn="ctr"/>
            <a:r>
              <a:rPr lang="en-US" b="1" dirty="0">
                <a:solidFill>
                  <a:srgbClr val="C00000"/>
                </a:solidFill>
              </a:rPr>
              <a:t>Faculty of Education and Psychology </a:t>
            </a:r>
          </a:p>
          <a:p>
            <a:pPr algn="ctr"/>
            <a:r>
              <a:rPr lang="en-US" sz="2400" b="1" dirty="0">
                <a:solidFill>
                  <a:srgbClr val="C00000"/>
                </a:solidFill>
              </a:rPr>
              <a:t>The M.S. University of Baroda </a:t>
            </a:r>
          </a:p>
          <a:p>
            <a:pPr algn="ctr"/>
            <a:endParaRPr lang="en-IN" dirty="0"/>
          </a:p>
        </p:txBody>
      </p:sp>
    </p:spTree>
    <p:extLst>
      <p:ext uri="{BB962C8B-B14F-4D97-AF65-F5344CB8AC3E}">
        <p14:creationId xmlns:p14="http://schemas.microsoft.com/office/powerpoint/2010/main" val="83360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 is Quantitative Research">
            <a:extLst>
              <a:ext uri="{FF2B5EF4-FFF2-40B4-BE49-F238E27FC236}">
                <a16:creationId xmlns:a16="http://schemas.microsoft.com/office/drawing/2014/main" id="{CE246F73-F093-CBE5-6AC7-EB346590F40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89653" y="0"/>
            <a:ext cx="10386390" cy="6470374"/>
          </a:xfrm>
          <a:prstGeom prst="rect">
            <a:avLst/>
          </a:prstGeom>
          <a:noFill/>
          <a:ln>
            <a:noFill/>
          </a:ln>
        </p:spPr>
      </p:pic>
    </p:spTree>
    <p:extLst>
      <p:ext uri="{BB962C8B-B14F-4D97-AF65-F5344CB8AC3E}">
        <p14:creationId xmlns:p14="http://schemas.microsoft.com/office/powerpoint/2010/main" val="394199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FC300-3B12-6098-7AF3-8F7D4FD7D478}"/>
              </a:ext>
            </a:extLst>
          </p:cNvPr>
          <p:cNvSpPr>
            <a:spLocks noGrp="1"/>
          </p:cNvSpPr>
          <p:nvPr>
            <p:ph type="title"/>
          </p:nvPr>
        </p:nvSpPr>
        <p:spPr>
          <a:xfrm>
            <a:off x="1484311" y="685801"/>
            <a:ext cx="10018713" cy="1093304"/>
          </a:xfrm>
        </p:spPr>
        <p:txBody>
          <a:bodyPr/>
          <a:lstStyle/>
          <a:p>
            <a:r>
              <a:rPr lang="en-US" b="1" dirty="0"/>
              <a:t>Meaning </a:t>
            </a:r>
            <a:endParaRPr lang="en-IN" b="1" dirty="0"/>
          </a:p>
        </p:txBody>
      </p:sp>
      <p:sp>
        <p:nvSpPr>
          <p:cNvPr id="3" name="Content Placeholder 2">
            <a:extLst>
              <a:ext uri="{FF2B5EF4-FFF2-40B4-BE49-F238E27FC236}">
                <a16:creationId xmlns:a16="http://schemas.microsoft.com/office/drawing/2014/main" id="{875657F1-E483-C893-6EE5-4767EDFDE74B}"/>
              </a:ext>
            </a:extLst>
          </p:cNvPr>
          <p:cNvSpPr>
            <a:spLocks noGrp="1"/>
          </p:cNvSpPr>
          <p:nvPr>
            <p:ph idx="1"/>
          </p:nvPr>
        </p:nvSpPr>
        <p:spPr>
          <a:xfrm>
            <a:off x="1484310" y="1649897"/>
            <a:ext cx="10018713" cy="5426764"/>
          </a:xfrm>
        </p:spPr>
        <p:txBody>
          <a:bodyPr/>
          <a:lstStyle/>
          <a:p>
            <a:pPr>
              <a:lnSpc>
                <a:spcPct val="107000"/>
              </a:lnSpc>
              <a:spcAft>
                <a:spcPts val="800"/>
              </a:spcAft>
            </a:pPr>
            <a:r>
              <a:rPr lang="en-IN" b="1" kern="0" dirty="0">
                <a:solidFill>
                  <a:srgbClr val="0D405F"/>
                </a:solidFill>
                <a:effectLst/>
                <a:latin typeface="Arial" panose="020B0604020202020204" pitchFamily="34" charset="0"/>
                <a:ea typeface="Times New Roman" panose="02020603050405020304" pitchFamily="18" charset="0"/>
                <a:cs typeface="Times New Roman" panose="02020603050405020304" pitchFamily="18" charset="0"/>
              </a:rPr>
              <a:t>Quantitative research</a:t>
            </a:r>
            <a:r>
              <a:rPr lang="en-IN" kern="0" dirty="0">
                <a:solidFill>
                  <a:srgbClr val="0D405F"/>
                </a:solidFill>
                <a:effectLst/>
                <a:latin typeface="Arial" panose="020B0604020202020204" pitchFamily="34" charset="0"/>
                <a:ea typeface="Times New Roman" panose="02020603050405020304" pitchFamily="18" charset="0"/>
                <a:cs typeface="Times New Roman" panose="02020603050405020304" pitchFamily="18" charset="0"/>
              </a:rPr>
              <a:t> is the process of collecting and </a:t>
            </a:r>
            <a:r>
              <a:rPr lang="en-IN" kern="0" dirty="0" err="1">
                <a:solidFill>
                  <a:srgbClr val="0D405F"/>
                </a:solidFill>
                <a:effectLst/>
                <a:latin typeface="Arial" panose="020B0604020202020204" pitchFamily="34" charset="0"/>
                <a:ea typeface="Times New Roman" panose="02020603050405020304" pitchFamily="18" charset="0"/>
                <a:cs typeface="Times New Roman" panose="02020603050405020304" pitchFamily="18" charset="0"/>
              </a:rPr>
              <a:t>analyzing</a:t>
            </a:r>
            <a:r>
              <a:rPr lang="en-IN" kern="0" dirty="0">
                <a:solidFill>
                  <a:srgbClr val="0D405F"/>
                </a:solidFill>
                <a:effectLst/>
                <a:latin typeface="Arial" panose="020B0604020202020204" pitchFamily="34" charset="0"/>
                <a:ea typeface="Times New Roman" panose="02020603050405020304" pitchFamily="18" charset="0"/>
                <a:cs typeface="Times New Roman" panose="02020603050405020304" pitchFamily="18" charset="0"/>
              </a:rPr>
              <a:t> numerical data. It can be used to find patterns and averages, make predictions, test causal relationships, and </a:t>
            </a:r>
            <a:r>
              <a:rPr lang="en-IN" u="none" strike="noStrike" kern="0" dirty="0">
                <a:solidFill>
                  <a:srgbClr val="1F80E8"/>
                </a:solidFill>
                <a:effectLst/>
                <a:latin typeface="Arial" panose="020B0604020202020204" pitchFamily="34" charset="0"/>
                <a:ea typeface="Times New Roman" panose="02020603050405020304" pitchFamily="18" charset="0"/>
                <a:cs typeface="Times New Roman" panose="02020603050405020304" pitchFamily="18" charset="0"/>
                <a:hlinkClick r:id="rId2"/>
              </a:rPr>
              <a:t>generalize</a:t>
            </a:r>
            <a:r>
              <a:rPr lang="en-IN" kern="0" dirty="0">
                <a:solidFill>
                  <a:srgbClr val="0D405F"/>
                </a:solidFill>
                <a:effectLst/>
                <a:latin typeface="Arial" panose="020B0604020202020204" pitchFamily="34" charset="0"/>
                <a:ea typeface="Times New Roman" panose="02020603050405020304" pitchFamily="18" charset="0"/>
                <a:cs typeface="Times New Roman" panose="02020603050405020304" pitchFamily="18" charset="0"/>
              </a:rPr>
              <a:t> results to wider populations.</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kern="0" dirty="0">
                <a:solidFill>
                  <a:srgbClr val="0D405F"/>
                </a:solidFill>
                <a:effectLst/>
                <a:latin typeface="Arial" panose="020B0604020202020204" pitchFamily="34" charset="0"/>
                <a:ea typeface="Times New Roman" panose="02020603050405020304" pitchFamily="18" charset="0"/>
                <a:cs typeface="Times New Roman" panose="02020603050405020304" pitchFamily="18" charset="0"/>
              </a:rPr>
              <a:t>Quantitative research is the opposite of </a:t>
            </a:r>
            <a:r>
              <a:rPr lang="en-IN" u="none" strike="noStrike" kern="0" dirty="0">
                <a:solidFill>
                  <a:srgbClr val="1F80E8"/>
                </a:solidFill>
                <a:effectLst/>
                <a:latin typeface="Arial" panose="020B0604020202020204" pitchFamily="34" charset="0"/>
                <a:ea typeface="Times New Roman" panose="02020603050405020304" pitchFamily="18" charset="0"/>
                <a:cs typeface="Times New Roman" panose="02020603050405020304" pitchFamily="18" charset="0"/>
                <a:hlinkClick r:id="rId3"/>
              </a:rPr>
              <a:t>qualitative research</a:t>
            </a:r>
            <a:r>
              <a:rPr lang="en-IN" kern="0" dirty="0">
                <a:solidFill>
                  <a:srgbClr val="0D405F"/>
                </a:solidFill>
                <a:effectLst/>
                <a:latin typeface="Arial" panose="020B0604020202020204" pitchFamily="34" charset="0"/>
                <a:ea typeface="Times New Roman" panose="02020603050405020304" pitchFamily="18" charset="0"/>
                <a:cs typeface="Times New Roman" panose="02020603050405020304" pitchFamily="18" charset="0"/>
              </a:rPr>
              <a:t>, which involves collecting and </a:t>
            </a:r>
            <a:r>
              <a:rPr lang="en-IN" kern="0" dirty="0" err="1">
                <a:solidFill>
                  <a:srgbClr val="0D405F"/>
                </a:solidFill>
                <a:effectLst/>
                <a:latin typeface="Arial" panose="020B0604020202020204" pitchFamily="34" charset="0"/>
                <a:ea typeface="Times New Roman" panose="02020603050405020304" pitchFamily="18" charset="0"/>
                <a:cs typeface="Times New Roman" panose="02020603050405020304" pitchFamily="18" charset="0"/>
              </a:rPr>
              <a:t>analyzing</a:t>
            </a:r>
            <a:r>
              <a:rPr lang="en-IN" kern="0" dirty="0">
                <a:solidFill>
                  <a:srgbClr val="0D405F"/>
                </a:solidFill>
                <a:effectLst/>
                <a:latin typeface="Arial" panose="020B0604020202020204" pitchFamily="34" charset="0"/>
                <a:ea typeface="Times New Roman" panose="02020603050405020304" pitchFamily="18" charset="0"/>
                <a:cs typeface="Times New Roman" panose="02020603050405020304" pitchFamily="18" charset="0"/>
              </a:rPr>
              <a:t> non-numerical data (e.g., text, video, or audio).</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kern="0" dirty="0">
                <a:solidFill>
                  <a:srgbClr val="0D405F"/>
                </a:solidFill>
                <a:effectLst/>
                <a:latin typeface="Arial" panose="020B0604020202020204" pitchFamily="34" charset="0"/>
                <a:ea typeface="Times New Roman" panose="02020603050405020304" pitchFamily="18" charset="0"/>
                <a:cs typeface="Times New Roman" panose="02020603050405020304" pitchFamily="18" charset="0"/>
              </a:rPr>
              <a:t>Quantitative research is widely used in the natural and social sciences: biology, chemistry, psychology, economics, sociology, marketing, etc.</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049965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C7938-5C25-8FC6-0F8F-F6127A2ABACC}"/>
              </a:ext>
            </a:extLst>
          </p:cNvPr>
          <p:cNvSpPr>
            <a:spLocks noGrp="1"/>
          </p:cNvSpPr>
          <p:nvPr>
            <p:ph type="title"/>
          </p:nvPr>
        </p:nvSpPr>
        <p:spPr>
          <a:xfrm>
            <a:off x="1484311" y="685800"/>
            <a:ext cx="10018713" cy="1311965"/>
          </a:xfrm>
        </p:spPr>
        <p:txBody>
          <a:bodyPr/>
          <a:lstStyle/>
          <a:p>
            <a:r>
              <a:rPr lang="en-US" b="1" dirty="0"/>
              <a:t>Examples </a:t>
            </a:r>
            <a:endParaRPr lang="en-IN" b="1" dirty="0"/>
          </a:p>
        </p:txBody>
      </p:sp>
      <p:sp>
        <p:nvSpPr>
          <p:cNvPr id="3" name="Content Placeholder 2">
            <a:extLst>
              <a:ext uri="{FF2B5EF4-FFF2-40B4-BE49-F238E27FC236}">
                <a16:creationId xmlns:a16="http://schemas.microsoft.com/office/drawing/2014/main" id="{BDC21438-8C49-F966-5F9F-D62430BD43ED}"/>
              </a:ext>
            </a:extLst>
          </p:cNvPr>
          <p:cNvSpPr>
            <a:spLocks noGrp="1"/>
          </p:cNvSpPr>
          <p:nvPr>
            <p:ph idx="1"/>
          </p:nvPr>
        </p:nvSpPr>
        <p:spPr>
          <a:xfrm>
            <a:off x="1484310" y="2613991"/>
            <a:ext cx="10018713" cy="3110948"/>
          </a:xfrm>
        </p:spPr>
        <p:txBody>
          <a:bodyPr>
            <a:normAutofit fontScale="85000" lnSpcReduction="10000"/>
          </a:bodyPr>
          <a:lstStyle/>
          <a:p>
            <a:pPr>
              <a:lnSpc>
                <a:spcPct val="107000"/>
              </a:lnSpc>
              <a:spcAft>
                <a:spcPts val="800"/>
              </a:spcAft>
            </a:pPr>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Quantitative research question examples</a:t>
            </a:r>
            <a:endParaRPr lang="en-IN" sz="28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What is the demographic makeup of Singapore in 2020?</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How has the average temperature changed globally over the last century?</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Does environmental pollution </a:t>
            </a:r>
            <a:r>
              <a:rPr lang="en-IN" sz="2800" u="none" strike="noStrike" kern="0" dirty="0">
                <a:solidFill>
                  <a:srgbClr val="1F80E8"/>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affect</a:t>
            </a: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 the prevalence of honey bees?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t>Does working from home increase productivity for people with long commutes?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00906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354AE-B9B6-2FD4-5E92-E819EDFFD82E}"/>
              </a:ext>
            </a:extLst>
          </p:cNvPr>
          <p:cNvSpPr>
            <a:spLocks noGrp="1"/>
          </p:cNvSpPr>
          <p:nvPr>
            <p:ph type="title"/>
          </p:nvPr>
        </p:nvSpPr>
        <p:spPr/>
        <p:txBody>
          <a:bodyPr>
            <a:normAutofit/>
          </a:bodyPr>
          <a:lstStyle/>
          <a:p>
            <a:r>
              <a:rPr lang="en-IN" sz="2800" b="1" kern="0" dirty="0">
                <a:solidFill>
                  <a:srgbClr val="444444"/>
                </a:solidFill>
                <a:latin typeface="Open Sans" panose="020B0606030504020204" pitchFamily="34" charset="0"/>
                <a:ea typeface="Times New Roman" panose="02020603050405020304" pitchFamily="18" charset="0"/>
                <a:cs typeface="Times New Roman" panose="02020603050405020304" pitchFamily="18" charset="0"/>
              </a:rPr>
              <a:t>E</a:t>
            </a:r>
            <a:r>
              <a:rPr lang="en-IN" sz="2800" b="1"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xamples of quantitative research in different fields:</a:t>
            </a:r>
            <a:br>
              <a:rPr lang="en-IN" sz="2800" b="1"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5400" b="1" dirty="0"/>
          </a:p>
        </p:txBody>
      </p:sp>
      <p:sp>
        <p:nvSpPr>
          <p:cNvPr id="3" name="Content Placeholder 2">
            <a:extLst>
              <a:ext uri="{FF2B5EF4-FFF2-40B4-BE49-F238E27FC236}">
                <a16:creationId xmlns:a16="http://schemas.microsoft.com/office/drawing/2014/main" id="{4E76A551-BA6A-2F87-B1BD-F6121279486B}"/>
              </a:ext>
            </a:extLst>
          </p:cNvPr>
          <p:cNvSpPr>
            <a:spLocks noGrp="1"/>
          </p:cNvSpPr>
          <p:nvPr>
            <p:ph idx="1"/>
          </p:nvPr>
        </p:nvSpPr>
        <p:spPr>
          <a:xfrm>
            <a:off x="1484310" y="1580322"/>
            <a:ext cx="10018713" cy="5436704"/>
          </a:xfrm>
        </p:spPr>
        <p:txBody>
          <a:bodyPr>
            <a:normAutofit/>
          </a:bodyPr>
          <a:lstStyle/>
          <a:p>
            <a:pPr marL="342900" lvl="0" indent="-342900" fontAlgn="base">
              <a:lnSpc>
                <a:spcPct val="107000"/>
              </a:lnSpc>
              <a:spcAft>
                <a:spcPts val="800"/>
              </a:spcAft>
              <a:buSzPts val="1000"/>
              <a:buFont typeface="Symbol" panose="05050102010706020507" pitchFamily="18" charset="2"/>
              <a:buChar char=""/>
              <a:tabLst>
                <a:tab pos="457200" algn="l"/>
              </a:tabLst>
            </a:pPr>
            <a:endParaRPr lang="en-IN" sz="1800" b="1"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1800" b="1"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Market Research:</a:t>
            </a:r>
            <a:r>
              <a:rPr lang="en-IN" sz="1800"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 A company conducts a survey of 1000 consumers to determine their brand awareness and preferences. The data is </a:t>
            </a:r>
            <a:r>
              <a:rPr lang="en-IN" sz="1800" kern="0" dirty="0" err="1">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analyzed</a:t>
            </a:r>
            <a:r>
              <a:rPr lang="en-IN" sz="1800"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 using statistical methods to identify trends and patterns that can inform marketing strategies.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1800" b="1"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Health Research</a:t>
            </a:r>
            <a:r>
              <a:rPr lang="en-IN" sz="1800"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 A researcher conducts a randomized controlled trial to test the effectiveness of a new drug for treating a particular medical condition. The study involves collecting data from a large sample of patients and </a:t>
            </a:r>
            <a:r>
              <a:rPr lang="en-IN" sz="1800" kern="0" dirty="0" err="1">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analyzing</a:t>
            </a:r>
            <a:r>
              <a:rPr lang="en-IN" sz="1800"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 the results using statistical methods.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1800" b="1"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Social Science Research</a:t>
            </a:r>
            <a:r>
              <a:rPr lang="en-IN" sz="1800"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 A sociologist conducts a survey of 500 people to study attitudes toward immigration in a particular country. The data is </a:t>
            </a:r>
            <a:r>
              <a:rPr lang="en-IN" sz="1800" kern="0" dirty="0" err="1">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analyzed</a:t>
            </a:r>
            <a:r>
              <a:rPr lang="en-IN" sz="1800"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 using statistical methods to identify factors that influence these attitudes.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1800" b="1"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Education Research:</a:t>
            </a:r>
            <a:r>
              <a:rPr lang="en-IN" sz="1800"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 A researcher conducts an experiment to compare the effectiveness of two different teaching methods for improving student learning outcomes. The study involves randomly assigning students to different groups and collecting data on their performance on standardized tests.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46677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6DEFD-9E10-6579-30E7-506B36FB5A00}"/>
              </a:ext>
            </a:extLst>
          </p:cNvPr>
          <p:cNvSpPr>
            <a:spLocks noGrp="1"/>
          </p:cNvSpPr>
          <p:nvPr>
            <p:ph type="title"/>
          </p:nvPr>
        </p:nvSpPr>
        <p:spPr>
          <a:xfrm>
            <a:off x="1484311" y="685800"/>
            <a:ext cx="10018713" cy="904461"/>
          </a:xfrm>
        </p:spPr>
        <p:txBody>
          <a:bodyPr/>
          <a:lstStyle/>
          <a:p>
            <a:r>
              <a:rPr lang="en-US" b="1" dirty="0"/>
              <a:t>Conti….</a:t>
            </a:r>
            <a:endParaRPr lang="en-IN" b="1" dirty="0"/>
          </a:p>
        </p:txBody>
      </p:sp>
      <p:sp>
        <p:nvSpPr>
          <p:cNvPr id="3" name="Content Placeholder 2">
            <a:extLst>
              <a:ext uri="{FF2B5EF4-FFF2-40B4-BE49-F238E27FC236}">
                <a16:creationId xmlns:a16="http://schemas.microsoft.com/office/drawing/2014/main" id="{20A5A2A2-6557-F2EA-6784-36D54405B340}"/>
              </a:ext>
            </a:extLst>
          </p:cNvPr>
          <p:cNvSpPr>
            <a:spLocks noGrp="1"/>
          </p:cNvSpPr>
          <p:nvPr>
            <p:ph idx="1"/>
          </p:nvPr>
        </p:nvSpPr>
        <p:spPr>
          <a:xfrm>
            <a:off x="1484310" y="1590261"/>
            <a:ext cx="10532099" cy="4880113"/>
          </a:xfrm>
        </p:spPr>
        <p:txBody>
          <a:bodyPr>
            <a:normAutofit fontScale="92500" lnSpcReduction="10000"/>
          </a:bodyPr>
          <a:lstStyle/>
          <a:p>
            <a:pPr marL="342900" lvl="0" indent="-342900" fontAlgn="base">
              <a:lnSpc>
                <a:spcPct val="107000"/>
              </a:lnSpc>
              <a:spcAft>
                <a:spcPts val="800"/>
              </a:spcAft>
              <a:buSzPts val="1000"/>
              <a:buFont typeface="Symbol" panose="05050102010706020507" pitchFamily="18" charset="2"/>
              <a:buChar char=""/>
              <a:tabLst>
                <a:tab pos="457200" algn="l"/>
              </a:tabLst>
            </a:pPr>
            <a:r>
              <a:rPr lang="en-IN" sz="2300" b="1"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Environmental Research</a:t>
            </a:r>
            <a:r>
              <a:rPr lang="en-IN" sz="2300"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 A team of researchers conduct a study to investigate the impact of climate change on the distribution and abundance of a particular species of plant or animal. The study involves collecting data on environmental factors and population sizes over time and </a:t>
            </a:r>
            <a:r>
              <a:rPr lang="en-IN" sz="2300" kern="0" dirty="0" err="1">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analyzing</a:t>
            </a:r>
            <a:r>
              <a:rPr lang="en-IN" sz="2300"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 the results using statistical methods.</a:t>
            </a:r>
            <a:endParaRPr lang="en-IN" sz="2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2300" b="1"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Psychology</a:t>
            </a:r>
            <a:r>
              <a:rPr lang="en-IN" sz="2300"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 A researcher conducts a survey of 500 college students to investigate the relationship between social media use and mental health. The data is </a:t>
            </a:r>
            <a:r>
              <a:rPr lang="en-IN" sz="2300" kern="0" dirty="0" err="1">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analyzed</a:t>
            </a:r>
            <a:r>
              <a:rPr lang="en-IN" sz="2300"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 using statistical methods to identify correlations and potential causal relationships.</a:t>
            </a:r>
            <a:endParaRPr lang="en-IN" sz="23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2300" b="1"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Political Science:</a:t>
            </a:r>
            <a:r>
              <a:rPr lang="en-IN" sz="2300"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 A team of researchers conducts a study to investigate voter </a:t>
            </a:r>
            <a:r>
              <a:rPr lang="en-IN" sz="2300" kern="0" dirty="0" err="1">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behavior</a:t>
            </a:r>
            <a:r>
              <a:rPr lang="en-IN" sz="2300"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 during an election. They use survey methods to collect data on voting patterns, demographics, and political attitudes, and </a:t>
            </a:r>
            <a:r>
              <a:rPr lang="en-IN" sz="2300" kern="0" dirty="0" err="1">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analyze</a:t>
            </a:r>
            <a:r>
              <a:rPr lang="en-IN" sz="2300" kern="0" dirty="0">
                <a:solidFill>
                  <a:srgbClr val="444444"/>
                </a:solidFill>
                <a:effectLst/>
                <a:latin typeface="Open Sans" panose="020B0606030504020204" pitchFamily="34" charset="0"/>
                <a:ea typeface="Times New Roman" panose="02020603050405020304" pitchFamily="18" charset="0"/>
                <a:cs typeface="Times New Roman" panose="02020603050405020304" pitchFamily="18" charset="0"/>
              </a:rPr>
              <a:t> the results using statistical methods.</a:t>
            </a:r>
            <a:endParaRPr lang="en-IN" sz="23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4193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B7B3E-74ED-3D74-F0D9-906C05D18D52}"/>
              </a:ext>
            </a:extLst>
          </p:cNvPr>
          <p:cNvSpPr>
            <a:spLocks noGrp="1"/>
          </p:cNvSpPr>
          <p:nvPr>
            <p:ph type="title"/>
          </p:nvPr>
        </p:nvSpPr>
        <p:spPr>
          <a:xfrm>
            <a:off x="1484311" y="685801"/>
            <a:ext cx="10018713" cy="457200"/>
          </a:xfrm>
        </p:spPr>
        <p:txBody>
          <a:bodyPr>
            <a:normAutofit fontScale="90000"/>
          </a:bodyPr>
          <a:lstStyle/>
          <a:p>
            <a:r>
              <a:rPr lang="en-IN" sz="2800" b="1" kern="0" dirty="0">
                <a:solidFill>
                  <a:srgbClr val="4D5968"/>
                </a:solidFill>
                <a:latin typeface="Nunito Sans" pitchFamily="2" charset="0"/>
                <a:ea typeface="Times New Roman" panose="02020603050405020304" pitchFamily="18" charset="0"/>
                <a:cs typeface="Segoe UI" panose="020B0502040204020203" pitchFamily="34" charset="0"/>
              </a:rPr>
              <a:t>C</a:t>
            </a:r>
            <a:r>
              <a:rPr lang="en-IN" sz="2800" b="1" kern="0" dirty="0">
                <a:solidFill>
                  <a:srgbClr val="4D5968"/>
                </a:solidFill>
                <a:effectLst/>
                <a:latin typeface="Nunito Sans" pitchFamily="2" charset="0"/>
                <a:ea typeface="Times New Roman" panose="02020603050405020304" pitchFamily="18" charset="0"/>
                <a:cs typeface="Segoe UI" panose="020B0502040204020203" pitchFamily="34" charset="0"/>
              </a:rPr>
              <a:t>ommon characteristics of different types of </a:t>
            </a:r>
            <a:br>
              <a:rPr lang="en-IN" sz="2800" b="1" kern="0" dirty="0">
                <a:solidFill>
                  <a:srgbClr val="4D5968"/>
                </a:solidFill>
                <a:effectLst/>
                <a:latin typeface="Nunito Sans" pitchFamily="2" charset="0"/>
                <a:ea typeface="Times New Roman" panose="02020603050405020304" pitchFamily="18" charset="0"/>
                <a:cs typeface="Segoe UI" panose="020B0502040204020203" pitchFamily="34" charset="0"/>
              </a:rPr>
            </a:br>
            <a:r>
              <a:rPr lang="en-IN" sz="2800" b="1" kern="0" dirty="0">
                <a:solidFill>
                  <a:srgbClr val="4D5968"/>
                </a:solidFill>
                <a:effectLst/>
                <a:latin typeface="Nunito Sans" pitchFamily="2" charset="0"/>
                <a:ea typeface="Times New Roman" panose="02020603050405020304" pitchFamily="18" charset="0"/>
                <a:cs typeface="Segoe UI" panose="020B0502040204020203" pitchFamily="34" charset="0"/>
              </a:rPr>
              <a:t>Quantitative </a:t>
            </a:r>
            <a:r>
              <a:rPr lang="en-IN" sz="2800" b="1" kern="0" dirty="0">
                <a:solidFill>
                  <a:srgbClr val="4D5968"/>
                </a:solidFill>
                <a:latin typeface="Nunito Sans" pitchFamily="2" charset="0"/>
                <a:ea typeface="Times New Roman" panose="02020603050405020304" pitchFamily="18" charset="0"/>
                <a:cs typeface="Segoe UI" panose="020B0502040204020203" pitchFamily="34" charset="0"/>
              </a:rPr>
              <a:t>R</a:t>
            </a:r>
            <a:r>
              <a:rPr lang="en-IN" sz="2800" b="1" kern="0" dirty="0">
                <a:solidFill>
                  <a:srgbClr val="4D5968"/>
                </a:solidFill>
                <a:effectLst/>
                <a:latin typeface="Nunito Sans" pitchFamily="2" charset="0"/>
                <a:ea typeface="Times New Roman" panose="02020603050405020304" pitchFamily="18" charset="0"/>
                <a:cs typeface="Segoe UI" panose="020B0502040204020203" pitchFamily="34" charset="0"/>
              </a:rPr>
              <a:t>esearch</a:t>
            </a:r>
            <a:br>
              <a:rPr lang="en-IN" sz="2800" b="1"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5400" b="1" dirty="0"/>
          </a:p>
        </p:txBody>
      </p:sp>
      <p:sp>
        <p:nvSpPr>
          <p:cNvPr id="3" name="Content Placeholder 2">
            <a:extLst>
              <a:ext uri="{FF2B5EF4-FFF2-40B4-BE49-F238E27FC236}">
                <a16:creationId xmlns:a16="http://schemas.microsoft.com/office/drawing/2014/main" id="{9E3C2F33-AA79-D51A-923B-C2365CEFBC86}"/>
              </a:ext>
            </a:extLst>
          </p:cNvPr>
          <p:cNvSpPr>
            <a:spLocks noGrp="1"/>
          </p:cNvSpPr>
          <p:nvPr>
            <p:ph idx="1"/>
          </p:nvPr>
        </p:nvSpPr>
        <p:spPr>
          <a:xfrm>
            <a:off x="1152939" y="960121"/>
            <a:ext cx="11039061" cy="5718976"/>
          </a:xfrm>
        </p:spPr>
        <p:txBody>
          <a:bodyPr>
            <a:normAutofit fontScale="70000" lnSpcReduction="20000"/>
          </a:bodyPr>
          <a:lstStyle/>
          <a:p>
            <a:pPr>
              <a:lnSpc>
                <a:spcPct val="200000"/>
              </a:lnSpc>
              <a:spcAft>
                <a:spcPts val="1660"/>
              </a:spcAft>
            </a:pPr>
            <a:r>
              <a:rPr lang="en-IN" sz="2300" b="1" kern="0" dirty="0">
                <a:solidFill>
                  <a:srgbClr val="4D5968"/>
                </a:solidFill>
                <a:effectLst/>
                <a:latin typeface="Nunito Sans" pitchFamily="2" charset="0"/>
                <a:ea typeface="Times New Roman" panose="02020603050405020304" pitchFamily="18" charset="0"/>
                <a:cs typeface="Segoe UI" panose="020B0502040204020203" pitchFamily="34" charset="0"/>
              </a:rPr>
              <a:t>1. Numerical Data:</a:t>
            </a:r>
            <a:br>
              <a:rPr lang="en-IN" sz="2300" kern="0" dirty="0">
                <a:solidFill>
                  <a:srgbClr val="4D5968"/>
                </a:solidFill>
                <a:effectLst/>
                <a:latin typeface="Nunito Sans" pitchFamily="2" charset="0"/>
                <a:ea typeface="Times New Roman" panose="02020603050405020304" pitchFamily="18" charset="0"/>
                <a:cs typeface="Segoe UI" panose="020B0502040204020203" pitchFamily="34" charset="0"/>
              </a:rPr>
            </a:br>
            <a:r>
              <a:rPr lang="en-IN" sz="2300" kern="0" dirty="0">
                <a:solidFill>
                  <a:srgbClr val="4D5968"/>
                </a:solidFill>
                <a:effectLst/>
                <a:latin typeface="Nunito Sans" pitchFamily="2" charset="0"/>
                <a:ea typeface="Times New Roman" panose="02020603050405020304" pitchFamily="18" charset="0"/>
                <a:cs typeface="Segoe UI" panose="020B0502040204020203" pitchFamily="34" charset="0"/>
              </a:rPr>
              <a:t>Quantitative research primarily deals with numerical data, which can be quantified and measured. Researchers use structured instruments like surveys, experiments, or observations to collect this data.</a:t>
            </a:r>
            <a:endParaRPr lang="en-IN" sz="23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200000"/>
              </a:lnSpc>
              <a:spcAft>
                <a:spcPts val="1660"/>
              </a:spcAft>
            </a:pPr>
            <a:r>
              <a:rPr lang="en-IN" sz="2300" b="1" kern="0" dirty="0">
                <a:solidFill>
                  <a:srgbClr val="4D5968"/>
                </a:solidFill>
                <a:effectLst/>
                <a:latin typeface="Nunito Sans" pitchFamily="2" charset="0"/>
                <a:ea typeface="Times New Roman" panose="02020603050405020304" pitchFamily="18" charset="0"/>
                <a:cs typeface="Segoe UI" panose="020B0502040204020203" pitchFamily="34" charset="0"/>
              </a:rPr>
              <a:t>2. Large Sample Sizes:</a:t>
            </a:r>
            <a:br>
              <a:rPr lang="en-IN" sz="2300" kern="0" dirty="0">
                <a:solidFill>
                  <a:srgbClr val="4D5968"/>
                </a:solidFill>
                <a:effectLst/>
                <a:latin typeface="Nunito Sans" pitchFamily="2" charset="0"/>
                <a:ea typeface="Times New Roman" panose="02020603050405020304" pitchFamily="18" charset="0"/>
                <a:cs typeface="Segoe UI" panose="020B0502040204020203" pitchFamily="34" charset="0"/>
              </a:rPr>
            </a:br>
            <a:r>
              <a:rPr lang="en-IN" sz="2300" kern="0" dirty="0">
                <a:solidFill>
                  <a:srgbClr val="4D5968"/>
                </a:solidFill>
                <a:effectLst/>
                <a:latin typeface="Nunito Sans" pitchFamily="2" charset="0"/>
                <a:ea typeface="Times New Roman" panose="02020603050405020304" pitchFamily="18" charset="0"/>
                <a:cs typeface="Segoe UI" panose="020B0502040204020203" pitchFamily="34" charset="0"/>
              </a:rPr>
              <a:t>Quantitative research typically involves large sample sizes to ensure statistical validity and generalize findings to a broader population. This allows for greater confidence in the results.</a:t>
            </a:r>
            <a:endParaRPr lang="en-IN" sz="23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200000"/>
              </a:lnSpc>
              <a:spcAft>
                <a:spcPts val="1660"/>
              </a:spcAft>
            </a:pPr>
            <a:r>
              <a:rPr lang="en-IN" sz="2300" b="1" kern="0" dirty="0">
                <a:solidFill>
                  <a:srgbClr val="4D5968"/>
                </a:solidFill>
                <a:effectLst/>
                <a:latin typeface="Nunito Sans" pitchFamily="2" charset="0"/>
                <a:ea typeface="Times New Roman" panose="02020603050405020304" pitchFamily="18" charset="0"/>
                <a:cs typeface="Segoe UI" panose="020B0502040204020203" pitchFamily="34" charset="0"/>
              </a:rPr>
              <a:t>3. Statistical Analysis:</a:t>
            </a:r>
            <a:br>
              <a:rPr lang="en-IN" sz="2300" kern="0" dirty="0">
                <a:solidFill>
                  <a:srgbClr val="4D5968"/>
                </a:solidFill>
                <a:effectLst/>
                <a:latin typeface="Nunito Sans" pitchFamily="2" charset="0"/>
                <a:ea typeface="Times New Roman" panose="02020603050405020304" pitchFamily="18" charset="0"/>
                <a:cs typeface="Segoe UI" panose="020B0502040204020203" pitchFamily="34" charset="0"/>
              </a:rPr>
            </a:br>
            <a:r>
              <a:rPr lang="en-IN" sz="2300" kern="0" dirty="0">
                <a:solidFill>
                  <a:srgbClr val="4D5968"/>
                </a:solidFill>
                <a:effectLst/>
                <a:latin typeface="Nunito Sans" pitchFamily="2" charset="0"/>
                <a:ea typeface="Times New Roman" panose="02020603050405020304" pitchFamily="18" charset="0"/>
                <a:cs typeface="Segoe UI" panose="020B0502040204020203" pitchFamily="34" charset="0"/>
              </a:rPr>
              <a:t>Statistical analysis plays a central role in quantitative research. Researchers use statistical methods to </a:t>
            </a:r>
            <a:r>
              <a:rPr lang="en-IN" sz="2300" kern="0" dirty="0" err="1">
                <a:solidFill>
                  <a:srgbClr val="4D5968"/>
                </a:solidFill>
                <a:effectLst/>
                <a:latin typeface="Nunito Sans" pitchFamily="2" charset="0"/>
                <a:ea typeface="Times New Roman" panose="02020603050405020304" pitchFamily="18" charset="0"/>
                <a:cs typeface="Segoe UI" panose="020B0502040204020203" pitchFamily="34" charset="0"/>
              </a:rPr>
              <a:t>analyze</a:t>
            </a:r>
            <a:r>
              <a:rPr lang="en-IN" sz="2300" kern="0" dirty="0">
                <a:solidFill>
                  <a:srgbClr val="4D5968"/>
                </a:solidFill>
                <a:effectLst/>
                <a:latin typeface="Nunito Sans" pitchFamily="2" charset="0"/>
                <a:ea typeface="Times New Roman" panose="02020603050405020304" pitchFamily="18" charset="0"/>
                <a:cs typeface="Segoe UI" panose="020B0502040204020203" pitchFamily="34" charset="0"/>
              </a:rPr>
              <a:t> and interpret the data, identify patterns and relationships, and draw conclusions. Common statistical techniques include regression analysis, correlation analysis, t-tests, ANOVA, and chi-squared tests.</a:t>
            </a:r>
            <a:endParaRPr lang="en-IN" sz="23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66650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F67EC-A252-BDED-6E52-E79DA7E85E86}"/>
              </a:ext>
            </a:extLst>
          </p:cNvPr>
          <p:cNvSpPr>
            <a:spLocks noGrp="1"/>
          </p:cNvSpPr>
          <p:nvPr>
            <p:ph type="title"/>
          </p:nvPr>
        </p:nvSpPr>
        <p:spPr>
          <a:xfrm>
            <a:off x="1484311" y="685801"/>
            <a:ext cx="10018713" cy="293914"/>
          </a:xfrm>
        </p:spPr>
        <p:txBody>
          <a:bodyPr>
            <a:normAutofit fontScale="90000"/>
          </a:bodyPr>
          <a:lstStyle/>
          <a:p>
            <a:r>
              <a:rPr lang="en-US" b="1" dirty="0"/>
              <a:t>CONTI…</a:t>
            </a:r>
            <a:endParaRPr lang="en-IN" b="1" dirty="0"/>
          </a:p>
        </p:txBody>
      </p:sp>
      <p:sp>
        <p:nvSpPr>
          <p:cNvPr id="3" name="Content Placeholder 2">
            <a:extLst>
              <a:ext uri="{FF2B5EF4-FFF2-40B4-BE49-F238E27FC236}">
                <a16:creationId xmlns:a16="http://schemas.microsoft.com/office/drawing/2014/main" id="{C5F5ECB0-3E61-C814-DC9E-AB4ECB8DB1F7}"/>
              </a:ext>
            </a:extLst>
          </p:cNvPr>
          <p:cNvSpPr>
            <a:spLocks noGrp="1"/>
          </p:cNvSpPr>
          <p:nvPr>
            <p:ph idx="1"/>
          </p:nvPr>
        </p:nvSpPr>
        <p:spPr>
          <a:xfrm>
            <a:off x="1484310" y="1175657"/>
            <a:ext cx="10707690" cy="5682343"/>
          </a:xfrm>
        </p:spPr>
        <p:txBody>
          <a:bodyPr>
            <a:normAutofit fontScale="85000" lnSpcReduction="10000"/>
          </a:bodyPr>
          <a:lstStyle/>
          <a:p>
            <a:pPr>
              <a:lnSpc>
                <a:spcPct val="200000"/>
              </a:lnSpc>
              <a:spcAft>
                <a:spcPts val="1660"/>
              </a:spcAft>
            </a:pPr>
            <a:r>
              <a:rPr lang="en-IN" sz="1800" b="1" kern="0" dirty="0">
                <a:solidFill>
                  <a:srgbClr val="4D5968"/>
                </a:solidFill>
                <a:effectLst/>
                <a:latin typeface="Nunito Sans" pitchFamily="2" charset="0"/>
                <a:ea typeface="Times New Roman" panose="02020603050405020304" pitchFamily="18" charset="0"/>
                <a:cs typeface="Segoe UI" panose="020B0502040204020203" pitchFamily="34" charset="0"/>
              </a:rPr>
              <a:t>4. Structured Research Design:</a:t>
            </a:r>
            <a:br>
              <a:rPr lang="en-IN" sz="1800" kern="0" dirty="0">
                <a:solidFill>
                  <a:srgbClr val="4D5968"/>
                </a:solidFill>
                <a:effectLst/>
                <a:latin typeface="Nunito Sans" pitchFamily="2" charset="0"/>
                <a:ea typeface="Times New Roman" panose="02020603050405020304" pitchFamily="18" charset="0"/>
                <a:cs typeface="Segoe UI" panose="020B0502040204020203" pitchFamily="34" charset="0"/>
              </a:rPr>
            </a:br>
            <a:r>
              <a:rPr lang="en-IN" sz="1800" kern="0" dirty="0">
                <a:solidFill>
                  <a:srgbClr val="4D5968"/>
                </a:solidFill>
                <a:effectLst/>
                <a:latin typeface="Nunito Sans" pitchFamily="2" charset="0"/>
                <a:ea typeface="Times New Roman" panose="02020603050405020304" pitchFamily="18" charset="0"/>
                <a:cs typeface="Segoe UI" panose="020B0502040204020203" pitchFamily="34" charset="0"/>
              </a:rPr>
              <a:t>Quantitative research often employs a structured and pre-defined research design. Researchers develop hypotheses, select variables, and design experiments or surveys before data collection begins. This structured approach helps maintain consistency and rigor in the research process.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200000"/>
              </a:lnSpc>
              <a:spcAft>
                <a:spcPts val="1660"/>
              </a:spcAft>
            </a:pPr>
            <a:r>
              <a:rPr lang="en-IN" sz="1800" b="1" kern="0" dirty="0">
                <a:solidFill>
                  <a:srgbClr val="4D5968"/>
                </a:solidFill>
                <a:effectLst/>
                <a:latin typeface="Nunito Sans" pitchFamily="2" charset="0"/>
                <a:ea typeface="Times New Roman" panose="02020603050405020304" pitchFamily="18" charset="0"/>
                <a:cs typeface="Segoe UI" panose="020B0502040204020203" pitchFamily="34" charset="0"/>
              </a:rPr>
              <a:t>5. Generalizability:</a:t>
            </a:r>
            <a:br>
              <a:rPr lang="en-IN" sz="1800" kern="0" dirty="0">
                <a:solidFill>
                  <a:srgbClr val="4D5968"/>
                </a:solidFill>
                <a:effectLst/>
                <a:latin typeface="Nunito Sans" pitchFamily="2" charset="0"/>
                <a:ea typeface="Times New Roman" panose="02020603050405020304" pitchFamily="18" charset="0"/>
                <a:cs typeface="Segoe UI" panose="020B0502040204020203" pitchFamily="34" charset="0"/>
              </a:rPr>
            </a:br>
            <a:r>
              <a:rPr lang="en-IN" sz="1800" kern="0" dirty="0">
                <a:solidFill>
                  <a:srgbClr val="4D5968"/>
                </a:solidFill>
                <a:effectLst/>
                <a:latin typeface="Nunito Sans" pitchFamily="2" charset="0"/>
                <a:ea typeface="Times New Roman" panose="02020603050405020304" pitchFamily="18" charset="0"/>
                <a:cs typeface="Segoe UI" panose="020B0502040204020203" pitchFamily="34" charset="0"/>
              </a:rPr>
              <a:t>Quantitative research often aims to generalize findings to a larger population. When conducted correctly, quantitative studies can provide insights that are applicable beyond the specific sample studied.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200000"/>
              </a:lnSpc>
              <a:spcAft>
                <a:spcPts val="1660"/>
              </a:spcAft>
            </a:pPr>
            <a:r>
              <a:rPr lang="en-IN" sz="1800" b="1" kern="0" dirty="0">
                <a:solidFill>
                  <a:srgbClr val="4D5968"/>
                </a:solidFill>
                <a:effectLst/>
                <a:latin typeface="Nunito Sans" pitchFamily="2" charset="0"/>
                <a:ea typeface="Times New Roman" panose="02020603050405020304" pitchFamily="18" charset="0"/>
                <a:cs typeface="Segoe UI" panose="020B0502040204020203" pitchFamily="34" charset="0"/>
              </a:rPr>
              <a:t>6. Closed-Ended Questions:</a:t>
            </a:r>
            <a:br>
              <a:rPr lang="en-IN" sz="1800" kern="0" dirty="0">
                <a:solidFill>
                  <a:srgbClr val="4D5968"/>
                </a:solidFill>
                <a:effectLst/>
                <a:latin typeface="Nunito Sans" pitchFamily="2" charset="0"/>
                <a:ea typeface="Times New Roman" panose="02020603050405020304" pitchFamily="18" charset="0"/>
                <a:cs typeface="Segoe UI" panose="020B0502040204020203" pitchFamily="34" charset="0"/>
              </a:rPr>
            </a:br>
            <a:r>
              <a:rPr lang="en-IN" sz="1800" kern="0" dirty="0">
                <a:solidFill>
                  <a:srgbClr val="4D5968"/>
                </a:solidFill>
                <a:effectLst/>
                <a:latin typeface="Nunito Sans" pitchFamily="2" charset="0"/>
                <a:ea typeface="Times New Roman" panose="02020603050405020304" pitchFamily="18" charset="0"/>
                <a:cs typeface="Segoe UI" panose="020B0502040204020203" pitchFamily="34" charset="0"/>
              </a:rPr>
              <a:t>Surveys and questionnaires used in quantitative research often employ closed-ended questions with predetermined response options. </a:t>
            </a:r>
            <a:r>
              <a:rPr lang="en-IN" sz="1800" kern="0">
                <a:solidFill>
                  <a:srgbClr val="4D5968"/>
                </a:solidFill>
                <a:effectLst/>
                <a:latin typeface="Nunito Sans" pitchFamily="2" charset="0"/>
                <a:ea typeface="Times New Roman" panose="02020603050405020304" pitchFamily="18" charset="0"/>
                <a:cs typeface="Segoe UI" panose="020B0502040204020203" pitchFamily="34" charset="0"/>
              </a:rPr>
              <a:t>This facilitates data analysis and allows for comparisons between participants.</a:t>
            </a:r>
            <a:endParaRPr lang="en-IN"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37320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8CF93-D53D-7835-3CDF-F8762AD6B0BB}"/>
              </a:ext>
            </a:extLst>
          </p:cNvPr>
          <p:cNvSpPr>
            <a:spLocks noGrp="1"/>
          </p:cNvSpPr>
          <p:nvPr>
            <p:ph type="title"/>
          </p:nvPr>
        </p:nvSpPr>
        <p:spPr>
          <a:xfrm>
            <a:off x="1484311" y="119271"/>
            <a:ext cx="10018713" cy="1182756"/>
          </a:xfrm>
        </p:spPr>
        <p:txBody>
          <a:bodyPr/>
          <a:lstStyle/>
          <a:p>
            <a:r>
              <a:rPr lang="en-US" b="1" dirty="0"/>
              <a:t>Types of Quantitative Research </a:t>
            </a:r>
            <a:endParaRPr lang="en-IN" b="1" dirty="0"/>
          </a:p>
        </p:txBody>
      </p:sp>
      <p:sp>
        <p:nvSpPr>
          <p:cNvPr id="3" name="Content Placeholder 2">
            <a:extLst>
              <a:ext uri="{FF2B5EF4-FFF2-40B4-BE49-F238E27FC236}">
                <a16:creationId xmlns:a16="http://schemas.microsoft.com/office/drawing/2014/main" id="{19124CE3-53C4-92B3-3445-6C1EA8825A70}"/>
              </a:ext>
            </a:extLst>
          </p:cNvPr>
          <p:cNvSpPr>
            <a:spLocks noGrp="1"/>
          </p:cNvSpPr>
          <p:nvPr>
            <p:ph idx="1"/>
          </p:nvPr>
        </p:nvSpPr>
        <p:spPr>
          <a:xfrm>
            <a:off x="1484310" y="2017643"/>
            <a:ext cx="10018713" cy="4979505"/>
          </a:xfrm>
        </p:spPr>
        <p:txBody>
          <a:bodyPr>
            <a:normAutofit fontScale="85000" lnSpcReduction="10000"/>
          </a:bodyPr>
          <a:lstStyle/>
          <a:p>
            <a:pPr>
              <a:lnSpc>
                <a:spcPts val="2400"/>
              </a:lnSpc>
              <a:spcAft>
                <a:spcPts val="600"/>
              </a:spcAft>
            </a:pPr>
            <a:r>
              <a:rPr lang="en-IN" sz="3800" b="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Descriptive research</a:t>
            </a:r>
            <a:endParaRPr lang="en-IN" sz="3800" b="1"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1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This type of quantitative research is used to explain the current state of a variable or topic. It can answer </a:t>
            </a:r>
            <a:r>
              <a:rPr lang="en-IN" sz="1800" i="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what</a:t>
            </a:r>
            <a:r>
              <a:rPr lang="en-IN" sz="1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 </a:t>
            </a:r>
            <a:r>
              <a:rPr lang="en-IN" sz="1800" i="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where</a:t>
            </a:r>
            <a:r>
              <a:rPr lang="en-IN" sz="1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 </a:t>
            </a:r>
            <a:r>
              <a:rPr lang="en-IN" sz="1800" i="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when</a:t>
            </a:r>
            <a:r>
              <a:rPr lang="en-IN" sz="1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 and </a:t>
            </a:r>
            <a:r>
              <a:rPr lang="en-IN" sz="1800" i="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how</a:t>
            </a:r>
            <a:r>
              <a:rPr lang="en-IN" sz="1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 but not </a:t>
            </a:r>
            <a:r>
              <a:rPr lang="en-IN" sz="1800" i="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why </a:t>
            </a:r>
            <a:r>
              <a:rPr lang="en-IN" sz="1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questions (those are answered in qualitative research). The researcher does not control or manipulate the variables. They just observe and measure them.</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1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Surveys are often used to gather a large amount of data that can be </a:t>
            </a:r>
            <a:r>
              <a:rPr lang="en-IN" sz="1800" kern="0" dirty="0" err="1">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analyzed</a:t>
            </a:r>
            <a:r>
              <a:rPr lang="en-IN" sz="1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 for frequencies, averages, and patterns. For example, surveys can be used to describe the </a:t>
            </a:r>
            <a:r>
              <a:rPr lang="en-IN" sz="1800" u="sng" kern="0" dirty="0">
                <a:solidFill>
                  <a:srgbClr val="007FAA"/>
                </a:solidFill>
                <a:effectLst/>
                <a:latin typeface="Helvetica" panose="020B0604020202020204" pitchFamily="34" charset="0"/>
                <a:ea typeface="Times New Roman" panose="02020603050405020304" pitchFamily="18" charset="0"/>
                <a:cs typeface="Times New Roman" panose="02020603050405020304" pitchFamily="18" charset="0"/>
                <a:hlinkClick r:id="rId2"/>
              </a:rPr>
              <a:t>demographics</a:t>
            </a:r>
            <a:r>
              <a:rPr lang="en-IN" sz="1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 of a given region, gauge public opinion on political topics, and evaluate </a:t>
            </a:r>
            <a:r>
              <a:rPr lang="en-IN" sz="1800" u="sng" kern="0" dirty="0">
                <a:solidFill>
                  <a:srgbClr val="007FAA"/>
                </a:solidFill>
                <a:effectLst/>
                <a:latin typeface="Helvetica" panose="020B0604020202020204" pitchFamily="34" charset="0"/>
                <a:ea typeface="Times New Roman" panose="02020603050405020304" pitchFamily="18" charset="0"/>
                <a:cs typeface="Times New Roman" panose="02020603050405020304" pitchFamily="18" charset="0"/>
                <a:hlinkClick r:id="rId3"/>
              </a:rPr>
              <a:t>customer satisfaction</a:t>
            </a:r>
            <a:r>
              <a:rPr lang="en-IN" sz="1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 with a company’s products.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1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Observations are often used to gather data without relying on survey respondents' honesty or accuracy. This method of descriptive research is used to understand how individuals act in real-life situations.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1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Case studies can also be used to gather detailed information to identify characteristics of a narrowly defined subject. They are frequently used to generate hypotheses and theories.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03791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32297-3792-CD7B-00E8-E7F15101D30C}"/>
              </a:ext>
            </a:extLst>
          </p:cNvPr>
          <p:cNvSpPr>
            <a:spLocks noGrp="1"/>
          </p:cNvSpPr>
          <p:nvPr>
            <p:ph type="title"/>
          </p:nvPr>
        </p:nvSpPr>
        <p:spPr>
          <a:xfrm>
            <a:off x="1484311" y="685801"/>
            <a:ext cx="10018713" cy="894522"/>
          </a:xfrm>
        </p:spPr>
        <p:txBody>
          <a:bodyPr/>
          <a:lstStyle/>
          <a:p>
            <a:r>
              <a:rPr lang="en-US" b="1" dirty="0"/>
              <a:t>Conti….</a:t>
            </a:r>
            <a:endParaRPr lang="en-IN" b="1" dirty="0"/>
          </a:p>
        </p:txBody>
      </p:sp>
      <p:sp>
        <p:nvSpPr>
          <p:cNvPr id="3" name="Content Placeholder 2">
            <a:extLst>
              <a:ext uri="{FF2B5EF4-FFF2-40B4-BE49-F238E27FC236}">
                <a16:creationId xmlns:a16="http://schemas.microsoft.com/office/drawing/2014/main" id="{A2F7D48B-81DE-8F24-7E4F-4D26D6105488}"/>
              </a:ext>
            </a:extLst>
          </p:cNvPr>
          <p:cNvSpPr>
            <a:spLocks noGrp="1"/>
          </p:cNvSpPr>
          <p:nvPr>
            <p:ph idx="1"/>
          </p:nvPr>
        </p:nvSpPr>
        <p:spPr>
          <a:xfrm>
            <a:off x="1484310" y="1888435"/>
            <a:ext cx="10707690" cy="5178287"/>
          </a:xfrm>
        </p:spPr>
        <p:txBody>
          <a:bodyPr>
            <a:normAutofit/>
          </a:bodyPr>
          <a:lstStyle/>
          <a:p>
            <a:pPr>
              <a:lnSpc>
                <a:spcPts val="2400"/>
              </a:lnSpc>
              <a:spcBef>
                <a:spcPts val="600"/>
              </a:spcBef>
              <a:spcAft>
                <a:spcPts val="600"/>
              </a:spcAft>
            </a:pPr>
            <a:r>
              <a:rPr lang="en-IN" sz="1800" b="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Goal</a:t>
            </a:r>
            <a:endParaRPr lang="en-IN"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1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The goal of descriptive research is to understand the current status of an identified variable.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1800" b="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When to Use</a:t>
            </a:r>
            <a:endParaRPr lang="en-IN"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1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Descriptive research is used to identify categories and trends, form hypotheses, arrange comparisons, confirm existing phenomena, and outline sample characteristics.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1800" b="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The following are examples of descriptive research:</a:t>
            </a:r>
            <a:endParaRPr lang="en-IN"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2400"/>
              </a:lnSpc>
              <a:spcAft>
                <a:spcPts val="900"/>
              </a:spcAft>
              <a:buSzPts val="1000"/>
              <a:buFont typeface="Symbol" panose="05050102010706020507" pitchFamily="18" charset="2"/>
              <a:buChar char=""/>
              <a:tabLst>
                <a:tab pos="457200" algn="l"/>
              </a:tabLst>
            </a:pPr>
            <a:r>
              <a:rPr lang="en-IN" sz="1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An athletic shoe brand conducts a demographic survey to understand the shoe purchasing trends among customers in New York.</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2400"/>
              </a:lnSpc>
              <a:spcAft>
                <a:spcPts val="900"/>
              </a:spcAft>
              <a:buSzPts val="1000"/>
              <a:buFont typeface="Symbol" panose="05050102010706020507" pitchFamily="18" charset="2"/>
              <a:buChar char=""/>
              <a:tabLst>
                <a:tab pos="457200" algn="l"/>
              </a:tabLst>
            </a:pPr>
            <a:r>
              <a:rPr lang="en-IN" sz="1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Find out where young adults aged 16-20 get their online news with a survey listing popular news sites.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2400"/>
              </a:lnSpc>
              <a:spcAft>
                <a:spcPts val="800"/>
              </a:spcAft>
              <a:buSzPts val="1000"/>
              <a:buFont typeface="Symbol" panose="05050102010706020507" pitchFamily="18" charset="2"/>
              <a:buChar char=""/>
              <a:tabLst>
                <a:tab pos="457200" algn="l"/>
              </a:tabLst>
            </a:pPr>
            <a:r>
              <a:rPr lang="en-IN" sz="1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Discover how often working people take vacations by sending surveys asking how many vacations the target population has taken in the last year.</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891727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AE987-F517-C2B6-E8BA-EF65305F0342}"/>
              </a:ext>
            </a:extLst>
          </p:cNvPr>
          <p:cNvSpPr>
            <a:spLocks noGrp="1"/>
          </p:cNvSpPr>
          <p:nvPr>
            <p:ph type="title"/>
          </p:nvPr>
        </p:nvSpPr>
        <p:spPr>
          <a:xfrm>
            <a:off x="1484311" y="685800"/>
            <a:ext cx="10018713" cy="815009"/>
          </a:xfrm>
        </p:spPr>
        <p:txBody>
          <a:bodyPr>
            <a:normAutofit fontScale="90000"/>
          </a:bodyPr>
          <a:lstStyle/>
          <a:p>
            <a:r>
              <a:rPr lang="en-IN" sz="4000" b="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Correlational research</a:t>
            </a:r>
            <a:br>
              <a:rPr lang="en-IN" sz="40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43C51D6-0047-B7C0-C5B7-A984B4F9B2A3}"/>
              </a:ext>
            </a:extLst>
          </p:cNvPr>
          <p:cNvSpPr>
            <a:spLocks noGrp="1"/>
          </p:cNvSpPr>
          <p:nvPr>
            <p:ph idx="1"/>
          </p:nvPr>
        </p:nvSpPr>
        <p:spPr>
          <a:xfrm>
            <a:off x="1484310" y="1182757"/>
            <a:ext cx="10018713" cy="5774634"/>
          </a:xfrm>
        </p:spPr>
        <p:txBody>
          <a:bodyPr/>
          <a:lstStyle/>
          <a:p>
            <a:pPr algn="just">
              <a:lnSpc>
                <a:spcPts val="2400"/>
              </a:lnSpc>
              <a:spcBef>
                <a:spcPts val="600"/>
              </a:spcBef>
              <a:spcAft>
                <a:spcPts val="600"/>
              </a:spcAft>
            </a:pPr>
            <a:r>
              <a:rPr lang="en-IN" sz="3200" kern="0" dirty="0">
                <a:solidFill>
                  <a:srgbClr val="1E2124"/>
                </a:solidFill>
                <a:effectLst/>
                <a:latin typeface="Times New Roman" panose="02020603050405020304" pitchFamily="18" charset="0"/>
                <a:ea typeface="Times New Roman" panose="02020603050405020304" pitchFamily="18" charset="0"/>
                <a:cs typeface="Times New Roman" panose="02020603050405020304" pitchFamily="18" charset="0"/>
              </a:rPr>
              <a:t>The correlational research method examines the relationships between different subjects and variables without the researcher controlling or manipulating any of them. It is focused on relationships between fixed variables. Correlational research relies on the scientific method and hypotheses.</a:t>
            </a:r>
            <a:endParaRPr lang="en-IN" sz="3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ts val="2400"/>
              </a:lnSpc>
              <a:spcBef>
                <a:spcPts val="600"/>
              </a:spcBef>
              <a:spcAft>
                <a:spcPts val="600"/>
              </a:spcAft>
            </a:pPr>
            <a:r>
              <a:rPr lang="en-IN" sz="3200" kern="0" dirty="0">
                <a:solidFill>
                  <a:srgbClr val="1E2124"/>
                </a:solidFill>
                <a:effectLst/>
                <a:latin typeface="Times New Roman" panose="02020603050405020304" pitchFamily="18" charset="0"/>
                <a:ea typeface="Times New Roman" panose="02020603050405020304" pitchFamily="18" charset="0"/>
                <a:cs typeface="Times New Roman" panose="02020603050405020304" pitchFamily="18" charset="0"/>
              </a:rPr>
              <a:t>Surveys are fast, easy ways to measure your variables of interest. It’s essential to ensure that your questions are formulated correctly and your questions are free of bias. </a:t>
            </a:r>
          </a:p>
          <a:p>
            <a:pPr>
              <a:lnSpc>
                <a:spcPts val="2400"/>
              </a:lnSpc>
              <a:spcBef>
                <a:spcPts val="600"/>
              </a:spcBef>
              <a:spcAft>
                <a:spcPts val="600"/>
              </a:spcAft>
            </a:pPr>
            <a:endParaRPr lang="en-IN" dirty="0"/>
          </a:p>
        </p:txBody>
      </p:sp>
    </p:spTree>
    <p:extLst>
      <p:ext uri="{BB962C8B-B14F-4D97-AF65-F5344CB8AC3E}">
        <p14:creationId xmlns:p14="http://schemas.microsoft.com/office/powerpoint/2010/main" val="2121864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6D589-D170-1FF3-50ED-4DCDD2C0B117}"/>
              </a:ext>
            </a:extLst>
          </p:cNvPr>
          <p:cNvSpPr>
            <a:spLocks noGrp="1"/>
          </p:cNvSpPr>
          <p:nvPr>
            <p:ph type="title"/>
          </p:nvPr>
        </p:nvSpPr>
        <p:spPr>
          <a:xfrm>
            <a:off x="1484311" y="168966"/>
            <a:ext cx="10018713" cy="905690"/>
          </a:xfrm>
        </p:spPr>
        <p:txBody>
          <a:bodyPr/>
          <a:lstStyle/>
          <a:p>
            <a:r>
              <a:rPr lang="en-US" b="1" dirty="0"/>
              <a:t>Conti…</a:t>
            </a:r>
            <a:endParaRPr lang="en-IN" b="1" dirty="0"/>
          </a:p>
        </p:txBody>
      </p:sp>
      <p:sp>
        <p:nvSpPr>
          <p:cNvPr id="3" name="Content Placeholder 2">
            <a:extLst>
              <a:ext uri="{FF2B5EF4-FFF2-40B4-BE49-F238E27FC236}">
                <a16:creationId xmlns:a16="http://schemas.microsoft.com/office/drawing/2014/main" id="{ECA442B4-53BE-664F-0C64-DB0BABCE8C69}"/>
              </a:ext>
            </a:extLst>
          </p:cNvPr>
          <p:cNvSpPr>
            <a:spLocks noGrp="1"/>
          </p:cNvSpPr>
          <p:nvPr>
            <p:ph idx="1"/>
          </p:nvPr>
        </p:nvSpPr>
        <p:spPr>
          <a:xfrm>
            <a:off x="1484310" y="914400"/>
            <a:ext cx="10631490" cy="5793489"/>
          </a:xfrm>
        </p:spPr>
        <p:txBody>
          <a:bodyPr/>
          <a:lstStyle/>
          <a:p>
            <a:pPr>
              <a:lnSpc>
                <a:spcPts val="2400"/>
              </a:lnSpc>
              <a:spcBef>
                <a:spcPts val="600"/>
              </a:spcBef>
              <a:spcAft>
                <a:spcPts val="600"/>
              </a:spcAft>
            </a:pPr>
            <a:r>
              <a:rPr lang="en-IN" sz="20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Naturalistic observation allows you to gather data about a </a:t>
            </a:r>
            <a:r>
              <a:rPr lang="en-IN" sz="2000" kern="0" dirty="0" err="1">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behavior</a:t>
            </a:r>
            <a:r>
              <a:rPr lang="en-IN" sz="20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 or phenomenon in its natural environment. This may include measuring frequencies, durations, scales, and amounts.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2000" u="sng" kern="0" dirty="0">
                <a:solidFill>
                  <a:srgbClr val="007FAA"/>
                </a:solidFill>
                <a:effectLst/>
                <a:latin typeface="Helvetica" panose="020B0604020202020204" pitchFamily="34" charset="0"/>
                <a:ea typeface="Times New Roman" panose="02020603050405020304" pitchFamily="18" charset="0"/>
                <a:cs typeface="Times New Roman" panose="02020603050405020304" pitchFamily="18" charset="0"/>
                <a:hlinkClick r:id="rId2"/>
              </a:rPr>
              <a:t>Secondary data</a:t>
            </a:r>
            <a:r>
              <a:rPr lang="en-IN" sz="20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 is a fast, inexpensive way to conduct correlational research. However, the data may not be reliable or not entirely relevant to your study—and you have no control over it.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2000" b="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Goal</a:t>
            </a:r>
            <a:endParaRPr lang="en-IN" sz="2000" b="1"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20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The goal of correlational research is to identify variables that have some sort of relationship to the extent that one creates a change in the other.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b="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When to Use</a:t>
            </a:r>
            <a:endParaRPr lang="en-IN" b="1"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20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Correlational research is used to gather data quickly from natural settings so you can generalize findings to a real-life situation.</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17752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94FE3-DA91-88A9-0070-F2E9EFE7813F}"/>
              </a:ext>
            </a:extLst>
          </p:cNvPr>
          <p:cNvSpPr>
            <a:spLocks noGrp="1"/>
          </p:cNvSpPr>
          <p:nvPr>
            <p:ph type="title"/>
          </p:nvPr>
        </p:nvSpPr>
        <p:spPr>
          <a:xfrm>
            <a:off x="1484311" y="685801"/>
            <a:ext cx="10018713" cy="755374"/>
          </a:xfrm>
        </p:spPr>
        <p:txBody>
          <a:bodyPr/>
          <a:lstStyle/>
          <a:p>
            <a:r>
              <a:rPr lang="en-US" b="1" dirty="0"/>
              <a:t>Conti..</a:t>
            </a:r>
            <a:endParaRPr lang="en-IN" b="1" dirty="0"/>
          </a:p>
        </p:txBody>
      </p:sp>
      <p:sp>
        <p:nvSpPr>
          <p:cNvPr id="3" name="Content Placeholder 2">
            <a:extLst>
              <a:ext uri="{FF2B5EF4-FFF2-40B4-BE49-F238E27FC236}">
                <a16:creationId xmlns:a16="http://schemas.microsoft.com/office/drawing/2014/main" id="{3AFF95AC-EEDA-ED2A-7FB1-65C58E55D69D}"/>
              </a:ext>
            </a:extLst>
          </p:cNvPr>
          <p:cNvSpPr>
            <a:spLocks noGrp="1"/>
          </p:cNvSpPr>
          <p:nvPr>
            <p:ph idx="1"/>
          </p:nvPr>
        </p:nvSpPr>
        <p:spPr>
          <a:xfrm>
            <a:off x="1484310" y="1441175"/>
            <a:ext cx="10018713" cy="4350025"/>
          </a:xfrm>
        </p:spPr>
        <p:txBody>
          <a:bodyPr/>
          <a:lstStyle/>
          <a:p>
            <a:r>
              <a:rPr lang="en-US" dirty="0"/>
              <a:t>It can be said that if two variables are there and cause and effect relationship is there between them, they are said to be correlated. In such a case, change in the  value of one variable makes change in the value of another variable. </a:t>
            </a:r>
            <a:endParaRPr lang="en-US" b="1" dirty="0"/>
          </a:p>
          <a:p>
            <a:endParaRPr lang="en-US" b="1" dirty="0"/>
          </a:p>
          <a:p>
            <a:r>
              <a:rPr lang="en-US" b="1" dirty="0"/>
              <a:t>E.g. </a:t>
            </a:r>
            <a:r>
              <a:rPr lang="en-US" dirty="0"/>
              <a:t>Up to a certain age, if the height of a child increases, his weight will also increase . It means there is cause and effect relationship between height and weight of a child up to a certain age. </a:t>
            </a:r>
          </a:p>
          <a:p>
            <a:r>
              <a:rPr lang="en-US" dirty="0"/>
              <a:t>In above example, Height brings change in weight, therefore height is a cause and weight is considered as effect. </a:t>
            </a:r>
            <a:endParaRPr lang="en-IN" dirty="0"/>
          </a:p>
        </p:txBody>
      </p:sp>
    </p:spTree>
    <p:extLst>
      <p:ext uri="{BB962C8B-B14F-4D97-AF65-F5344CB8AC3E}">
        <p14:creationId xmlns:p14="http://schemas.microsoft.com/office/powerpoint/2010/main" val="1538349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4651F-75A8-F085-9E13-FF39C99DF7D9}"/>
              </a:ext>
            </a:extLst>
          </p:cNvPr>
          <p:cNvSpPr>
            <a:spLocks noGrp="1"/>
          </p:cNvSpPr>
          <p:nvPr>
            <p:ph type="title"/>
          </p:nvPr>
        </p:nvSpPr>
        <p:spPr/>
        <p:txBody>
          <a:bodyPr/>
          <a:lstStyle/>
          <a:p>
            <a:r>
              <a:rPr lang="en-US" b="1" dirty="0"/>
              <a:t>Conti..</a:t>
            </a:r>
            <a:endParaRPr lang="en-IN" b="1" dirty="0"/>
          </a:p>
        </p:txBody>
      </p:sp>
      <p:sp>
        <p:nvSpPr>
          <p:cNvPr id="3" name="Content Placeholder 2">
            <a:extLst>
              <a:ext uri="{FF2B5EF4-FFF2-40B4-BE49-F238E27FC236}">
                <a16:creationId xmlns:a16="http://schemas.microsoft.com/office/drawing/2014/main" id="{359789A1-2790-C777-47F3-B73BE136E4D3}"/>
              </a:ext>
            </a:extLst>
          </p:cNvPr>
          <p:cNvSpPr>
            <a:spLocks noGrp="1"/>
          </p:cNvSpPr>
          <p:nvPr>
            <p:ph idx="1"/>
          </p:nvPr>
        </p:nvSpPr>
        <p:spPr>
          <a:xfrm>
            <a:off x="1484310" y="1958009"/>
            <a:ext cx="10018713" cy="4800600"/>
          </a:xfrm>
        </p:spPr>
        <p:txBody>
          <a:bodyPr/>
          <a:lstStyle/>
          <a:p>
            <a:r>
              <a:rPr lang="en-US" dirty="0"/>
              <a:t>If  cause and effect relationship is not there and values of both variables change , they cannot be said to be correlated. </a:t>
            </a:r>
          </a:p>
          <a:p>
            <a:r>
              <a:rPr lang="en-US" dirty="0"/>
              <a:t>Suppose number of vehicles has been doubled in Ahmedabad in the last ten years and consumption of petrol has been doubled in New Delhi during the same period  . Here , we cannot establish cause and effect relationship between number of vehicles in Ahmedabad and consumption of petrol in New Delhi, though change is seen in both variables at the same time because number of vehicles of Ahmedabad cannot affect the consumption of Petrol in New Delhi. </a:t>
            </a:r>
            <a:endParaRPr lang="en-IN" dirty="0"/>
          </a:p>
        </p:txBody>
      </p:sp>
    </p:spTree>
    <p:extLst>
      <p:ext uri="{BB962C8B-B14F-4D97-AF65-F5344CB8AC3E}">
        <p14:creationId xmlns:p14="http://schemas.microsoft.com/office/powerpoint/2010/main" val="883154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9D1DC-4063-2032-3E46-7094B5E9C9A4}"/>
              </a:ext>
            </a:extLst>
          </p:cNvPr>
          <p:cNvSpPr>
            <a:spLocks noGrp="1"/>
          </p:cNvSpPr>
          <p:nvPr>
            <p:ph type="title"/>
          </p:nvPr>
        </p:nvSpPr>
        <p:spPr/>
        <p:txBody>
          <a:bodyPr/>
          <a:lstStyle/>
          <a:p>
            <a:r>
              <a:rPr lang="en-IN" sz="4000" b="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Examples of correlational research:</a:t>
            </a:r>
            <a:br>
              <a:rPr lang="en-IN" sz="4000" b="1" kern="100" dirty="0">
                <a:effectLst/>
                <a:latin typeface="Calibri" panose="020F0502020204030204" pitchFamily="34" charset="0"/>
                <a:ea typeface="Calibri" panose="020F0502020204030204" pitchFamily="34" charset="0"/>
                <a:cs typeface="Times New Roman" panose="02020603050405020304" pitchFamily="18" charset="0"/>
              </a:rPr>
            </a:br>
            <a:endParaRPr lang="en-IN" b="1" dirty="0"/>
          </a:p>
        </p:txBody>
      </p:sp>
      <p:sp>
        <p:nvSpPr>
          <p:cNvPr id="3" name="Content Placeholder 2">
            <a:extLst>
              <a:ext uri="{FF2B5EF4-FFF2-40B4-BE49-F238E27FC236}">
                <a16:creationId xmlns:a16="http://schemas.microsoft.com/office/drawing/2014/main" id="{5BF23E8C-2A1C-DAAB-43B6-3815FB5CBC56}"/>
              </a:ext>
            </a:extLst>
          </p:cNvPr>
          <p:cNvSpPr>
            <a:spLocks noGrp="1"/>
          </p:cNvSpPr>
          <p:nvPr>
            <p:ph idx="1"/>
          </p:nvPr>
        </p:nvSpPr>
        <p:spPr>
          <a:xfrm>
            <a:off x="1484310" y="1828800"/>
            <a:ext cx="10482403" cy="5029199"/>
          </a:xfrm>
        </p:spPr>
        <p:txBody>
          <a:bodyPr/>
          <a:lstStyle/>
          <a:p>
            <a:pPr marL="342900" lvl="0" indent="-342900">
              <a:lnSpc>
                <a:spcPts val="2400"/>
              </a:lnSpc>
              <a:spcAft>
                <a:spcPts val="900"/>
              </a:spcAft>
              <a:buSzPts val="1000"/>
              <a:buFont typeface="Symbol" panose="05050102010706020507" pitchFamily="18" charset="2"/>
              <a:buChar char=""/>
              <a:tabLst>
                <a:tab pos="457200" algn="l"/>
              </a:tabLst>
            </a:pPr>
            <a:r>
              <a:rPr lang="en-IN" sz="32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Find out if there is a relationship between Facebook shares of your website link and a higher Google ranking.</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2400"/>
              </a:lnSpc>
              <a:spcAft>
                <a:spcPts val="900"/>
              </a:spcAft>
              <a:buSzPts val="1000"/>
              <a:buFont typeface="Symbol" panose="05050102010706020507" pitchFamily="18" charset="2"/>
              <a:buChar char=""/>
              <a:tabLst>
                <a:tab pos="457200" algn="l"/>
              </a:tabLst>
            </a:pPr>
            <a:r>
              <a:rPr lang="en-IN" sz="32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Discover if there is a correlation between gender and class participation in college classes by observing seminars, tracking the frequency and duration of students’ contributions, and categorizing them by gender.</a:t>
            </a:r>
            <a:endParaRPr lang="en-IN" sz="3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107929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90781-5324-07DD-4EE6-B6539F3F30CC}"/>
              </a:ext>
            </a:extLst>
          </p:cNvPr>
          <p:cNvSpPr>
            <a:spLocks noGrp="1"/>
          </p:cNvSpPr>
          <p:nvPr>
            <p:ph type="title"/>
          </p:nvPr>
        </p:nvSpPr>
        <p:spPr>
          <a:xfrm>
            <a:off x="1484311" y="685800"/>
            <a:ext cx="10018713" cy="924339"/>
          </a:xfrm>
        </p:spPr>
        <p:txBody>
          <a:bodyPr>
            <a:normAutofit fontScale="90000"/>
          </a:bodyPr>
          <a:lstStyle/>
          <a:p>
            <a:r>
              <a:rPr lang="en-IN" sz="4000" b="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Causal-comparative research</a:t>
            </a:r>
            <a:br>
              <a:rPr lang="en-IN" sz="40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65B0C5E-0D37-6041-1EF3-9854FF28A07C}"/>
              </a:ext>
            </a:extLst>
          </p:cNvPr>
          <p:cNvSpPr>
            <a:spLocks noGrp="1"/>
          </p:cNvSpPr>
          <p:nvPr>
            <p:ph idx="1"/>
          </p:nvPr>
        </p:nvSpPr>
        <p:spPr>
          <a:xfrm>
            <a:off x="1484310" y="1808922"/>
            <a:ext cx="10018713" cy="5237921"/>
          </a:xfrm>
        </p:spPr>
        <p:txBody>
          <a:bodyPr>
            <a:normAutofit/>
          </a:bodyPr>
          <a:lstStyle/>
          <a:p>
            <a:pPr algn="just">
              <a:lnSpc>
                <a:spcPts val="2400"/>
              </a:lnSpc>
              <a:spcBef>
                <a:spcPts val="600"/>
              </a:spcBef>
              <a:spcAft>
                <a:spcPts val="600"/>
              </a:spcAft>
            </a:pPr>
            <a:r>
              <a:rPr lang="en-IN"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The causal-comparative research method is used to identify a cause and effect relationship between two variables, where one variable is </a:t>
            </a:r>
            <a:r>
              <a:rPr lang="en-IN" b="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dependent and another is independent. </a:t>
            </a:r>
            <a:r>
              <a:rPr lang="en-IN"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It has aspects in common with experimentation but cannot be considered a true experiment.</a:t>
            </a:r>
          </a:p>
          <a:p>
            <a:pPr algn="just">
              <a:lnSpc>
                <a:spcPts val="2400"/>
              </a:lnSpc>
              <a:spcBef>
                <a:spcPts val="600"/>
              </a:spcBef>
              <a:spcAft>
                <a:spcPts val="600"/>
              </a:spcAft>
            </a:pPr>
            <a:r>
              <a:rPr lang="en-IN" b="1" kern="0" dirty="0">
                <a:solidFill>
                  <a:srgbClr val="1E2124"/>
                </a:solidFill>
                <a:latin typeface="Helvetica" panose="020B0604020202020204" pitchFamily="34" charset="0"/>
                <a:ea typeface="Times New Roman" panose="02020603050405020304" pitchFamily="18" charset="0"/>
                <a:cs typeface="Times New Roman" panose="02020603050405020304" pitchFamily="18" charset="0"/>
              </a:rPr>
              <a:t>E.g. </a:t>
            </a:r>
            <a:r>
              <a:rPr lang="en-IN" kern="0" dirty="0">
                <a:solidFill>
                  <a:srgbClr val="1E2124"/>
                </a:solidFill>
                <a:latin typeface="Helvetica" panose="020B0604020202020204" pitchFamily="34" charset="0"/>
                <a:ea typeface="Times New Roman" panose="02020603050405020304" pitchFamily="18" charset="0"/>
                <a:cs typeface="Times New Roman" panose="02020603050405020304" pitchFamily="18" charset="0"/>
              </a:rPr>
              <a:t>In comparative study of Mathematical Reasoning Ability of students in the context of their intelligence. MRA  will be dependent variable and Intelligence will be considered as an independence variable because in this study, the impact of Intelligence on MRA is to be checked. Researcher divides the students according to level of their intelligence, which may be high, low and medium. Levels will be decided according to the need and objectives of the study. </a:t>
            </a:r>
            <a:endParaRPr lang="en-IN"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453988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812D7-0129-04B2-D525-2C9DD0E9851E}"/>
              </a:ext>
            </a:extLst>
          </p:cNvPr>
          <p:cNvSpPr>
            <a:spLocks noGrp="1"/>
          </p:cNvSpPr>
          <p:nvPr>
            <p:ph type="title"/>
          </p:nvPr>
        </p:nvSpPr>
        <p:spPr>
          <a:xfrm>
            <a:off x="1484311" y="685800"/>
            <a:ext cx="10018713" cy="327991"/>
          </a:xfrm>
        </p:spPr>
        <p:txBody>
          <a:bodyPr>
            <a:normAutofit fontScale="90000"/>
          </a:bodyPr>
          <a:lstStyle/>
          <a:p>
            <a:r>
              <a:rPr lang="en-US" b="1" dirty="0"/>
              <a:t>Conti..</a:t>
            </a:r>
            <a:endParaRPr lang="en-IN" b="1" dirty="0"/>
          </a:p>
        </p:txBody>
      </p:sp>
      <p:sp>
        <p:nvSpPr>
          <p:cNvPr id="3" name="Content Placeholder 2">
            <a:extLst>
              <a:ext uri="{FF2B5EF4-FFF2-40B4-BE49-F238E27FC236}">
                <a16:creationId xmlns:a16="http://schemas.microsoft.com/office/drawing/2014/main" id="{D0C2EF17-3352-824F-72B6-1EA49B8E8BE2}"/>
              </a:ext>
            </a:extLst>
          </p:cNvPr>
          <p:cNvSpPr>
            <a:spLocks noGrp="1"/>
          </p:cNvSpPr>
          <p:nvPr>
            <p:ph idx="1"/>
          </p:nvPr>
        </p:nvSpPr>
        <p:spPr>
          <a:xfrm>
            <a:off x="1484310" y="1143001"/>
            <a:ext cx="10018713" cy="5715000"/>
          </a:xfrm>
        </p:spPr>
        <p:txBody>
          <a:bodyPr>
            <a:normAutofit fontScale="55000" lnSpcReduction="20000"/>
          </a:bodyPr>
          <a:lstStyle/>
          <a:p>
            <a:pPr>
              <a:lnSpc>
                <a:spcPts val="2400"/>
              </a:lnSpc>
              <a:spcBef>
                <a:spcPts val="600"/>
              </a:spcBef>
              <a:spcAft>
                <a:spcPts val="600"/>
              </a:spcAft>
            </a:pPr>
            <a:endParaRPr lang="en-IN" sz="2800" b="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endParaRPr>
          </a:p>
          <a:p>
            <a:pPr>
              <a:lnSpc>
                <a:spcPts val="2400"/>
              </a:lnSpc>
              <a:spcBef>
                <a:spcPts val="600"/>
              </a:spcBef>
            </a:pPr>
            <a:r>
              <a:rPr lang="en-IN" sz="4800" kern="0" dirty="0">
                <a:solidFill>
                  <a:srgbClr val="1E2124"/>
                </a:solidFill>
                <a:latin typeface="Helvetica" panose="020B0604020202020204" pitchFamily="34" charset="0"/>
                <a:ea typeface="Calibri" panose="020F0502020204030204" pitchFamily="34" charset="0"/>
                <a:cs typeface="Times New Roman" panose="02020603050405020304" pitchFamily="18" charset="0"/>
              </a:rPr>
              <a:t>The research method , in which the reasons or factors, responsible for  occurrence of a particular event are required after the occurrence of that event is called  causal comparative research method. It means, it establishes the cause and effect relationship between two variables without conducting an experiment. </a:t>
            </a:r>
            <a:endParaRPr lang="en-IN" sz="4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4800" b="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Goal</a:t>
            </a:r>
            <a:endParaRPr lang="en-IN" sz="4800" b="1"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4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The goal of causal-comparative research is to identify how different groups are affected by the same circumstance.</a:t>
            </a:r>
          </a:p>
          <a:p>
            <a:pPr marL="0" indent="0">
              <a:lnSpc>
                <a:spcPts val="2400"/>
              </a:lnSpc>
              <a:spcBef>
                <a:spcPts val="600"/>
              </a:spcBef>
              <a:spcAft>
                <a:spcPts val="600"/>
              </a:spcAft>
              <a:buNone/>
            </a:pPr>
            <a:endParaRPr lang="en-IN" sz="4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4800" b="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When to Use</a:t>
            </a:r>
            <a:endParaRPr lang="en-IN" sz="4800" b="1"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4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Causal-comparative/quasi-experimental research is often used when experimental research is deemed infeasible, unethical, or prohibited.</a:t>
            </a:r>
            <a:endParaRPr lang="en-IN" sz="4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47720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178BE-AB5F-FF15-D317-1F170E40451A}"/>
              </a:ext>
            </a:extLst>
          </p:cNvPr>
          <p:cNvSpPr>
            <a:spLocks noGrp="1"/>
          </p:cNvSpPr>
          <p:nvPr>
            <p:ph type="title"/>
          </p:nvPr>
        </p:nvSpPr>
        <p:spPr/>
        <p:txBody>
          <a:bodyPr>
            <a:normAutofit/>
          </a:bodyPr>
          <a:lstStyle/>
          <a:p>
            <a:r>
              <a:rPr lang="en-IN" sz="2800" b="1" kern="0" dirty="0">
                <a:solidFill>
                  <a:srgbClr val="1E2124"/>
                </a:solidFill>
                <a:latin typeface="Helvetica" panose="020B0604020202020204" pitchFamily="34" charset="0"/>
                <a:ea typeface="Times New Roman" panose="02020603050405020304" pitchFamily="18" charset="0"/>
                <a:cs typeface="Times New Roman" panose="02020603050405020304" pitchFamily="18" charset="0"/>
              </a:rPr>
              <a:t>E</a:t>
            </a:r>
            <a:r>
              <a:rPr lang="en-IN" sz="2800" b="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xamples of causal-comparative research:</a:t>
            </a:r>
            <a:br>
              <a:rPr lang="en-IN" sz="2800" b="1"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5400" b="1" dirty="0"/>
          </a:p>
        </p:txBody>
      </p:sp>
      <p:sp>
        <p:nvSpPr>
          <p:cNvPr id="3" name="Content Placeholder 2">
            <a:extLst>
              <a:ext uri="{FF2B5EF4-FFF2-40B4-BE49-F238E27FC236}">
                <a16:creationId xmlns:a16="http://schemas.microsoft.com/office/drawing/2014/main" id="{316ABD2E-9B58-346C-4218-93830AB202A6}"/>
              </a:ext>
            </a:extLst>
          </p:cNvPr>
          <p:cNvSpPr>
            <a:spLocks noGrp="1"/>
          </p:cNvSpPr>
          <p:nvPr>
            <p:ph idx="1"/>
          </p:nvPr>
        </p:nvSpPr>
        <p:spPr>
          <a:xfrm>
            <a:off x="1484310" y="1669775"/>
            <a:ext cx="10018713" cy="4121426"/>
          </a:xfrm>
        </p:spPr>
        <p:txBody>
          <a:bodyPr/>
          <a:lstStyle/>
          <a:p>
            <a:pPr marL="342900" lvl="0" indent="-342900">
              <a:lnSpc>
                <a:spcPts val="2400"/>
              </a:lnSpc>
              <a:spcAft>
                <a:spcPts val="900"/>
              </a:spcAft>
              <a:buSzPts val="1000"/>
              <a:buFont typeface="Symbol" panose="05050102010706020507" pitchFamily="18" charset="2"/>
              <a:buChar char=""/>
              <a:tabLst>
                <a:tab pos="457200" algn="l"/>
              </a:tabLst>
            </a:pPr>
            <a:r>
              <a:rPr lang="en-IN"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Your hypothesis is that sixth-grade students who attend an afterschool program will achieve better grades. You choose two similar groups of sixth-graders who attend different schools—one with an afterschool program and one without.</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2400"/>
              </a:lnSpc>
              <a:spcAft>
                <a:spcPts val="900"/>
              </a:spcAft>
              <a:buSzPts val="1000"/>
              <a:buFont typeface="Symbol" panose="05050102010706020507" pitchFamily="18" charset="2"/>
              <a:buChar char=""/>
              <a:tabLst>
                <a:tab pos="457200" algn="l"/>
              </a:tabLst>
            </a:pPr>
            <a:r>
              <a:rPr lang="en-IN"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Find the difference in wages between men and women with a comparative study of wages earned by both genders across various occupations and locations.</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84764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AF899-38B1-BC5B-9A64-2036469A2E2A}"/>
              </a:ext>
            </a:extLst>
          </p:cNvPr>
          <p:cNvSpPr>
            <a:spLocks noGrp="1"/>
          </p:cNvSpPr>
          <p:nvPr>
            <p:ph type="title"/>
          </p:nvPr>
        </p:nvSpPr>
        <p:spPr/>
        <p:txBody>
          <a:bodyPr/>
          <a:lstStyle/>
          <a:p>
            <a:r>
              <a:rPr lang="en-US" b="1" dirty="0"/>
              <a:t>Example </a:t>
            </a:r>
            <a:endParaRPr lang="en-IN" b="1" dirty="0"/>
          </a:p>
        </p:txBody>
      </p:sp>
      <p:sp>
        <p:nvSpPr>
          <p:cNvPr id="3" name="Content Placeholder 2">
            <a:extLst>
              <a:ext uri="{FF2B5EF4-FFF2-40B4-BE49-F238E27FC236}">
                <a16:creationId xmlns:a16="http://schemas.microsoft.com/office/drawing/2014/main" id="{674BA124-3ED1-C9B6-B2C0-7871A2591AAB}"/>
              </a:ext>
            </a:extLst>
          </p:cNvPr>
          <p:cNvSpPr>
            <a:spLocks noGrp="1"/>
          </p:cNvSpPr>
          <p:nvPr>
            <p:ph idx="1"/>
          </p:nvPr>
        </p:nvSpPr>
        <p:spPr>
          <a:xfrm>
            <a:off x="1484310" y="1898248"/>
            <a:ext cx="10553361" cy="4803493"/>
          </a:xfrm>
        </p:spPr>
        <p:txBody>
          <a:bodyPr/>
          <a:lstStyle/>
          <a:p>
            <a:pPr marL="0" indent="0">
              <a:buNone/>
            </a:pPr>
            <a:r>
              <a:rPr lang="en-US" dirty="0"/>
              <a:t>This method is also known as </a:t>
            </a:r>
            <a:r>
              <a:rPr lang="en-US" b="1" dirty="0"/>
              <a:t>Ex-Post Facto </a:t>
            </a:r>
            <a:r>
              <a:rPr lang="en-US" dirty="0"/>
              <a:t>research design . </a:t>
            </a:r>
          </a:p>
          <a:p>
            <a:pPr marL="0" indent="0">
              <a:buNone/>
            </a:pPr>
            <a:r>
              <a:rPr lang="en-US" dirty="0"/>
              <a:t>E.G. Suppose we want to study the impact of faculty of Undergraduate students on their adjustment. Here , we can’t deliberately make particular students to get admission in Science, Arts and Commerce faculty after completion of their higher secondary education , Doing so is impractical also.. But in this case , we have to select those students for study, who have already completed first, second and third  year of  their study in respective faculty . After that , we can administer our research tool (here adjustment inventory ) to know and compare their adjustment. Then we can conclude, whether there has been any effect of faculty on adjustment of students or not . </a:t>
            </a:r>
            <a:endParaRPr lang="en-IN" dirty="0"/>
          </a:p>
        </p:txBody>
      </p:sp>
    </p:spTree>
    <p:extLst>
      <p:ext uri="{BB962C8B-B14F-4D97-AF65-F5344CB8AC3E}">
        <p14:creationId xmlns:p14="http://schemas.microsoft.com/office/powerpoint/2010/main" val="981566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A73E6-5E45-9A7B-2996-9C7262EF66FE}"/>
              </a:ext>
            </a:extLst>
          </p:cNvPr>
          <p:cNvSpPr>
            <a:spLocks noGrp="1"/>
          </p:cNvSpPr>
          <p:nvPr>
            <p:ph type="title"/>
          </p:nvPr>
        </p:nvSpPr>
        <p:spPr>
          <a:xfrm>
            <a:off x="1484311" y="685801"/>
            <a:ext cx="10018713" cy="381000"/>
          </a:xfrm>
        </p:spPr>
        <p:txBody>
          <a:bodyPr>
            <a:normAutofit fontScale="90000"/>
          </a:bodyPr>
          <a:lstStyle/>
          <a:p>
            <a:r>
              <a:rPr lang="en-IN" b="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Experimental research</a:t>
            </a:r>
            <a:br>
              <a:rPr lang="en-IN" b="1"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7200" b="1" dirty="0"/>
          </a:p>
        </p:txBody>
      </p:sp>
      <p:sp>
        <p:nvSpPr>
          <p:cNvPr id="3" name="Content Placeholder 2">
            <a:extLst>
              <a:ext uri="{FF2B5EF4-FFF2-40B4-BE49-F238E27FC236}">
                <a16:creationId xmlns:a16="http://schemas.microsoft.com/office/drawing/2014/main" id="{C4A08F87-F153-1A97-B472-D854726E2F91}"/>
              </a:ext>
            </a:extLst>
          </p:cNvPr>
          <p:cNvSpPr>
            <a:spLocks noGrp="1"/>
          </p:cNvSpPr>
          <p:nvPr>
            <p:ph idx="1"/>
          </p:nvPr>
        </p:nvSpPr>
        <p:spPr>
          <a:xfrm>
            <a:off x="1484310" y="834887"/>
            <a:ext cx="10018713" cy="4956313"/>
          </a:xfrm>
        </p:spPr>
        <p:txBody>
          <a:bodyPr/>
          <a:lstStyle/>
          <a:p>
            <a:pPr algn="just">
              <a:lnSpc>
                <a:spcPts val="2400"/>
              </a:lnSpc>
              <a:spcBef>
                <a:spcPts val="600"/>
              </a:spcBef>
              <a:spcAft>
                <a:spcPts val="600"/>
              </a:spcAft>
            </a:pPr>
            <a:r>
              <a:rPr lang="en-IN" sz="2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There are three types of experimental research designs: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ts val="2400"/>
              </a:lnSpc>
              <a:spcBef>
                <a:spcPts val="600"/>
              </a:spcBef>
              <a:spcAft>
                <a:spcPts val="600"/>
              </a:spcAft>
            </a:pPr>
            <a:r>
              <a:rPr lang="en-IN" sz="2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Pre-experimental: a researcher observes a group or multiple groups after implementing a treatment or introducing a factor that is assumed to lead to changes in the groups. This is used to understand if further research is necessary for the observed groups.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ts val="2400"/>
              </a:lnSpc>
              <a:spcBef>
                <a:spcPts val="600"/>
              </a:spcBef>
              <a:spcAft>
                <a:spcPts val="600"/>
              </a:spcAft>
            </a:pPr>
            <a:r>
              <a:rPr lang="en-IN" sz="2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True experimental: depends on statistical analysis to support or refute the hypothesis. The participants must be chosen in random sampling.</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ts val="2400"/>
              </a:lnSpc>
              <a:spcBef>
                <a:spcPts val="600"/>
              </a:spcBef>
              <a:spcAft>
                <a:spcPts val="600"/>
              </a:spcAft>
            </a:pPr>
            <a:r>
              <a:rPr lang="en-IN" sz="2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Quasi-experimental: participants are not chosen at random.</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8640270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27204-B15A-BC23-FA7A-061019B9B4A8}"/>
              </a:ext>
            </a:extLst>
          </p:cNvPr>
          <p:cNvSpPr>
            <a:spLocks noGrp="1"/>
          </p:cNvSpPr>
          <p:nvPr>
            <p:ph type="title"/>
          </p:nvPr>
        </p:nvSpPr>
        <p:spPr/>
        <p:txBody>
          <a:bodyPr/>
          <a:lstStyle/>
          <a:p>
            <a:r>
              <a:rPr lang="en-US" b="1" dirty="0"/>
              <a:t>Conti….</a:t>
            </a:r>
            <a:endParaRPr lang="en-IN" b="1" dirty="0"/>
          </a:p>
        </p:txBody>
      </p:sp>
      <p:sp>
        <p:nvSpPr>
          <p:cNvPr id="3" name="Content Placeholder 2">
            <a:extLst>
              <a:ext uri="{FF2B5EF4-FFF2-40B4-BE49-F238E27FC236}">
                <a16:creationId xmlns:a16="http://schemas.microsoft.com/office/drawing/2014/main" id="{5F81DCE5-154D-1BB2-2888-1F75B451220C}"/>
              </a:ext>
            </a:extLst>
          </p:cNvPr>
          <p:cNvSpPr>
            <a:spLocks noGrp="1"/>
          </p:cNvSpPr>
          <p:nvPr>
            <p:ph idx="1"/>
          </p:nvPr>
        </p:nvSpPr>
        <p:spPr>
          <a:xfrm>
            <a:off x="1484310" y="1789043"/>
            <a:ext cx="10018713" cy="4701209"/>
          </a:xfrm>
        </p:spPr>
        <p:txBody>
          <a:bodyPr/>
          <a:lstStyle/>
          <a:p>
            <a:pPr>
              <a:lnSpc>
                <a:spcPts val="2400"/>
              </a:lnSpc>
              <a:spcBef>
                <a:spcPts val="600"/>
              </a:spcBef>
              <a:spcAft>
                <a:spcPts val="600"/>
              </a:spcAft>
            </a:pPr>
            <a:r>
              <a:rPr lang="en-IN" sz="2800" b="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Goal</a:t>
            </a:r>
            <a:endParaRPr lang="en-IN" sz="2800" b="1"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2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The goal of experimental research is to prove or disprove a specific hypothesis. It uses the scientific method to establish the cause-effect relationship among a group of variables.</a:t>
            </a:r>
          </a:p>
          <a:p>
            <a:pPr>
              <a:lnSpc>
                <a:spcPts val="2400"/>
              </a:lnSpc>
              <a:spcBef>
                <a:spcPts val="600"/>
              </a:spcBef>
              <a:spcAft>
                <a:spcPts val="600"/>
              </a:spcAft>
            </a:pP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2800" b="1"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When to Use</a:t>
            </a:r>
            <a:endParaRPr lang="en-IN" sz="2800" b="1"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2400"/>
              </a:lnSpc>
              <a:spcBef>
                <a:spcPts val="600"/>
              </a:spcBef>
              <a:spcAft>
                <a:spcPts val="600"/>
              </a:spcAft>
            </a:pPr>
            <a:r>
              <a:rPr lang="en-IN" sz="2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Use experimental research when you need to compare two or more groups that are experiencing different conditions.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08756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895C8-556D-78ED-6119-6A973E34DA2D}"/>
              </a:ext>
            </a:extLst>
          </p:cNvPr>
          <p:cNvSpPr>
            <a:spLocks noGrp="1"/>
          </p:cNvSpPr>
          <p:nvPr>
            <p:ph type="title"/>
          </p:nvPr>
        </p:nvSpPr>
        <p:spPr/>
        <p:txBody>
          <a:bodyPr/>
          <a:lstStyle/>
          <a:p>
            <a:r>
              <a:rPr lang="en-IN" sz="40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Examples of Experimental research:</a:t>
            </a:r>
            <a:br>
              <a:rPr lang="en-IN" sz="40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57FC5053-5612-035A-622E-0B76011CE687}"/>
              </a:ext>
            </a:extLst>
          </p:cNvPr>
          <p:cNvSpPr>
            <a:spLocks noGrp="1"/>
          </p:cNvSpPr>
          <p:nvPr>
            <p:ph idx="1"/>
          </p:nvPr>
        </p:nvSpPr>
        <p:spPr>
          <a:xfrm>
            <a:off x="1484310" y="1898375"/>
            <a:ext cx="10018713" cy="4422912"/>
          </a:xfrm>
        </p:spPr>
        <p:txBody>
          <a:bodyPr/>
          <a:lstStyle/>
          <a:p>
            <a:pPr marL="0" indent="0">
              <a:lnSpc>
                <a:spcPts val="2400"/>
              </a:lnSpc>
              <a:spcBef>
                <a:spcPts val="600"/>
              </a:spcBef>
              <a:spcAft>
                <a:spcPts val="600"/>
              </a:spcAft>
              <a:buNone/>
            </a:pPr>
            <a:r>
              <a:rPr lang="en-IN" sz="2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1)Your company wants to market your new product. You choose to run two different versions of your advertisement as part of your marketing plan. You track the performance of each ad to determine which is the most effective.</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ts val="2400"/>
              </a:lnSpc>
              <a:spcAft>
                <a:spcPts val="900"/>
              </a:spcAft>
              <a:buSzPts val="1000"/>
              <a:buNone/>
              <a:tabLst>
                <a:tab pos="457200" algn="l"/>
              </a:tabLst>
            </a:pPr>
            <a:r>
              <a:rPr lang="en-IN" sz="2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You take your chosen advertisement and show it to two different demographic groups to see which groups produce the best results.</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ts val="2400"/>
              </a:lnSpc>
              <a:spcAft>
                <a:spcPts val="800"/>
              </a:spcAft>
              <a:buSzPts val="1000"/>
              <a:buNone/>
              <a:tabLst>
                <a:tab pos="457200" algn="l"/>
              </a:tabLst>
            </a:pPr>
            <a:r>
              <a:rPr lang="en-IN" sz="2800" kern="0" dirty="0">
                <a:solidFill>
                  <a:srgbClr val="1E2124"/>
                </a:solidFill>
                <a:effectLst/>
                <a:latin typeface="Helvetica" panose="020B0604020202020204" pitchFamily="34" charset="0"/>
                <a:ea typeface="Times New Roman" panose="02020603050405020304" pitchFamily="18" charset="0"/>
                <a:cs typeface="Times New Roman" panose="02020603050405020304" pitchFamily="18" charset="0"/>
              </a:rPr>
              <a:t>You create multiple prototypes of a product and test performance and capability to choose the most effective design.</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038777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870D5-A702-8AC7-A839-A1DD7599787C}"/>
              </a:ext>
            </a:extLst>
          </p:cNvPr>
          <p:cNvSpPr>
            <a:spLocks noGrp="1"/>
          </p:cNvSpPr>
          <p:nvPr>
            <p:ph type="title"/>
          </p:nvPr>
        </p:nvSpPr>
        <p:spPr>
          <a:xfrm>
            <a:off x="1484311" y="0"/>
            <a:ext cx="10018714" cy="1066801"/>
          </a:xfrm>
        </p:spPr>
        <p:txBody>
          <a:bodyPr>
            <a:normAutofit/>
          </a:bodyPr>
          <a:lstStyle/>
          <a:p>
            <a:r>
              <a:rPr lang="en-US" b="1" dirty="0"/>
              <a:t>Example</a:t>
            </a:r>
            <a:endParaRPr lang="en-IN" b="1" dirty="0"/>
          </a:p>
        </p:txBody>
      </p:sp>
      <p:sp>
        <p:nvSpPr>
          <p:cNvPr id="3" name="Content Placeholder 2">
            <a:extLst>
              <a:ext uri="{FF2B5EF4-FFF2-40B4-BE49-F238E27FC236}">
                <a16:creationId xmlns:a16="http://schemas.microsoft.com/office/drawing/2014/main" id="{B13552E7-B8ED-E21A-62BE-A2E30892A8FF}"/>
              </a:ext>
            </a:extLst>
          </p:cNvPr>
          <p:cNvSpPr>
            <a:spLocks noGrp="1"/>
          </p:cNvSpPr>
          <p:nvPr>
            <p:ph idx="1"/>
          </p:nvPr>
        </p:nvSpPr>
        <p:spPr>
          <a:xfrm>
            <a:off x="1484310" y="1944547"/>
            <a:ext cx="10018713" cy="3846653"/>
          </a:xfrm>
        </p:spPr>
        <p:txBody>
          <a:bodyPr>
            <a:normAutofit lnSpcReduction="10000"/>
          </a:bodyPr>
          <a:lstStyle/>
          <a:p>
            <a:pPr algn="just"/>
            <a:r>
              <a:rPr lang="en-US" sz="3200" dirty="0"/>
              <a:t>Suppose we want to check the impact of Teaching strategies like Concept Attainment Model (CAM) and Project Method (PM) on the achievement of students in Geography , then we will teach certain units of Geography to the students by these two strategies keeping in mind the procedure of Experimental method. In this case , teaching strategy will act as a cause that can affect the achievement of students .</a:t>
            </a:r>
            <a:r>
              <a:rPr lang="en-US" dirty="0"/>
              <a:t> </a:t>
            </a:r>
            <a:endParaRPr lang="en-IN" dirty="0"/>
          </a:p>
        </p:txBody>
      </p:sp>
    </p:spTree>
    <p:extLst>
      <p:ext uri="{BB962C8B-B14F-4D97-AF65-F5344CB8AC3E}">
        <p14:creationId xmlns:p14="http://schemas.microsoft.com/office/powerpoint/2010/main" val="1793951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DF2B8-BC8A-B52E-A901-7BE7EC90D23C}"/>
              </a:ext>
            </a:extLst>
          </p:cNvPr>
          <p:cNvSpPr>
            <a:spLocks noGrp="1"/>
          </p:cNvSpPr>
          <p:nvPr>
            <p:ph type="title"/>
          </p:nvPr>
        </p:nvSpPr>
        <p:spPr/>
        <p:txBody>
          <a:bodyPr/>
          <a:lstStyle/>
          <a:p>
            <a:r>
              <a:rPr lang="en-US" b="1" dirty="0"/>
              <a:t>Process of Quantitative Research </a:t>
            </a:r>
            <a:endParaRPr lang="en-IN" b="1" dirty="0"/>
          </a:p>
        </p:txBody>
      </p:sp>
      <p:sp>
        <p:nvSpPr>
          <p:cNvPr id="7" name="Content Placeholder 6">
            <a:extLst>
              <a:ext uri="{FF2B5EF4-FFF2-40B4-BE49-F238E27FC236}">
                <a16:creationId xmlns:a16="http://schemas.microsoft.com/office/drawing/2014/main" id="{D083285D-B72D-A3DF-458F-EF2E5F92413A}"/>
              </a:ext>
            </a:extLst>
          </p:cNvPr>
          <p:cNvSpPr>
            <a:spLocks noGrp="1"/>
          </p:cNvSpPr>
          <p:nvPr>
            <p:ph idx="1"/>
          </p:nvPr>
        </p:nvSpPr>
        <p:spPr>
          <a:xfrm>
            <a:off x="1484310" y="2047461"/>
            <a:ext cx="10707690" cy="5108713"/>
          </a:xfrm>
        </p:spPr>
        <p:txBody>
          <a:bodyPr>
            <a:normAutofit/>
          </a:bodyPr>
          <a:lstStyle/>
          <a:p>
            <a:r>
              <a:rPr kumimoji="0" lang="en-US" altLang="en-US" sz="2400" b="1"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Step 1:</a:t>
            </a:r>
            <a:r>
              <a:rPr kumimoji="0" lang="en-US" altLang="en-US" sz="2400" b="1" i="0" u="none" strike="noStrike" cap="none" normalizeH="0" baseline="0" dirty="0">
                <a:ln>
                  <a:noFill/>
                </a:ln>
                <a:solidFill>
                  <a:srgbClr val="4D5968"/>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Clearly define your research problem or question.</a:t>
            </a:r>
            <a:br>
              <a:rPr kumimoji="0" lang="en-US" altLang="en-US" sz="2400" b="0"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br>
            <a:r>
              <a:rPr kumimoji="0" lang="en-US" altLang="en-US" sz="2400" b="1"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Step 2:</a:t>
            </a:r>
            <a:r>
              <a:rPr kumimoji="0" lang="en-US" altLang="en-US" sz="2400" b="1" i="0" u="none" strike="noStrike" cap="none" normalizeH="0" baseline="0" dirty="0">
                <a:ln>
                  <a:noFill/>
                </a:ln>
                <a:solidFill>
                  <a:srgbClr val="4D5968"/>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Conduct a literature review to identify relevant studies and theories related to your research topic.</a:t>
            </a:r>
            <a:br>
              <a:rPr kumimoji="0" lang="en-US" altLang="en-US" sz="2400" b="0"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br>
            <a:r>
              <a:rPr kumimoji="0" lang="en-US" altLang="en-US" sz="2400" b="1"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Step 3:</a:t>
            </a:r>
            <a:r>
              <a:rPr kumimoji="0" lang="en-US" altLang="en-US" sz="2400" b="1" i="0" u="none" strike="noStrike" cap="none" normalizeH="0" baseline="0" dirty="0">
                <a:ln>
                  <a:noFill/>
                </a:ln>
                <a:solidFill>
                  <a:srgbClr val="4D5968"/>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Develop specific hypotheses or research questions that you aim to answer through your research.</a:t>
            </a:r>
            <a:br>
              <a:rPr kumimoji="0" lang="en-US" altLang="en-US" sz="2400" b="0"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br>
            <a:r>
              <a:rPr kumimoji="0" lang="en-US" altLang="en-US" sz="2400" b="1"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Step 4:</a:t>
            </a:r>
            <a:r>
              <a:rPr kumimoji="0" lang="en-US" altLang="en-US" sz="2400" b="1" i="0" u="none" strike="noStrike" cap="none" normalizeH="0" baseline="0" dirty="0">
                <a:ln>
                  <a:noFill/>
                </a:ln>
                <a:solidFill>
                  <a:srgbClr val="4D5968"/>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Decide on the research design (e.g., experimental, cross-sectional, longitudinal) and your target population, and select a representative sample. Also, develop a data collection plan and choose appropriate data collection methods (e.g., surveys, experiments, observations).</a:t>
            </a:r>
            <a:br>
              <a:rPr kumimoji="0" lang="en-US" altLang="en-US" sz="2400" b="0"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br>
            <a:r>
              <a:rPr kumimoji="0" lang="en-US" altLang="en-US" sz="2400" b="1"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Step 5:</a:t>
            </a:r>
            <a:r>
              <a:rPr kumimoji="0" lang="en-US" altLang="en-US" sz="2400" b="1" i="0" u="none" strike="noStrike" cap="none" normalizeH="0" baseline="0" dirty="0">
                <a:ln>
                  <a:noFill/>
                </a:ln>
                <a:solidFill>
                  <a:srgbClr val="4D5968"/>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Choose valid and reliable measurement instruments (e.g., questionnaires, scales) to collect data. Make sure to test your measurement tools before actual research.</a:t>
            </a:r>
            <a:br>
              <a:rPr kumimoji="0" lang="en-US" altLang="en-US" sz="2400" b="0"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br>
            <a:endParaRPr lang="en-IN" dirty="0"/>
          </a:p>
        </p:txBody>
      </p:sp>
    </p:spTree>
    <p:extLst>
      <p:ext uri="{BB962C8B-B14F-4D97-AF65-F5344CB8AC3E}">
        <p14:creationId xmlns:p14="http://schemas.microsoft.com/office/powerpoint/2010/main" val="2147856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72E64-202E-6118-1A0B-2E8676364A49}"/>
              </a:ext>
            </a:extLst>
          </p:cNvPr>
          <p:cNvSpPr>
            <a:spLocks noGrp="1"/>
          </p:cNvSpPr>
          <p:nvPr>
            <p:ph type="title"/>
          </p:nvPr>
        </p:nvSpPr>
        <p:spPr/>
        <p:txBody>
          <a:bodyPr/>
          <a:lstStyle/>
          <a:p>
            <a:r>
              <a:rPr lang="en-US" b="1" dirty="0"/>
              <a:t>Conti…</a:t>
            </a:r>
            <a:endParaRPr lang="en-IN" b="1" dirty="0"/>
          </a:p>
        </p:txBody>
      </p:sp>
      <p:sp>
        <p:nvSpPr>
          <p:cNvPr id="3" name="Content Placeholder 2">
            <a:extLst>
              <a:ext uri="{FF2B5EF4-FFF2-40B4-BE49-F238E27FC236}">
                <a16:creationId xmlns:a16="http://schemas.microsoft.com/office/drawing/2014/main" id="{B3ED1EE7-8FB5-97A8-50C3-5906CE8ECDC9}"/>
              </a:ext>
            </a:extLst>
          </p:cNvPr>
          <p:cNvSpPr>
            <a:spLocks noGrp="1"/>
          </p:cNvSpPr>
          <p:nvPr>
            <p:ph idx="1"/>
          </p:nvPr>
        </p:nvSpPr>
        <p:spPr>
          <a:xfrm>
            <a:off x="1484310" y="2136913"/>
            <a:ext cx="10561916" cy="4731025"/>
          </a:xfrm>
        </p:spPr>
        <p:txBody>
          <a:bodyPr>
            <a:normAutofit/>
          </a:bodyPr>
          <a:lstStyle/>
          <a:p>
            <a:r>
              <a:rPr kumimoji="0" lang="en-US" altLang="en-US" sz="2400" b="1"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Step 6:</a:t>
            </a:r>
            <a:r>
              <a:rPr kumimoji="0" lang="en-US" altLang="en-US" sz="2400" b="1" i="0" u="none" strike="noStrike" cap="none" normalizeH="0" baseline="0" dirty="0">
                <a:ln>
                  <a:noFill/>
                </a:ln>
                <a:solidFill>
                  <a:srgbClr val="4D5968"/>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Administer your selected data collection methods to your sample population.</a:t>
            </a:r>
            <a:br>
              <a:rPr kumimoji="0" lang="en-US" altLang="en-US" sz="2400" b="0"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br>
            <a:r>
              <a:rPr kumimoji="0" lang="en-US" altLang="en-US" sz="2400" b="1"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Step 7:</a:t>
            </a:r>
            <a:r>
              <a:rPr kumimoji="0" lang="en-US" altLang="en-US" sz="2400" b="1" i="0" u="none" strike="noStrike" cap="none" normalizeH="0" baseline="0" dirty="0">
                <a:ln>
                  <a:noFill/>
                </a:ln>
                <a:solidFill>
                  <a:srgbClr val="4D5968"/>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Select appropriate statistical techniques (e.g., descriptive statistics, inferential statistics) based on your research design and hypotheses. Analyze the data to test your hypotheses or answer your research questions.</a:t>
            </a:r>
            <a:br>
              <a:rPr kumimoji="0" lang="en-US" altLang="en-US" sz="2400" b="0"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br>
            <a:r>
              <a:rPr kumimoji="0" lang="en-US" altLang="en-US" sz="2400" b="1"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Step 8:</a:t>
            </a:r>
            <a:r>
              <a:rPr kumimoji="0" lang="en-US" altLang="en-US" sz="2400" b="1" i="0" u="none" strike="noStrike" cap="none" normalizeH="0" baseline="0" dirty="0">
                <a:ln>
                  <a:noFill/>
                </a:ln>
                <a:solidFill>
                  <a:srgbClr val="4D5968"/>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Interpret the statistical findings and summarize them to determine if they support or refute your hypothesis.</a:t>
            </a:r>
            <a:br>
              <a:rPr kumimoji="0" lang="en-US" altLang="en-US" sz="2400" b="0"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br>
            <a:r>
              <a:rPr kumimoji="0" lang="en-US" altLang="en-US" sz="2400" b="1"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Step 9:</a:t>
            </a:r>
            <a:r>
              <a:rPr kumimoji="0" lang="en-US" altLang="en-US" sz="2400" b="1" i="0" u="none" strike="noStrike" cap="none" normalizeH="0" baseline="0" dirty="0">
                <a:ln>
                  <a:noFill/>
                </a:ln>
                <a:solidFill>
                  <a:srgbClr val="4D5968"/>
                </a:solidFill>
                <a:effectLst/>
                <a:latin typeface="Calibri" panose="020F0502020204030204" pitchFamily="34" charset="0"/>
                <a:ea typeface="Times New Roman" panose="02020603050405020304" pitchFamily="18" charset="0"/>
                <a:cs typeface="Segoe UI" panose="020B0502040204020203" pitchFamily="34" charset="0"/>
              </a:rPr>
              <a:t> </a:t>
            </a:r>
            <a:r>
              <a:rPr kumimoji="0" lang="en-US" altLang="en-US" sz="2400" b="0" i="0" u="none" strike="noStrike" cap="none" normalizeH="0" baseline="0" dirty="0">
                <a:ln>
                  <a:noFill/>
                </a:ln>
                <a:solidFill>
                  <a:srgbClr val="4D5968"/>
                </a:solidFill>
                <a:effectLst/>
                <a:latin typeface="Nunito Sans" pitchFamily="2" charset="0"/>
                <a:ea typeface="Times New Roman" panose="02020603050405020304" pitchFamily="18" charset="0"/>
                <a:cs typeface="Segoe UI" panose="020B0502040204020203" pitchFamily="34" charset="0"/>
              </a:rPr>
              <a:t>Prepare a research report or paper that includes the research process, methodology, results, and conclusions to share your findings.</a:t>
            </a:r>
            <a:endParaRPr kumimoji="0" lang="en-US" altLang="en-US" sz="3200" b="0" i="0" u="none" strike="noStrike" cap="none" normalizeH="0" baseline="0" dirty="0">
              <a:ln>
                <a:noFill/>
              </a:ln>
              <a:solidFill>
                <a:schemeClr val="tx1"/>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15532639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907A7-ECC7-F681-DF92-D34025B35BEF}"/>
              </a:ext>
            </a:extLst>
          </p:cNvPr>
          <p:cNvSpPr>
            <a:spLocks noGrp="1"/>
          </p:cNvSpPr>
          <p:nvPr>
            <p:ph type="title"/>
          </p:nvPr>
        </p:nvSpPr>
        <p:spPr>
          <a:xfrm>
            <a:off x="1484311" y="685800"/>
            <a:ext cx="10018713" cy="5963478"/>
          </a:xfrm>
        </p:spPr>
        <p:txBody>
          <a:bodyPr>
            <a:normAutofit/>
          </a:bodyPr>
          <a:lstStyle/>
          <a:p>
            <a:r>
              <a:rPr lang="en-US" sz="13800" b="1" dirty="0"/>
              <a:t>THANK YOU </a:t>
            </a:r>
            <a:endParaRPr lang="en-IN" sz="13800" b="1" dirty="0"/>
          </a:p>
        </p:txBody>
      </p:sp>
    </p:spTree>
    <p:extLst>
      <p:ext uri="{BB962C8B-B14F-4D97-AF65-F5344CB8AC3E}">
        <p14:creationId xmlns:p14="http://schemas.microsoft.com/office/powerpoint/2010/main" val="5418807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1221</TotalTime>
  <Words>2495</Words>
  <Application>Microsoft Office PowerPoint</Application>
  <PresentationFormat>Widescreen</PresentationFormat>
  <Paragraphs>112</Paragraphs>
  <Slides>26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Calibri</vt:lpstr>
      <vt:lpstr>Corbel</vt:lpstr>
      <vt:lpstr>Helvetica</vt:lpstr>
      <vt:lpstr>Nunito Sans</vt:lpstr>
      <vt:lpstr>Open Sans</vt:lpstr>
      <vt:lpstr>Symbol</vt:lpstr>
      <vt:lpstr>Times New Roman</vt:lpstr>
      <vt:lpstr>Parallax</vt:lpstr>
      <vt:lpstr>Types of Research – Quantitative  </vt:lpstr>
      <vt:lpstr>PowerPoint Presentation</vt:lpstr>
      <vt:lpstr>Meaning </vt:lpstr>
      <vt:lpstr>Examples </vt:lpstr>
      <vt:lpstr>Examples of quantitative research in different fields: </vt:lpstr>
      <vt:lpstr>Conti….</vt:lpstr>
      <vt:lpstr>Common characteristics of different types of  Quantitative Research </vt:lpstr>
      <vt:lpstr>CONTI…</vt:lpstr>
      <vt:lpstr>Types of Quantitative Research </vt:lpstr>
      <vt:lpstr>Conti….</vt:lpstr>
      <vt:lpstr>Correlational research </vt:lpstr>
      <vt:lpstr>Conti…</vt:lpstr>
      <vt:lpstr>Conti..</vt:lpstr>
      <vt:lpstr>Conti..</vt:lpstr>
      <vt:lpstr>Examples of correlational research: </vt:lpstr>
      <vt:lpstr>Causal-comparative research </vt:lpstr>
      <vt:lpstr>Conti..</vt:lpstr>
      <vt:lpstr>Examples of causal-comparative research: </vt:lpstr>
      <vt:lpstr>Example </vt:lpstr>
      <vt:lpstr>Experimental research </vt:lpstr>
      <vt:lpstr>Conti….</vt:lpstr>
      <vt:lpstr>Examples of Experimental research: </vt:lpstr>
      <vt:lpstr>Example</vt:lpstr>
      <vt:lpstr>Process of Quantitative Research </vt:lpstr>
      <vt:lpstr>Conti…</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of Research – Quantitative  </dc:title>
  <dc:creator>Pratiksha Modi</dc:creator>
  <cp:lastModifiedBy>Dell</cp:lastModifiedBy>
  <cp:revision>19</cp:revision>
  <dcterms:created xsi:type="dcterms:W3CDTF">2024-03-24T16:21:36Z</dcterms:created>
  <dcterms:modified xsi:type="dcterms:W3CDTF">2026-06-19T09:31:48Z</dcterms:modified>
</cp:coreProperties>
</file>