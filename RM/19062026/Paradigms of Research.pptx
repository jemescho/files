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256" r:id="rId2"/>
    <p:sldId id="268" r:id="rId3"/>
    <p:sldId id="286" r:id="rId4"/>
    <p:sldId id="291" r:id="rId5"/>
    <p:sldId id="292" r:id="rId6"/>
    <p:sldId id="257" r:id="rId7"/>
    <p:sldId id="258" r:id="rId8"/>
    <p:sldId id="259" r:id="rId9"/>
    <p:sldId id="260" r:id="rId10"/>
    <p:sldId id="261" r:id="rId11"/>
    <p:sldId id="289" r:id="rId12"/>
    <p:sldId id="262" r:id="rId13"/>
    <p:sldId id="263" r:id="rId14"/>
    <p:sldId id="293" r:id="rId15"/>
    <p:sldId id="290" r:id="rId16"/>
    <p:sldId id="266" r:id="rId17"/>
    <p:sldId id="267" r:id="rId18"/>
    <p:sldId id="269" r:id="rId19"/>
    <p:sldId id="270" r:id="rId20"/>
    <p:sldId id="271" r:id="rId21"/>
    <p:sldId id="272" r:id="rId22"/>
    <p:sldId id="273" r:id="rId23"/>
    <p:sldId id="282" r:id="rId24"/>
    <p:sldId id="274" r:id="rId25"/>
    <p:sldId id="275" r:id="rId26"/>
    <p:sldId id="283" r:id="rId27"/>
    <p:sldId id="276" r:id="rId28"/>
    <p:sldId id="281" r:id="rId29"/>
    <p:sldId id="295" r:id="rId30"/>
    <p:sldId id="296" r:id="rId31"/>
    <p:sldId id="277" r:id="rId32"/>
    <p:sldId id="278" r:id="rId33"/>
    <p:sldId id="279" r:id="rId34"/>
    <p:sldId id="28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35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chana Tomar" userId="daebacd23eda519e" providerId="LiveId" clId="{7622DADA-5E2A-470C-A1F7-1833BE1AADED}"/>
    <pc:docChg chg="custSel addSld modSld">
      <pc:chgData name="Archana Tomar" userId="daebacd23eda519e" providerId="LiveId" clId="{7622DADA-5E2A-470C-A1F7-1833BE1AADED}" dt="2025-03-17T10:27:35.548" v="43" actId="20577"/>
      <pc:docMkLst>
        <pc:docMk/>
      </pc:docMkLst>
      <pc:sldChg chg="modSp add mod">
        <pc:chgData name="Archana Tomar" userId="daebacd23eda519e" providerId="LiveId" clId="{7622DADA-5E2A-470C-A1F7-1833BE1AADED}" dt="2025-03-17T08:52:05.010" v="23" actId="27636"/>
        <pc:sldMkLst>
          <pc:docMk/>
          <pc:sldMk cId="2212350609" sldId="256"/>
        </pc:sldMkLst>
        <pc:spChg chg="mod">
          <ac:chgData name="Archana Tomar" userId="daebacd23eda519e" providerId="LiveId" clId="{7622DADA-5E2A-470C-A1F7-1833BE1AADED}" dt="2025-03-17T08:52:04.879" v="22"/>
          <ac:spMkLst>
            <pc:docMk/>
            <pc:sldMk cId="2212350609" sldId="256"/>
            <ac:spMk id="2" creationId="{7D77C4E4-809F-CB08-6D71-093401E4110D}"/>
          </ac:spMkLst>
        </pc:spChg>
        <pc:spChg chg="mod">
          <ac:chgData name="Archana Tomar" userId="daebacd23eda519e" providerId="LiveId" clId="{7622DADA-5E2A-470C-A1F7-1833BE1AADED}" dt="2025-03-17T08:52:05.010" v="23" actId="27636"/>
          <ac:spMkLst>
            <pc:docMk/>
            <pc:sldMk cId="2212350609" sldId="256"/>
            <ac:spMk id="3" creationId="{02F12411-3FD7-A047-E75F-33B052A4D7E0}"/>
          </ac:spMkLst>
        </pc:spChg>
      </pc:sldChg>
      <pc:sldChg chg="modSp add">
        <pc:chgData name="Archana Tomar" userId="daebacd23eda519e" providerId="LiveId" clId="{7622DADA-5E2A-470C-A1F7-1833BE1AADED}" dt="2025-03-17T08:52:04.879" v="22"/>
        <pc:sldMkLst>
          <pc:docMk/>
          <pc:sldMk cId="2532792839" sldId="257"/>
        </pc:sldMkLst>
        <pc:spChg chg="mod">
          <ac:chgData name="Archana Tomar" userId="daebacd23eda519e" providerId="LiveId" clId="{7622DADA-5E2A-470C-A1F7-1833BE1AADED}" dt="2025-03-17T08:52:04.879" v="22"/>
          <ac:spMkLst>
            <pc:docMk/>
            <pc:sldMk cId="2532792839" sldId="257"/>
            <ac:spMk id="2" creationId="{A7789975-601B-CD7A-D2EF-41E47860140F}"/>
          </ac:spMkLst>
        </pc:spChg>
        <pc:spChg chg="mod">
          <ac:chgData name="Archana Tomar" userId="daebacd23eda519e" providerId="LiveId" clId="{7622DADA-5E2A-470C-A1F7-1833BE1AADED}" dt="2025-03-17T08:52:04.879" v="22"/>
          <ac:spMkLst>
            <pc:docMk/>
            <pc:sldMk cId="2532792839" sldId="257"/>
            <ac:spMk id="3" creationId="{CC3A8446-A483-ED34-6537-3538266BE020}"/>
          </ac:spMkLst>
        </pc:spChg>
      </pc:sldChg>
      <pc:sldChg chg="modSp add">
        <pc:chgData name="Archana Tomar" userId="daebacd23eda519e" providerId="LiveId" clId="{7622DADA-5E2A-470C-A1F7-1833BE1AADED}" dt="2025-03-17T08:52:04.879" v="22"/>
        <pc:sldMkLst>
          <pc:docMk/>
          <pc:sldMk cId="1654447733" sldId="258"/>
        </pc:sldMkLst>
        <pc:spChg chg="mod">
          <ac:chgData name="Archana Tomar" userId="daebacd23eda519e" providerId="LiveId" clId="{7622DADA-5E2A-470C-A1F7-1833BE1AADED}" dt="2025-03-17T08:52:04.879" v="22"/>
          <ac:spMkLst>
            <pc:docMk/>
            <pc:sldMk cId="1654447733" sldId="258"/>
            <ac:spMk id="2" creationId="{45778FAB-89BC-1B34-1DAC-DFB8D68B2C9A}"/>
          </ac:spMkLst>
        </pc:spChg>
      </pc:sldChg>
      <pc:sldChg chg="modSp add mod">
        <pc:chgData name="Archana Tomar" userId="daebacd23eda519e" providerId="LiveId" clId="{7622DADA-5E2A-470C-A1F7-1833BE1AADED}" dt="2025-03-17T08:52:05.095" v="25" actId="27636"/>
        <pc:sldMkLst>
          <pc:docMk/>
          <pc:sldMk cId="1629301233" sldId="259"/>
        </pc:sldMkLst>
        <pc:spChg chg="mod">
          <ac:chgData name="Archana Tomar" userId="daebacd23eda519e" providerId="LiveId" clId="{7622DADA-5E2A-470C-A1F7-1833BE1AADED}" dt="2025-03-17T08:52:04.879" v="22"/>
          <ac:spMkLst>
            <pc:docMk/>
            <pc:sldMk cId="1629301233" sldId="259"/>
            <ac:spMk id="2" creationId="{582DB777-8CFF-D672-B796-853C9F6C5832}"/>
          </ac:spMkLst>
        </pc:spChg>
        <pc:spChg chg="mod">
          <ac:chgData name="Archana Tomar" userId="daebacd23eda519e" providerId="LiveId" clId="{7622DADA-5E2A-470C-A1F7-1833BE1AADED}" dt="2025-03-17T08:52:05.095" v="25" actId="27636"/>
          <ac:spMkLst>
            <pc:docMk/>
            <pc:sldMk cId="1629301233" sldId="259"/>
            <ac:spMk id="3" creationId="{402EBD0B-94A0-F402-D63E-D44A5A8F9DE8}"/>
          </ac:spMkLst>
        </pc:spChg>
      </pc:sldChg>
      <pc:sldChg chg="modSp add">
        <pc:chgData name="Archana Tomar" userId="daebacd23eda519e" providerId="LiveId" clId="{7622DADA-5E2A-470C-A1F7-1833BE1AADED}" dt="2025-03-17T08:52:04.879" v="22"/>
        <pc:sldMkLst>
          <pc:docMk/>
          <pc:sldMk cId="3067714228" sldId="260"/>
        </pc:sldMkLst>
        <pc:spChg chg="mod">
          <ac:chgData name="Archana Tomar" userId="daebacd23eda519e" providerId="LiveId" clId="{7622DADA-5E2A-470C-A1F7-1833BE1AADED}" dt="2025-03-17T08:52:04.879" v="22"/>
          <ac:spMkLst>
            <pc:docMk/>
            <pc:sldMk cId="3067714228" sldId="260"/>
            <ac:spMk id="2" creationId="{97D37EF6-D627-98C8-AD8C-1E470D1242DE}"/>
          </ac:spMkLst>
        </pc:spChg>
        <pc:spChg chg="mod">
          <ac:chgData name="Archana Tomar" userId="daebacd23eda519e" providerId="LiveId" clId="{7622DADA-5E2A-470C-A1F7-1833BE1AADED}" dt="2025-03-17T08:52:04.879" v="22"/>
          <ac:spMkLst>
            <pc:docMk/>
            <pc:sldMk cId="3067714228" sldId="260"/>
            <ac:spMk id="3" creationId="{56B28123-4DFB-1EAC-741E-529BA3A87147}"/>
          </ac:spMkLst>
        </pc:spChg>
      </pc:sldChg>
      <pc:sldChg chg="modSp add">
        <pc:chgData name="Archana Tomar" userId="daebacd23eda519e" providerId="LiveId" clId="{7622DADA-5E2A-470C-A1F7-1833BE1AADED}" dt="2025-03-17T08:52:04.879" v="22"/>
        <pc:sldMkLst>
          <pc:docMk/>
          <pc:sldMk cId="1849942652" sldId="261"/>
        </pc:sldMkLst>
        <pc:spChg chg="mod">
          <ac:chgData name="Archana Tomar" userId="daebacd23eda519e" providerId="LiveId" clId="{7622DADA-5E2A-470C-A1F7-1833BE1AADED}" dt="2025-03-17T08:52:04.879" v="22"/>
          <ac:spMkLst>
            <pc:docMk/>
            <pc:sldMk cId="1849942652" sldId="261"/>
            <ac:spMk id="2" creationId="{E0E8267F-3776-5DC8-8A07-9D35E66B843E}"/>
          </ac:spMkLst>
        </pc:spChg>
      </pc:sldChg>
      <pc:sldChg chg="modSp add">
        <pc:chgData name="Archana Tomar" userId="daebacd23eda519e" providerId="LiveId" clId="{7622DADA-5E2A-470C-A1F7-1833BE1AADED}" dt="2025-03-17T08:52:04.879" v="22"/>
        <pc:sldMkLst>
          <pc:docMk/>
          <pc:sldMk cId="696401230" sldId="262"/>
        </pc:sldMkLst>
        <pc:spChg chg="mod">
          <ac:chgData name="Archana Tomar" userId="daebacd23eda519e" providerId="LiveId" clId="{7622DADA-5E2A-470C-A1F7-1833BE1AADED}" dt="2025-03-17T08:52:04.879" v="22"/>
          <ac:spMkLst>
            <pc:docMk/>
            <pc:sldMk cId="696401230" sldId="262"/>
            <ac:spMk id="2" creationId="{09F9C6BA-2CAD-B72E-0ADF-7082414D02F4}"/>
          </ac:spMkLst>
        </pc:spChg>
      </pc:sldChg>
      <pc:sldChg chg="modSp add mod">
        <pc:chgData name="Archana Tomar" userId="daebacd23eda519e" providerId="LiveId" clId="{7622DADA-5E2A-470C-A1F7-1833BE1AADED}" dt="2025-03-17T10:27:35.548" v="43" actId="20577"/>
        <pc:sldMkLst>
          <pc:docMk/>
          <pc:sldMk cId="1470701732" sldId="263"/>
        </pc:sldMkLst>
        <pc:spChg chg="mod">
          <ac:chgData name="Archana Tomar" userId="daebacd23eda519e" providerId="LiveId" clId="{7622DADA-5E2A-470C-A1F7-1833BE1AADED}" dt="2025-03-17T08:52:04.879" v="22"/>
          <ac:spMkLst>
            <pc:docMk/>
            <pc:sldMk cId="1470701732" sldId="263"/>
            <ac:spMk id="2" creationId="{4C01223C-A03E-DB7A-D74E-56697EEC27F3}"/>
          </ac:spMkLst>
        </pc:spChg>
        <pc:spChg chg="mod">
          <ac:chgData name="Archana Tomar" userId="daebacd23eda519e" providerId="LiveId" clId="{7622DADA-5E2A-470C-A1F7-1833BE1AADED}" dt="2025-03-17T10:27:35.548" v="43" actId="20577"/>
          <ac:spMkLst>
            <pc:docMk/>
            <pc:sldMk cId="1470701732" sldId="263"/>
            <ac:spMk id="3" creationId="{673D0AA5-57DA-1A51-08AD-CB9328313691}"/>
          </ac:spMkLst>
        </pc:spChg>
      </pc:sldChg>
      <pc:sldChg chg="modSp add mod">
        <pc:chgData name="Archana Tomar" userId="daebacd23eda519e" providerId="LiveId" clId="{7622DADA-5E2A-470C-A1F7-1833BE1AADED}" dt="2025-03-17T08:52:05.137" v="27" actId="27636"/>
        <pc:sldMkLst>
          <pc:docMk/>
          <pc:sldMk cId="2027304648" sldId="266"/>
        </pc:sldMkLst>
        <pc:spChg chg="mod">
          <ac:chgData name="Archana Tomar" userId="daebacd23eda519e" providerId="LiveId" clId="{7622DADA-5E2A-470C-A1F7-1833BE1AADED}" dt="2025-03-17T08:52:04.879" v="22"/>
          <ac:spMkLst>
            <pc:docMk/>
            <pc:sldMk cId="2027304648" sldId="266"/>
            <ac:spMk id="2" creationId="{00908185-196A-3E3E-05EC-B0B072F4E4DA}"/>
          </ac:spMkLst>
        </pc:spChg>
        <pc:spChg chg="mod">
          <ac:chgData name="Archana Tomar" userId="daebacd23eda519e" providerId="LiveId" clId="{7622DADA-5E2A-470C-A1F7-1833BE1AADED}" dt="2025-03-17T08:52:05.137" v="27" actId="27636"/>
          <ac:spMkLst>
            <pc:docMk/>
            <pc:sldMk cId="2027304648" sldId="266"/>
            <ac:spMk id="3" creationId="{9B5F9CD2-4FC0-F53F-61AE-C9AD628E1098}"/>
          </ac:spMkLst>
        </pc:spChg>
      </pc:sldChg>
      <pc:sldChg chg="modSp add mod">
        <pc:chgData name="Archana Tomar" userId="daebacd23eda519e" providerId="LiveId" clId="{7622DADA-5E2A-470C-A1F7-1833BE1AADED}" dt="2025-03-17T08:52:05.159" v="28" actId="27636"/>
        <pc:sldMkLst>
          <pc:docMk/>
          <pc:sldMk cId="2121493171" sldId="267"/>
        </pc:sldMkLst>
        <pc:spChg chg="mod">
          <ac:chgData name="Archana Tomar" userId="daebacd23eda519e" providerId="LiveId" clId="{7622DADA-5E2A-470C-A1F7-1833BE1AADED}" dt="2025-03-17T08:52:04.879" v="22"/>
          <ac:spMkLst>
            <pc:docMk/>
            <pc:sldMk cId="2121493171" sldId="267"/>
            <ac:spMk id="2" creationId="{30EEC799-5FAB-710C-3F30-AD7B39EA9F2B}"/>
          </ac:spMkLst>
        </pc:spChg>
        <pc:spChg chg="mod">
          <ac:chgData name="Archana Tomar" userId="daebacd23eda519e" providerId="LiveId" clId="{7622DADA-5E2A-470C-A1F7-1833BE1AADED}" dt="2025-03-17T08:52:05.159" v="28" actId="27636"/>
          <ac:spMkLst>
            <pc:docMk/>
            <pc:sldMk cId="2121493171" sldId="267"/>
            <ac:spMk id="3" creationId="{AC8F3C39-7EF1-E679-A81B-78CF4970B54C}"/>
          </ac:spMkLst>
        </pc:spChg>
      </pc:sldChg>
      <pc:sldChg chg="modSp add mod">
        <pc:chgData name="Archana Tomar" userId="daebacd23eda519e" providerId="LiveId" clId="{7622DADA-5E2A-470C-A1F7-1833BE1AADED}" dt="2025-03-17T08:52:05.077" v="24" actId="27636"/>
        <pc:sldMkLst>
          <pc:docMk/>
          <pc:sldMk cId="2865946296" sldId="268"/>
        </pc:sldMkLst>
        <pc:spChg chg="mod">
          <ac:chgData name="Archana Tomar" userId="daebacd23eda519e" providerId="LiveId" clId="{7622DADA-5E2A-470C-A1F7-1833BE1AADED}" dt="2025-03-17T08:52:04.879" v="22"/>
          <ac:spMkLst>
            <pc:docMk/>
            <pc:sldMk cId="2865946296" sldId="268"/>
            <ac:spMk id="2" creationId="{D6B7456C-EB34-2FAE-71BF-6F38935381A2}"/>
          </ac:spMkLst>
        </pc:spChg>
        <pc:spChg chg="mod">
          <ac:chgData name="Archana Tomar" userId="daebacd23eda519e" providerId="LiveId" clId="{7622DADA-5E2A-470C-A1F7-1833BE1AADED}" dt="2025-03-17T08:52:05.077" v="24" actId="27636"/>
          <ac:spMkLst>
            <pc:docMk/>
            <pc:sldMk cId="2865946296" sldId="268"/>
            <ac:spMk id="3" creationId="{3DD02A01-89D0-AD6F-755B-35471446D07B}"/>
          </ac:spMkLst>
        </pc:spChg>
      </pc:sldChg>
      <pc:sldChg chg="modSp add mod">
        <pc:chgData name="Archana Tomar" userId="daebacd23eda519e" providerId="LiveId" clId="{7622DADA-5E2A-470C-A1F7-1833BE1AADED}" dt="2025-03-17T08:52:05.176" v="29" actId="27636"/>
        <pc:sldMkLst>
          <pc:docMk/>
          <pc:sldMk cId="2037637564" sldId="269"/>
        </pc:sldMkLst>
        <pc:spChg chg="mod">
          <ac:chgData name="Archana Tomar" userId="daebacd23eda519e" providerId="LiveId" clId="{7622DADA-5E2A-470C-A1F7-1833BE1AADED}" dt="2025-03-17T08:52:04.879" v="22"/>
          <ac:spMkLst>
            <pc:docMk/>
            <pc:sldMk cId="2037637564" sldId="269"/>
            <ac:spMk id="2" creationId="{B2B6A8D7-871D-B2E0-9BC5-0E430E8AE848}"/>
          </ac:spMkLst>
        </pc:spChg>
        <pc:spChg chg="mod">
          <ac:chgData name="Archana Tomar" userId="daebacd23eda519e" providerId="LiveId" clId="{7622DADA-5E2A-470C-A1F7-1833BE1AADED}" dt="2025-03-17T08:52:05.176" v="29" actId="27636"/>
          <ac:spMkLst>
            <pc:docMk/>
            <pc:sldMk cId="2037637564" sldId="269"/>
            <ac:spMk id="3" creationId="{4B548CA5-BF4D-3DA5-AC64-8478272B5608}"/>
          </ac:spMkLst>
        </pc:spChg>
      </pc:sldChg>
      <pc:sldChg chg="modSp add">
        <pc:chgData name="Archana Tomar" userId="daebacd23eda519e" providerId="LiveId" clId="{7622DADA-5E2A-470C-A1F7-1833BE1AADED}" dt="2025-03-17T08:52:04.879" v="22"/>
        <pc:sldMkLst>
          <pc:docMk/>
          <pc:sldMk cId="2164982762" sldId="270"/>
        </pc:sldMkLst>
        <pc:spChg chg="mod">
          <ac:chgData name="Archana Tomar" userId="daebacd23eda519e" providerId="LiveId" clId="{7622DADA-5E2A-470C-A1F7-1833BE1AADED}" dt="2025-03-17T08:52:04.879" v="22"/>
          <ac:spMkLst>
            <pc:docMk/>
            <pc:sldMk cId="2164982762" sldId="270"/>
            <ac:spMk id="2" creationId="{88E1879E-CD29-651D-725A-95E17DBB003C}"/>
          </ac:spMkLst>
        </pc:spChg>
      </pc:sldChg>
      <pc:sldChg chg="modSp add mod">
        <pc:chgData name="Archana Tomar" userId="daebacd23eda519e" providerId="LiveId" clId="{7622DADA-5E2A-470C-A1F7-1833BE1AADED}" dt="2025-03-17T08:52:05.194" v="30" actId="27636"/>
        <pc:sldMkLst>
          <pc:docMk/>
          <pc:sldMk cId="2700163967" sldId="271"/>
        </pc:sldMkLst>
        <pc:spChg chg="mod">
          <ac:chgData name="Archana Tomar" userId="daebacd23eda519e" providerId="LiveId" clId="{7622DADA-5E2A-470C-A1F7-1833BE1AADED}" dt="2025-03-17T08:52:04.879" v="22"/>
          <ac:spMkLst>
            <pc:docMk/>
            <pc:sldMk cId="2700163967" sldId="271"/>
            <ac:spMk id="2" creationId="{4E67F45E-6B77-3F4C-8B40-58846678BD0D}"/>
          </ac:spMkLst>
        </pc:spChg>
        <pc:spChg chg="mod">
          <ac:chgData name="Archana Tomar" userId="daebacd23eda519e" providerId="LiveId" clId="{7622DADA-5E2A-470C-A1F7-1833BE1AADED}" dt="2025-03-17T08:52:05.194" v="30" actId="27636"/>
          <ac:spMkLst>
            <pc:docMk/>
            <pc:sldMk cId="2700163967" sldId="271"/>
            <ac:spMk id="3" creationId="{B6AEED06-34E4-6238-46A2-8E4DF4D7A6C4}"/>
          </ac:spMkLst>
        </pc:spChg>
      </pc:sldChg>
      <pc:sldChg chg="modSp add mod">
        <pc:chgData name="Archana Tomar" userId="daebacd23eda519e" providerId="LiveId" clId="{7622DADA-5E2A-470C-A1F7-1833BE1AADED}" dt="2025-03-17T08:52:05.218" v="31" actId="27636"/>
        <pc:sldMkLst>
          <pc:docMk/>
          <pc:sldMk cId="517046715" sldId="272"/>
        </pc:sldMkLst>
        <pc:spChg chg="mod">
          <ac:chgData name="Archana Tomar" userId="daebacd23eda519e" providerId="LiveId" clId="{7622DADA-5E2A-470C-A1F7-1833BE1AADED}" dt="2025-03-17T08:52:04.879" v="22"/>
          <ac:spMkLst>
            <pc:docMk/>
            <pc:sldMk cId="517046715" sldId="272"/>
            <ac:spMk id="2" creationId="{BFF8F1AE-76D7-DC5A-BD98-22C2B0896F5A}"/>
          </ac:spMkLst>
        </pc:spChg>
        <pc:spChg chg="mod">
          <ac:chgData name="Archana Tomar" userId="daebacd23eda519e" providerId="LiveId" clId="{7622DADA-5E2A-470C-A1F7-1833BE1AADED}" dt="2025-03-17T08:52:05.218" v="31" actId="27636"/>
          <ac:spMkLst>
            <pc:docMk/>
            <pc:sldMk cId="517046715" sldId="272"/>
            <ac:spMk id="3" creationId="{F3620AD3-02D6-AE50-5BE0-CAF02FE67105}"/>
          </ac:spMkLst>
        </pc:spChg>
      </pc:sldChg>
      <pc:sldChg chg="modSp add mod">
        <pc:chgData name="Archana Tomar" userId="daebacd23eda519e" providerId="LiveId" clId="{7622DADA-5E2A-470C-A1F7-1833BE1AADED}" dt="2025-03-17T08:52:05.232" v="32" actId="27636"/>
        <pc:sldMkLst>
          <pc:docMk/>
          <pc:sldMk cId="2962586399" sldId="273"/>
        </pc:sldMkLst>
        <pc:spChg chg="mod">
          <ac:chgData name="Archana Tomar" userId="daebacd23eda519e" providerId="LiveId" clId="{7622DADA-5E2A-470C-A1F7-1833BE1AADED}" dt="2025-03-17T08:52:04.879" v="22"/>
          <ac:spMkLst>
            <pc:docMk/>
            <pc:sldMk cId="2962586399" sldId="273"/>
            <ac:spMk id="2" creationId="{BCA06262-CAA9-C2FC-BE6B-FE494103E75B}"/>
          </ac:spMkLst>
        </pc:spChg>
        <pc:spChg chg="mod">
          <ac:chgData name="Archana Tomar" userId="daebacd23eda519e" providerId="LiveId" clId="{7622DADA-5E2A-470C-A1F7-1833BE1AADED}" dt="2025-03-17T08:52:05.232" v="32" actId="27636"/>
          <ac:spMkLst>
            <pc:docMk/>
            <pc:sldMk cId="2962586399" sldId="273"/>
            <ac:spMk id="3" creationId="{0123D403-0D84-E960-5D8F-DEE29CE8E465}"/>
          </ac:spMkLst>
        </pc:spChg>
      </pc:sldChg>
      <pc:sldChg chg="modSp add mod">
        <pc:chgData name="Archana Tomar" userId="daebacd23eda519e" providerId="LiveId" clId="{7622DADA-5E2A-470C-A1F7-1833BE1AADED}" dt="2025-03-17T08:52:05.257" v="34" actId="27636"/>
        <pc:sldMkLst>
          <pc:docMk/>
          <pc:sldMk cId="533182402" sldId="274"/>
        </pc:sldMkLst>
        <pc:spChg chg="mod">
          <ac:chgData name="Archana Tomar" userId="daebacd23eda519e" providerId="LiveId" clId="{7622DADA-5E2A-470C-A1F7-1833BE1AADED}" dt="2025-03-17T08:52:04.879" v="22"/>
          <ac:spMkLst>
            <pc:docMk/>
            <pc:sldMk cId="533182402" sldId="274"/>
            <ac:spMk id="2" creationId="{F4703165-0344-EFE1-BF6A-946426C8050F}"/>
          </ac:spMkLst>
        </pc:spChg>
        <pc:spChg chg="mod">
          <ac:chgData name="Archana Tomar" userId="daebacd23eda519e" providerId="LiveId" clId="{7622DADA-5E2A-470C-A1F7-1833BE1AADED}" dt="2025-03-17T08:52:05.257" v="34" actId="27636"/>
          <ac:spMkLst>
            <pc:docMk/>
            <pc:sldMk cId="533182402" sldId="274"/>
            <ac:spMk id="3" creationId="{921EF83C-BD66-3B67-CDD3-F4FF275058CE}"/>
          </ac:spMkLst>
        </pc:spChg>
      </pc:sldChg>
      <pc:sldChg chg="modSp add mod">
        <pc:chgData name="Archana Tomar" userId="daebacd23eda519e" providerId="LiveId" clId="{7622DADA-5E2A-470C-A1F7-1833BE1AADED}" dt="2025-03-17T08:52:05.277" v="35" actId="27636"/>
        <pc:sldMkLst>
          <pc:docMk/>
          <pc:sldMk cId="3682989560" sldId="275"/>
        </pc:sldMkLst>
        <pc:spChg chg="mod">
          <ac:chgData name="Archana Tomar" userId="daebacd23eda519e" providerId="LiveId" clId="{7622DADA-5E2A-470C-A1F7-1833BE1AADED}" dt="2025-03-17T08:52:04.879" v="22"/>
          <ac:spMkLst>
            <pc:docMk/>
            <pc:sldMk cId="3682989560" sldId="275"/>
            <ac:spMk id="2" creationId="{88A82CEF-C124-B5FB-8D2B-AE871209BFF2}"/>
          </ac:spMkLst>
        </pc:spChg>
        <pc:spChg chg="mod">
          <ac:chgData name="Archana Tomar" userId="daebacd23eda519e" providerId="LiveId" clId="{7622DADA-5E2A-470C-A1F7-1833BE1AADED}" dt="2025-03-17T08:52:05.277" v="35" actId="27636"/>
          <ac:spMkLst>
            <pc:docMk/>
            <pc:sldMk cId="3682989560" sldId="275"/>
            <ac:spMk id="3" creationId="{64A49AC8-9E74-98C8-3E61-8EC1AE5CB421}"/>
          </ac:spMkLst>
        </pc:spChg>
      </pc:sldChg>
      <pc:sldChg chg="modSp add">
        <pc:chgData name="Archana Tomar" userId="daebacd23eda519e" providerId="LiveId" clId="{7622DADA-5E2A-470C-A1F7-1833BE1AADED}" dt="2025-03-17T08:52:04.879" v="22"/>
        <pc:sldMkLst>
          <pc:docMk/>
          <pc:sldMk cId="2368749274" sldId="276"/>
        </pc:sldMkLst>
        <pc:spChg chg="mod">
          <ac:chgData name="Archana Tomar" userId="daebacd23eda519e" providerId="LiveId" clId="{7622DADA-5E2A-470C-A1F7-1833BE1AADED}" dt="2025-03-17T08:52:04.879" v="22"/>
          <ac:spMkLst>
            <pc:docMk/>
            <pc:sldMk cId="2368749274" sldId="276"/>
            <ac:spMk id="2" creationId="{D6DD4F04-66F5-9A9F-0704-5B003DBDEB61}"/>
          </ac:spMkLst>
        </pc:spChg>
      </pc:sldChg>
      <pc:sldChg chg="modSp add mod">
        <pc:chgData name="Archana Tomar" userId="daebacd23eda519e" providerId="LiveId" clId="{7622DADA-5E2A-470C-A1F7-1833BE1AADED}" dt="2025-03-17T08:52:05.372" v="40" actId="27636"/>
        <pc:sldMkLst>
          <pc:docMk/>
          <pc:sldMk cId="2543296232" sldId="277"/>
        </pc:sldMkLst>
        <pc:spChg chg="mod">
          <ac:chgData name="Archana Tomar" userId="daebacd23eda519e" providerId="LiveId" clId="{7622DADA-5E2A-470C-A1F7-1833BE1AADED}" dt="2025-03-17T08:52:04.879" v="22"/>
          <ac:spMkLst>
            <pc:docMk/>
            <pc:sldMk cId="2543296232" sldId="277"/>
            <ac:spMk id="2" creationId="{5E26036C-41DA-C9E4-60C4-4A079D199869}"/>
          </ac:spMkLst>
        </pc:spChg>
        <pc:spChg chg="mod">
          <ac:chgData name="Archana Tomar" userId="daebacd23eda519e" providerId="LiveId" clId="{7622DADA-5E2A-470C-A1F7-1833BE1AADED}" dt="2025-03-17T08:52:05.372" v="40" actId="27636"/>
          <ac:spMkLst>
            <pc:docMk/>
            <pc:sldMk cId="2543296232" sldId="277"/>
            <ac:spMk id="3" creationId="{220BFA66-6EA2-1FF9-1D28-AD8357B40D30}"/>
          </ac:spMkLst>
        </pc:spChg>
      </pc:sldChg>
      <pc:sldChg chg="modSp add mod">
        <pc:chgData name="Archana Tomar" userId="daebacd23eda519e" providerId="LiveId" clId="{7622DADA-5E2A-470C-A1F7-1833BE1AADED}" dt="2025-03-17T08:52:05.396" v="41" actId="27636"/>
        <pc:sldMkLst>
          <pc:docMk/>
          <pc:sldMk cId="1996323691" sldId="278"/>
        </pc:sldMkLst>
        <pc:spChg chg="mod">
          <ac:chgData name="Archana Tomar" userId="daebacd23eda519e" providerId="LiveId" clId="{7622DADA-5E2A-470C-A1F7-1833BE1AADED}" dt="2025-03-17T08:52:04.879" v="22"/>
          <ac:spMkLst>
            <pc:docMk/>
            <pc:sldMk cId="1996323691" sldId="278"/>
            <ac:spMk id="2" creationId="{85F4B592-19C7-8853-2E57-2EDE315FCB27}"/>
          </ac:spMkLst>
        </pc:spChg>
        <pc:spChg chg="mod">
          <ac:chgData name="Archana Tomar" userId="daebacd23eda519e" providerId="LiveId" clId="{7622DADA-5E2A-470C-A1F7-1833BE1AADED}" dt="2025-03-17T08:52:05.396" v="41" actId="27636"/>
          <ac:spMkLst>
            <pc:docMk/>
            <pc:sldMk cId="1996323691" sldId="278"/>
            <ac:spMk id="3" creationId="{726CB34F-A98B-3DBC-8D5C-08AE093B8C45}"/>
          </ac:spMkLst>
        </pc:spChg>
      </pc:sldChg>
      <pc:sldChg chg="modSp add mod">
        <pc:chgData name="Archana Tomar" userId="daebacd23eda519e" providerId="LiveId" clId="{7622DADA-5E2A-470C-A1F7-1833BE1AADED}" dt="2025-03-17T08:52:05.410" v="42" actId="27636"/>
        <pc:sldMkLst>
          <pc:docMk/>
          <pc:sldMk cId="1168081511" sldId="279"/>
        </pc:sldMkLst>
        <pc:spChg chg="mod">
          <ac:chgData name="Archana Tomar" userId="daebacd23eda519e" providerId="LiveId" clId="{7622DADA-5E2A-470C-A1F7-1833BE1AADED}" dt="2025-03-17T08:52:04.879" v="22"/>
          <ac:spMkLst>
            <pc:docMk/>
            <pc:sldMk cId="1168081511" sldId="279"/>
            <ac:spMk id="2" creationId="{A6F162C0-E06F-7048-021C-41FB7BA38B88}"/>
          </ac:spMkLst>
        </pc:spChg>
        <pc:spChg chg="mod">
          <ac:chgData name="Archana Tomar" userId="daebacd23eda519e" providerId="LiveId" clId="{7622DADA-5E2A-470C-A1F7-1833BE1AADED}" dt="2025-03-17T08:52:05.410" v="42" actId="27636"/>
          <ac:spMkLst>
            <pc:docMk/>
            <pc:sldMk cId="1168081511" sldId="279"/>
            <ac:spMk id="3" creationId="{0C5E4738-A192-FBA7-46E9-076218088BC2}"/>
          </ac:spMkLst>
        </pc:spChg>
      </pc:sldChg>
      <pc:sldChg chg="modSp add">
        <pc:chgData name="Archana Tomar" userId="daebacd23eda519e" providerId="LiveId" clId="{7622DADA-5E2A-470C-A1F7-1833BE1AADED}" dt="2025-03-17T08:52:04.879" v="22"/>
        <pc:sldMkLst>
          <pc:docMk/>
          <pc:sldMk cId="2483881912" sldId="280"/>
        </pc:sldMkLst>
        <pc:spChg chg="mod">
          <ac:chgData name="Archana Tomar" userId="daebacd23eda519e" providerId="LiveId" clId="{7622DADA-5E2A-470C-A1F7-1833BE1AADED}" dt="2025-03-17T08:52:04.879" v="22"/>
          <ac:spMkLst>
            <pc:docMk/>
            <pc:sldMk cId="2483881912" sldId="280"/>
            <ac:spMk id="2" creationId="{C0B5C4EA-5CFF-7FBB-D529-D87D4C259590}"/>
          </ac:spMkLst>
        </pc:spChg>
      </pc:sldChg>
      <pc:sldChg chg="modSp add mod">
        <pc:chgData name="Archana Tomar" userId="daebacd23eda519e" providerId="LiveId" clId="{7622DADA-5E2A-470C-A1F7-1833BE1AADED}" dt="2025-03-17T08:52:05.310" v="37" actId="27636"/>
        <pc:sldMkLst>
          <pc:docMk/>
          <pc:sldMk cId="685951869" sldId="281"/>
        </pc:sldMkLst>
        <pc:spChg chg="mod">
          <ac:chgData name="Archana Tomar" userId="daebacd23eda519e" providerId="LiveId" clId="{7622DADA-5E2A-470C-A1F7-1833BE1AADED}" dt="2025-03-17T08:52:04.879" v="22"/>
          <ac:spMkLst>
            <pc:docMk/>
            <pc:sldMk cId="685951869" sldId="281"/>
            <ac:spMk id="2" creationId="{7CC2F4B6-1C51-90A5-ACF5-6E19D406E0D7}"/>
          </ac:spMkLst>
        </pc:spChg>
        <pc:spChg chg="mod">
          <ac:chgData name="Archana Tomar" userId="daebacd23eda519e" providerId="LiveId" clId="{7622DADA-5E2A-470C-A1F7-1833BE1AADED}" dt="2025-03-17T08:52:05.310" v="37" actId="27636"/>
          <ac:spMkLst>
            <pc:docMk/>
            <pc:sldMk cId="685951869" sldId="281"/>
            <ac:spMk id="3" creationId="{AB1C0B19-D48D-8E78-1512-4206926B8D49}"/>
          </ac:spMkLst>
        </pc:spChg>
      </pc:sldChg>
      <pc:sldChg chg="modSp add mod">
        <pc:chgData name="Archana Tomar" userId="daebacd23eda519e" providerId="LiveId" clId="{7622DADA-5E2A-470C-A1F7-1833BE1AADED}" dt="2025-03-17T08:52:05.248" v="33" actId="27636"/>
        <pc:sldMkLst>
          <pc:docMk/>
          <pc:sldMk cId="600132597" sldId="282"/>
        </pc:sldMkLst>
        <pc:spChg chg="mod">
          <ac:chgData name="Archana Tomar" userId="daebacd23eda519e" providerId="LiveId" clId="{7622DADA-5E2A-470C-A1F7-1833BE1AADED}" dt="2025-03-17T08:52:04.879" v="22"/>
          <ac:spMkLst>
            <pc:docMk/>
            <pc:sldMk cId="600132597" sldId="282"/>
            <ac:spMk id="2" creationId="{C5797029-16A9-093F-423E-FD8624890DDE}"/>
          </ac:spMkLst>
        </pc:spChg>
        <pc:spChg chg="mod">
          <ac:chgData name="Archana Tomar" userId="daebacd23eda519e" providerId="LiveId" clId="{7622DADA-5E2A-470C-A1F7-1833BE1AADED}" dt="2025-03-17T08:52:05.248" v="33" actId="27636"/>
          <ac:spMkLst>
            <pc:docMk/>
            <pc:sldMk cId="600132597" sldId="282"/>
            <ac:spMk id="3" creationId="{5AB8A862-C1A3-4E63-8DDC-D010CA8B47CF}"/>
          </ac:spMkLst>
        </pc:spChg>
      </pc:sldChg>
      <pc:sldChg chg="modSp add mod">
        <pc:chgData name="Archana Tomar" userId="daebacd23eda519e" providerId="LiveId" clId="{7622DADA-5E2A-470C-A1F7-1833BE1AADED}" dt="2025-03-17T08:52:05.292" v="36" actId="27636"/>
        <pc:sldMkLst>
          <pc:docMk/>
          <pc:sldMk cId="1078829484" sldId="283"/>
        </pc:sldMkLst>
        <pc:spChg chg="mod">
          <ac:chgData name="Archana Tomar" userId="daebacd23eda519e" providerId="LiveId" clId="{7622DADA-5E2A-470C-A1F7-1833BE1AADED}" dt="2025-03-17T08:52:04.879" v="22"/>
          <ac:spMkLst>
            <pc:docMk/>
            <pc:sldMk cId="1078829484" sldId="283"/>
            <ac:spMk id="2" creationId="{6AC02815-FEAC-7000-57DC-0D5307DC55D2}"/>
          </ac:spMkLst>
        </pc:spChg>
        <pc:spChg chg="mod">
          <ac:chgData name="Archana Tomar" userId="daebacd23eda519e" providerId="LiveId" clId="{7622DADA-5E2A-470C-A1F7-1833BE1AADED}" dt="2025-03-17T08:52:05.292" v="36" actId="27636"/>
          <ac:spMkLst>
            <pc:docMk/>
            <pc:sldMk cId="1078829484" sldId="283"/>
            <ac:spMk id="3" creationId="{1F241B00-242F-4A89-F7CB-71C391EBA8E2}"/>
          </ac:spMkLst>
        </pc:spChg>
      </pc:sldChg>
      <pc:sldChg chg="modSp add">
        <pc:chgData name="Archana Tomar" userId="daebacd23eda519e" providerId="LiveId" clId="{7622DADA-5E2A-470C-A1F7-1833BE1AADED}" dt="2025-03-17T08:52:04.879" v="22"/>
        <pc:sldMkLst>
          <pc:docMk/>
          <pc:sldMk cId="3895293774" sldId="286"/>
        </pc:sldMkLst>
        <pc:spChg chg="mod">
          <ac:chgData name="Archana Tomar" userId="daebacd23eda519e" providerId="LiveId" clId="{7622DADA-5E2A-470C-A1F7-1833BE1AADED}" dt="2025-03-17T08:52:04.879" v="22"/>
          <ac:spMkLst>
            <pc:docMk/>
            <pc:sldMk cId="3895293774" sldId="286"/>
            <ac:spMk id="2" creationId="{40EC1E88-42F4-8F71-AD5D-A7405F7B74E0}"/>
          </ac:spMkLst>
        </pc:spChg>
      </pc:sldChg>
      <pc:sldChg chg="modSp add mod">
        <pc:chgData name="Archana Tomar" userId="daebacd23eda519e" providerId="LiveId" clId="{7622DADA-5E2A-470C-A1F7-1833BE1AADED}" dt="2025-03-17T08:52:05.117" v="26" actId="27636"/>
        <pc:sldMkLst>
          <pc:docMk/>
          <pc:sldMk cId="71296942" sldId="289"/>
        </pc:sldMkLst>
        <pc:spChg chg="mod">
          <ac:chgData name="Archana Tomar" userId="daebacd23eda519e" providerId="LiveId" clId="{7622DADA-5E2A-470C-A1F7-1833BE1AADED}" dt="2025-03-17T08:52:04.879" v="22"/>
          <ac:spMkLst>
            <pc:docMk/>
            <pc:sldMk cId="71296942" sldId="289"/>
            <ac:spMk id="2" creationId="{DDDC9CD6-AE2A-3E4F-42D1-3815ACD4F7C8}"/>
          </ac:spMkLst>
        </pc:spChg>
        <pc:spChg chg="mod">
          <ac:chgData name="Archana Tomar" userId="daebacd23eda519e" providerId="LiveId" clId="{7622DADA-5E2A-470C-A1F7-1833BE1AADED}" dt="2025-03-17T08:52:05.117" v="26" actId="27636"/>
          <ac:spMkLst>
            <pc:docMk/>
            <pc:sldMk cId="71296942" sldId="289"/>
            <ac:spMk id="3" creationId="{849F04C0-DD4B-A141-236A-20A42623187A}"/>
          </ac:spMkLst>
        </pc:spChg>
      </pc:sldChg>
      <pc:sldChg chg="add">
        <pc:chgData name="Archana Tomar" userId="daebacd23eda519e" providerId="LiveId" clId="{7622DADA-5E2A-470C-A1F7-1833BE1AADED}" dt="2025-03-17T08:51:49.074" v="0"/>
        <pc:sldMkLst>
          <pc:docMk/>
          <pc:sldMk cId="2795189681" sldId="290"/>
        </pc:sldMkLst>
      </pc:sldChg>
      <pc:sldChg chg="add">
        <pc:chgData name="Archana Tomar" userId="daebacd23eda519e" providerId="LiveId" clId="{7622DADA-5E2A-470C-A1F7-1833BE1AADED}" dt="2025-03-17T08:51:49.074" v="0"/>
        <pc:sldMkLst>
          <pc:docMk/>
          <pc:sldMk cId="57941814" sldId="291"/>
        </pc:sldMkLst>
      </pc:sldChg>
      <pc:sldChg chg="add">
        <pc:chgData name="Archana Tomar" userId="daebacd23eda519e" providerId="LiveId" clId="{7622DADA-5E2A-470C-A1F7-1833BE1AADED}" dt="2025-03-17T08:51:49.074" v="0"/>
        <pc:sldMkLst>
          <pc:docMk/>
          <pc:sldMk cId="2265041186" sldId="292"/>
        </pc:sldMkLst>
      </pc:sldChg>
      <pc:sldChg chg="modSp add mod">
        <pc:chgData name="Archana Tomar" userId="daebacd23eda519e" providerId="LiveId" clId="{7622DADA-5E2A-470C-A1F7-1833BE1AADED}" dt="2025-03-17T08:52:04.879" v="22"/>
        <pc:sldMkLst>
          <pc:docMk/>
          <pc:sldMk cId="1283827432" sldId="293"/>
        </pc:sldMkLst>
        <pc:spChg chg="mod">
          <ac:chgData name="Archana Tomar" userId="daebacd23eda519e" providerId="LiveId" clId="{7622DADA-5E2A-470C-A1F7-1833BE1AADED}" dt="2025-03-17T08:52:04.879" v="22"/>
          <ac:spMkLst>
            <pc:docMk/>
            <pc:sldMk cId="1283827432" sldId="293"/>
            <ac:spMk id="2" creationId="{8C09D016-C60B-2A8A-46B9-5BAD7891FA00}"/>
          </ac:spMkLst>
        </pc:spChg>
        <pc:spChg chg="mod">
          <ac:chgData name="Archana Tomar" userId="daebacd23eda519e" providerId="LiveId" clId="{7622DADA-5E2A-470C-A1F7-1833BE1AADED}" dt="2025-03-17T08:52:04.879" v="22"/>
          <ac:spMkLst>
            <pc:docMk/>
            <pc:sldMk cId="1283827432" sldId="293"/>
            <ac:spMk id="3" creationId="{5E22F09B-C58B-AF0C-C34B-0944CDC510E8}"/>
          </ac:spMkLst>
        </pc:spChg>
      </pc:sldChg>
      <pc:sldChg chg="modSp add mod">
        <pc:chgData name="Archana Tomar" userId="daebacd23eda519e" providerId="LiveId" clId="{7622DADA-5E2A-470C-A1F7-1833BE1AADED}" dt="2025-03-17T08:52:05.329" v="38" actId="27636"/>
        <pc:sldMkLst>
          <pc:docMk/>
          <pc:sldMk cId="2405636658" sldId="295"/>
        </pc:sldMkLst>
        <pc:spChg chg="mod">
          <ac:chgData name="Archana Tomar" userId="daebacd23eda519e" providerId="LiveId" clId="{7622DADA-5E2A-470C-A1F7-1833BE1AADED}" dt="2025-03-17T08:52:04.879" v="22"/>
          <ac:spMkLst>
            <pc:docMk/>
            <pc:sldMk cId="2405636658" sldId="295"/>
            <ac:spMk id="2" creationId="{C2FE0C27-167A-2638-5226-C795050AAB99}"/>
          </ac:spMkLst>
        </pc:spChg>
        <pc:spChg chg="mod">
          <ac:chgData name="Archana Tomar" userId="daebacd23eda519e" providerId="LiveId" clId="{7622DADA-5E2A-470C-A1F7-1833BE1AADED}" dt="2025-03-17T08:52:05.329" v="38" actId="27636"/>
          <ac:spMkLst>
            <pc:docMk/>
            <pc:sldMk cId="2405636658" sldId="295"/>
            <ac:spMk id="3" creationId="{120E384B-1909-614F-1A10-0B367E0269D1}"/>
          </ac:spMkLst>
        </pc:spChg>
      </pc:sldChg>
      <pc:sldChg chg="modSp add mod">
        <pc:chgData name="Archana Tomar" userId="daebacd23eda519e" providerId="LiveId" clId="{7622DADA-5E2A-470C-A1F7-1833BE1AADED}" dt="2025-03-17T08:52:05.357" v="39" actId="27636"/>
        <pc:sldMkLst>
          <pc:docMk/>
          <pc:sldMk cId="3085322135" sldId="296"/>
        </pc:sldMkLst>
        <pc:spChg chg="mod">
          <ac:chgData name="Archana Tomar" userId="daebacd23eda519e" providerId="LiveId" clId="{7622DADA-5E2A-470C-A1F7-1833BE1AADED}" dt="2025-03-17T08:52:04.879" v="22"/>
          <ac:spMkLst>
            <pc:docMk/>
            <pc:sldMk cId="3085322135" sldId="296"/>
            <ac:spMk id="2" creationId="{C0CF55EF-C332-9CEF-5191-B10E86C8C475}"/>
          </ac:spMkLst>
        </pc:spChg>
        <pc:spChg chg="mod">
          <ac:chgData name="Archana Tomar" userId="daebacd23eda519e" providerId="LiveId" clId="{7622DADA-5E2A-470C-A1F7-1833BE1AADED}" dt="2025-03-17T08:52:05.357" v="39" actId="27636"/>
          <ac:spMkLst>
            <pc:docMk/>
            <pc:sldMk cId="3085322135" sldId="296"/>
            <ac:spMk id="3" creationId="{68A50C9D-A5EB-B577-1080-537E2F6208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37D570-439D-4F51-89DC-7EB1F709F7A4}" type="datetimeFigureOut">
              <a:rPr lang="en-IN" smtClean="0"/>
              <a:t>17-03-2025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F62F21-2897-4CFA-BBF4-F1FDC503303D}" type="slidenum">
              <a:rPr lang="en-IN" smtClean="0"/>
              <a:t>‹#›</a:t>
            </a:fld>
            <a:endParaRPr lang="en-IN"/>
          </a:p>
        </p:txBody>
      </p:sp>
    </p:spTree>
    <p:extLst>
      <p:ext uri="{BB962C8B-B14F-4D97-AF65-F5344CB8AC3E}">
        <p14:creationId xmlns:p14="http://schemas.microsoft.com/office/powerpoint/2010/main" val="3132323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301D051-8B25-4919-986D-A0EFE66549FD}" type="slidenum">
              <a:rPr lang="en-IN" smtClean="0"/>
              <a:t>33</a:t>
            </a:fld>
            <a:endParaRPr lang="en-IN"/>
          </a:p>
        </p:txBody>
      </p:sp>
    </p:spTree>
    <p:extLst>
      <p:ext uri="{BB962C8B-B14F-4D97-AF65-F5344CB8AC3E}">
        <p14:creationId xmlns:p14="http://schemas.microsoft.com/office/powerpoint/2010/main" val="2944533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7BAE307-3F6A-4645-8267-9C387A12E2FE}"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6666E-7C8C-41FF-A79E-9A2B6867244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1499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BAE307-3F6A-4645-8267-9C387A12E2FE}"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6666E-7C8C-41FF-A79E-9A2B68672440}" type="slidenum">
              <a:rPr lang="en-IN" smtClean="0"/>
              <a:t>‹#›</a:t>
            </a:fld>
            <a:endParaRPr lang="en-IN"/>
          </a:p>
        </p:txBody>
      </p:sp>
    </p:spTree>
    <p:extLst>
      <p:ext uri="{BB962C8B-B14F-4D97-AF65-F5344CB8AC3E}">
        <p14:creationId xmlns:p14="http://schemas.microsoft.com/office/powerpoint/2010/main" val="1873368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AE307-3F6A-4645-8267-9C387A12E2FE}"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6666E-7C8C-41FF-A79E-9A2B6867244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326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BAE307-3F6A-4645-8267-9C387A12E2FE}" type="datetimeFigureOut">
              <a:rPr lang="en-IN" smtClean="0"/>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E6666E-7C8C-41FF-A79E-9A2B68672440}" type="slidenum">
              <a:rPr lang="en-IN" smtClean="0"/>
              <a:t>‹#›</a:t>
            </a:fld>
            <a:endParaRPr lang="en-IN"/>
          </a:p>
        </p:txBody>
      </p:sp>
    </p:spTree>
    <p:extLst>
      <p:ext uri="{BB962C8B-B14F-4D97-AF65-F5344CB8AC3E}">
        <p14:creationId xmlns:p14="http://schemas.microsoft.com/office/powerpoint/2010/main" val="329866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BAE307-3F6A-4645-8267-9C387A12E2FE}" type="datetimeFigureOut">
              <a:rPr lang="en-IN" smtClean="0"/>
              <a:t>17-03-2025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E6666E-7C8C-41FF-A79E-9A2B68672440}" type="slidenum">
              <a:rPr lang="en-IN" smtClean="0"/>
              <a:t>‹#›</a:t>
            </a:fld>
            <a:endParaRPr lang="en-IN"/>
          </a:p>
        </p:txBody>
      </p:sp>
    </p:spTree>
    <p:extLst>
      <p:ext uri="{BB962C8B-B14F-4D97-AF65-F5344CB8AC3E}">
        <p14:creationId xmlns:p14="http://schemas.microsoft.com/office/powerpoint/2010/main" val="1493323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BAE307-3F6A-4645-8267-9C387A12E2FE}" type="datetimeFigureOut">
              <a:rPr lang="en-IN" smtClean="0"/>
              <a:t>17-03-2025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E6666E-7C8C-41FF-A79E-9A2B68672440}" type="slidenum">
              <a:rPr lang="en-IN" smtClean="0"/>
              <a:t>‹#›</a:t>
            </a:fld>
            <a:endParaRPr lang="en-IN"/>
          </a:p>
        </p:txBody>
      </p:sp>
    </p:spTree>
    <p:extLst>
      <p:ext uri="{BB962C8B-B14F-4D97-AF65-F5344CB8AC3E}">
        <p14:creationId xmlns:p14="http://schemas.microsoft.com/office/powerpoint/2010/main" val="413048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AE307-3F6A-4645-8267-9C387A12E2FE}" type="datetimeFigureOut">
              <a:rPr lang="en-IN" smtClean="0"/>
              <a:t>17-03-2025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E6666E-7C8C-41FF-A79E-9A2B68672440}" type="slidenum">
              <a:rPr lang="en-IN" smtClean="0"/>
              <a:t>‹#›</a:t>
            </a:fld>
            <a:endParaRPr lang="en-IN"/>
          </a:p>
        </p:txBody>
      </p:sp>
    </p:spTree>
    <p:extLst>
      <p:ext uri="{BB962C8B-B14F-4D97-AF65-F5344CB8AC3E}">
        <p14:creationId xmlns:p14="http://schemas.microsoft.com/office/powerpoint/2010/main" val="323460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AE307-3F6A-4645-8267-9C387A12E2FE}" type="datetimeFigureOut">
              <a:rPr lang="en-IN" smtClean="0"/>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E6666E-7C8C-41FF-A79E-9A2B68672440}" type="slidenum">
              <a:rPr lang="en-IN" smtClean="0"/>
              <a:t>‹#›</a:t>
            </a:fld>
            <a:endParaRPr lang="en-IN"/>
          </a:p>
        </p:txBody>
      </p:sp>
    </p:spTree>
    <p:extLst>
      <p:ext uri="{BB962C8B-B14F-4D97-AF65-F5344CB8AC3E}">
        <p14:creationId xmlns:p14="http://schemas.microsoft.com/office/powerpoint/2010/main" val="1427194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BAE307-3F6A-4645-8267-9C387A12E2FE}" type="datetimeFigureOut">
              <a:rPr lang="en-IN" smtClean="0"/>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E6666E-7C8C-41FF-A79E-9A2B6867244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2794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BAE307-3F6A-4645-8267-9C387A12E2FE}"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6666E-7C8C-41FF-A79E-9A2B68672440}" type="slidenum">
              <a:rPr lang="en-IN" smtClean="0"/>
              <a:t>‹#›</a:t>
            </a:fld>
            <a:endParaRPr lang="en-IN"/>
          </a:p>
        </p:txBody>
      </p:sp>
    </p:spTree>
    <p:extLst>
      <p:ext uri="{BB962C8B-B14F-4D97-AF65-F5344CB8AC3E}">
        <p14:creationId xmlns:p14="http://schemas.microsoft.com/office/powerpoint/2010/main" val="430239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BAE307-3F6A-4645-8267-9C387A12E2FE}"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6666E-7C8C-41FF-A79E-9A2B68672440}"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640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7BAE307-3F6A-4645-8267-9C387A12E2FE}" type="datetimeFigureOut">
              <a:rPr lang="en-IN" smtClean="0"/>
              <a:t>17-03-2025</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CE6666E-7C8C-41FF-A79E-9A2B68672440}"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972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7C4E4-809F-CB08-6D71-093401E4110D}"/>
              </a:ext>
            </a:extLst>
          </p:cNvPr>
          <p:cNvSpPr>
            <a:spLocks noGrp="1"/>
          </p:cNvSpPr>
          <p:nvPr>
            <p:ph type="ctrTitle"/>
          </p:nvPr>
        </p:nvSpPr>
        <p:spPr/>
        <p:txBody>
          <a:bodyPr/>
          <a:lstStyle/>
          <a:p>
            <a:r>
              <a:rPr lang="en-US" dirty="0"/>
              <a:t>Paradigms of Research</a:t>
            </a:r>
            <a:endParaRPr lang="en-IN" dirty="0"/>
          </a:p>
        </p:txBody>
      </p:sp>
      <p:sp>
        <p:nvSpPr>
          <p:cNvPr id="3" name="Subtitle 2">
            <a:extLst>
              <a:ext uri="{FF2B5EF4-FFF2-40B4-BE49-F238E27FC236}">
                <a16:creationId xmlns:a16="http://schemas.microsoft.com/office/drawing/2014/main" id="{02F12411-3FD7-A047-E75F-33B052A4D7E0}"/>
              </a:ext>
            </a:extLst>
          </p:cNvPr>
          <p:cNvSpPr>
            <a:spLocks noGrp="1"/>
          </p:cNvSpPr>
          <p:nvPr>
            <p:ph type="subTitle" idx="1"/>
          </p:nvPr>
        </p:nvSpPr>
        <p:spPr/>
        <p:txBody>
          <a:bodyPr>
            <a:normAutofit fontScale="85000" lnSpcReduction="10000"/>
          </a:bodyPr>
          <a:lstStyle/>
          <a:p>
            <a:r>
              <a:rPr lang="en-US" dirty="0"/>
              <a:t>Dr. Archana Tomar</a:t>
            </a:r>
          </a:p>
          <a:p>
            <a:r>
              <a:rPr lang="en-US" dirty="0"/>
              <a:t>Department of Education (CASE)</a:t>
            </a:r>
          </a:p>
          <a:p>
            <a:r>
              <a:rPr lang="en-US" dirty="0"/>
              <a:t>Faculty of Education and Psychology</a:t>
            </a:r>
          </a:p>
          <a:p>
            <a:r>
              <a:rPr lang="en-US" dirty="0"/>
              <a:t>The Maharaja Sayajirao University of Baroda</a:t>
            </a:r>
          </a:p>
          <a:p>
            <a:r>
              <a:rPr lang="en-US" dirty="0"/>
              <a:t> Vadodara</a:t>
            </a:r>
            <a:endParaRPr lang="en-IN" dirty="0"/>
          </a:p>
        </p:txBody>
      </p:sp>
    </p:spTree>
    <p:extLst>
      <p:ext uri="{BB962C8B-B14F-4D97-AF65-F5344CB8AC3E}">
        <p14:creationId xmlns:p14="http://schemas.microsoft.com/office/powerpoint/2010/main" val="2212350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7456C-EB34-2FAE-71BF-6F38935381A2}"/>
              </a:ext>
            </a:extLst>
          </p:cNvPr>
          <p:cNvSpPr>
            <a:spLocks noGrp="1"/>
          </p:cNvSpPr>
          <p:nvPr>
            <p:ph type="title"/>
          </p:nvPr>
        </p:nvSpPr>
        <p:spPr/>
        <p:txBody>
          <a:bodyPr/>
          <a:lstStyle/>
          <a:p>
            <a:r>
              <a:rPr lang="en-US" dirty="0"/>
              <a:t>Content</a:t>
            </a:r>
            <a:endParaRPr lang="en-IN" dirty="0"/>
          </a:p>
        </p:txBody>
      </p:sp>
      <p:sp>
        <p:nvSpPr>
          <p:cNvPr id="3" name="Content Placeholder 2">
            <a:extLst>
              <a:ext uri="{FF2B5EF4-FFF2-40B4-BE49-F238E27FC236}">
                <a16:creationId xmlns:a16="http://schemas.microsoft.com/office/drawing/2014/main" id="{3DD02A01-89D0-AD6F-755B-35471446D07B}"/>
              </a:ext>
            </a:extLst>
          </p:cNvPr>
          <p:cNvSpPr>
            <a:spLocks noGrp="1"/>
          </p:cNvSpPr>
          <p:nvPr>
            <p:ph idx="1"/>
          </p:nvPr>
        </p:nvSpPr>
        <p:spPr/>
        <p:txBody>
          <a:bodyPr>
            <a:normAutofit fontScale="62500" lnSpcReduction="20000"/>
          </a:bodyPr>
          <a:lstStyle/>
          <a:p>
            <a:r>
              <a:rPr lang="en-US" dirty="0"/>
              <a:t>Paradigm</a:t>
            </a:r>
          </a:p>
          <a:p>
            <a:r>
              <a:rPr lang="en-US" dirty="0"/>
              <a:t>Research</a:t>
            </a:r>
          </a:p>
          <a:p>
            <a:r>
              <a:rPr lang="en-US" dirty="0"/>
              <a:t>Paradigms of Research</a:t>
            </a:r>
          </a:p>
          <a:p>
            <a:r>
              <a:rPr lang="en-US" dirty="0"/>
              <a:t>Positivist</a:t>
            </a:r>
          </a:p>
          <a:p>
            <a:r>
              <a:rPr lang="en-US" dirty="0"/>
              <a:t>Interpretative</a:t>
            </a:r>
          </a:p>
          <a:p>
            <a:r>
              <a:rPr lang="en-US" dirty="0"/>
              <a:t>Critical</a:t>
            </a:r>
          </a:p>
          <a:p>
            <a:r>
              <a:rPr lang="en-US" dirty="0"/>
              <a:t>Pragmatic</a:t>
            </a:r>
          </a:p>
          <a:p>
            <a:endParaRPr lang="en-US" dirty="0"/>
          </a:p>
          <a:p>
            <a:endParaRPr lang="en-US" dirty="0"/>
          </a:p>
          <a:p>
            <a:endParaRPr lang="en-US" dirty="0"/>
          </a:p>
          <a:p>
            <a:endParaRPr lang="en-US" dirty="0"/>
          </a:p>
          <a:p>
            <a:r>
              <a:rPr lang="en-IN" dirty="0"/>
              <a:t>https://salmapatel.co.uk/academia/the-research-paradigm-methodology-epistemology-and-ontology-explained-in-simple-language/</a:t>
            </a:r>
          </a:p>
        </p:txBody>
      </p:sp>
    </p:spTree>
    <p:extLst>
      <p:ext uri="{BB962C8B-B14F-4D97-AF65-F5344CB8AC3E}">
        <p14:creationId xmlns:p14="http://schemas.microsoft.com/office/powerpoint/2010/main" val="2865946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C1E88-42F4-8F71-AD5D-A7405F7B74E0}"/>
              </a:ext>
            </a:extLst>
          </p:cNvPr>
          <p:cNvSpPr>
            <a:spLocks noGrp="1"/>
          </p:cNvSpPr>
          <p:nvPr>
            <p:ph type="title"/>
          </p:nvPr>
        </p:nvSpPr>
        <p:spPr/>
        <p:txBody>
          <a:bodyPr/>
          <a:lstStyle/>
          <a:p>
            <a:r>
              <a:rPr lang="en-US" dirty="0"/>
              <a:t>There is a Philosophical base for Paradigm</a:t>
            </a:r>
            <a:endParaRPr lang="en-IN" dirty="0"/>
          </a:p>
        </p:txBody>
      </p:sp>
      <p:sp>
        <p:nvSpPr>
          <p:cNvPr id="3" name="Content Placeholder 2">
            <a:extLst>
              <a:ext uri="{FF2B5EF4-FFF2-40B4-BE49-F238E27FC236}">
                <a16:creationId xmlns:a16="http://schemas.microsoft.com/office/drawing/2014/main" id="{4308BAF2-FAC9-2D00-B427-EDB2D9480684}"/>
              </a:ext>
            </a:extLst>
          </p:cNvPr>
          <p:cNvSpPr>
            <a:spLocks noGrp="1"/>
          </p:cNvSpPr>
          <p:nvPr>
            <p:ph idx="1"/>
          </p:nvPr>
        </p:nvSpPr>
        <p:spPr>
          <a:xfrm>
            <a:off x="71919" y="1825624"/>
            <a:ext cx="11568701" cy="5032375"/>
          </a:xfrm>
        </p:spPr>
        <p:txBody>
          <a:bodyPr>
            <a:normAutofit fontScale="25000" lnSpcReduction="20000"/>
          </a:bodyPr>
          <a:lstStyle/>
          <a:p>
            <a:pPr marL="0" indent="0">
              <a:buNone/>
            </a:pPr>
            <a:r>
              <a:rPr lang="en-US" sz="9600" dirty="0"/>
              <a:t>Philosophical in nature and encompass the following common elements: </a:t>
            </a:r>
          </a:p>
          <a:p>
            <a:pPr marL="0" indent="0">
              <a:buNone/>
            </a:pPr>
            <a:r>
              <a:rPr lang="en-US" sz="9600" dirty="0"/>
              <a:t>axiology—beliefs about the role of values and morals in research;</a:t>
            </a:r>
          </a:p>
          <a:p>
            <a:pPr marL="0" indent="0">
              <a:buNone/>
            </a:pPr>
            <a:r>
              <a:rPr lang="en-US" sz="9600" dirty="0"/>
              <a:t>ontology—assumptions about the nature of reality; </a:t>
            </a:r>
          </a:p>
          <a:p>
            <a:pPr marL="0" indent="0">
              <a:buNone/>
            </a:pPr>
            <a:r>
              <a:rPr lang="en-US" sz="9600" dirty="0"/>
              <a:t>epistemology—assumptions about how we know the world, how we gain knowledge, the relationship between the knower and the known;</a:t>
            </a:r>
          </a:p>
          <a:p>
            <a:pPr marL="0" indent="0">
              <a:buNone/>
            </a:pPr>
            <a:r>
              <a:rPr lang="en-US" sz="9600" dirty="0"/>
              <a:t>methodology—shared understanding of best means for gaining knowledge about the world; and</a:t>
            </a:r>
          </a:p>
          <a:p>
            <a:pPr marL="0" indent="0">
              <a:buNone/>
            </a:pPr>
            <a:r>
              <a:rPr lang="en-US" sz="9600" dirty="0"/>
              <a:t>rhetoric—shared understanding of the language of research (Creswell 2009; Lincoln et al. 2011).</a:t>
            </a:r>
          </a:p>
          <a:p>
            <a:pPr marL="0" indent="0">
              <a:buNone/>
            </a:pPr>
            <a:r>
              <a:rPr lang="en-US" sz="9600" dirty="0"/>
              <a:t>Paradigms are conceptual and practical “tools” that are used to solve specific research problems; in other words, paradigms function as heuristics in social research (Abbott 2004, p. 42). Each paradigm has a different perspective on the axiology, ontology, epistemology, methodology, and rhetoric of research.</a:t>
            </a:r>
          </a:p>
          <a:p>
            <a:endParaRPr lang="en-IN" dirty="0"/>
          </a:p>
        </p:txBody>
      </p:sp>
    </p:spTree>
    <p:extLst>
      <p:ext uri="{BB962C8B-B14F-4D97-AF65-F5344CB8AC3E}">
        <p14:creationId xmlns:p14="http://schemas.microsoft.com/office/powerpoint/2010/main" val="3895293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621B6BF-69E6-D957-0C47-00FF672931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359" y="595901"/>
            <a:ext cx="11762308" cy="6143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41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B9AC75-F251-CEB6-976A-16E45B2248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1933" y="688369"/>
            <a:ext cx="10294705" cy="5928188"/>
          </a:xfrm>
        </p:spPr>
      </p:pic>
    </p:spTree>
    <p:extLst>
      <p:ext uri="{BB962C8B-B14F-4D97-AF65-F5344CB8AC3E}">
        <p14:creationId xmlns:p14="http://schemas.microsoft.com/office/powerpoint/2010/main" val="2265041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89975-601B-CD7A-D2EF-41E47860140F}"/>
              </a:ext>
            </a:extLst>
          </p:cNvPr>
          <p:cNvSpPr>
            <a:spLocks noGrp="1"/>
          </p:cNvSpPr>
          <p:nvPr>
            <p:ph type="title"/>
          </p:nvPr>
        </p:nvSpPr>
        <p:spPr/>
        <p:txBody>
          <a:bodyPr/>
          <a:lstStyle/>
          <a:p>
            <a:r>
              <a:rPr lang="en-US" dirty="0"/>
              <a:t>Paradigm</a:t>
            </a:r>
            <a:endParaRPr lang="en-IN" dirty="0"/>
          </a:p>
        </p:txBody>
      </p:sp>
      <p:sp>
        <p:nvSpPr>
          <p:cNvPr id="3" name="Content Placeholder 2">
            <a:extLst>
              <a:ext uri="{FF2B5EF4-FFF2-40B4-BE49-F238E27FC236}">
                <a16:creationId xmlns:a16="http://schemas.microsoft.com/office/drawing/2014/main" id="{CC3A8446-A483-ED34-6537-3538266BE020}"/>
              </a:ext>
            </a:extLst>
          </p:cNvPr>
          <p:cNvSpPr>
            <a:spLocks noGrp="1"/>
          </p:cNvSpPr>
          <p:nvPr>
            <p:ph idx="1"/>
          </p:nvPr>
        </p:nvSpPr>
        <p:spPr/>
        <p:txBody>
          <a:bodyPr>
            <a:normAutofit/>
          </a:bodyPr>
          <a:lstStyle/>
          <a:p>
            <a:r>
              <a:rPr lang="en-IN" sz="2800" kern="0" dirty="0">
                <a:effectLst/>
                <a:latin typeface="Times New Roman" panose="02020603050405020304" pitchFamily="18" charset="0"/>
                <a:ea typeface="Times New Roman" panose="02020603050405020304" pitchFamily="18" charset="0"/>
              </a:rPr>
              <a:t>Research paradigms refer to the fundamental frameworks or perspectives that researchers use to understand phenomena, design studies, collect data, and interpret findings. </a:t>
            </a:r>
          </a:p>
          <a:p>
            <a:r>
              <a:rPr lang="en-IN" sz="2800" kern="0" dirty="0">
                <a:effectLst/>
                <a:latin typeface="Times New Roman" panose="02020603050405020304" pitchFamily="18" charset="0"/>
                <a:ea typeface="Times New Roman" panose="02020603050405020304" pitchFamily="18" charset="0"/>
              </a:rPr>
              <a:t>These paradigms shape the entire research process, from the formulation of research questions to the dissemination of results.</a:t>
            </a:r>
            <a:endParaRPr lang="en-IN" sz="2800" dirty="0"/>
          </a:p>
        </p:txBody>
      </p:sp>
    </p:spTree>
    <p:extLst>
      <p:ext uri="{BB962C8B-B14F-4D97-AF65-F5344CB8AC3E}">
        <p14:creationId xmlns:p14="http://schemas.microsoft.com/office/powerpoint/2010/main" val="2532792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8FAB-89BC-1B34-1DAC-DFB8D68B2C9A}"/>
              </a:ext>
            </a:extLst>
          </p:cNvPr>
          <p:cNvSpPr>
            <a:spLocks noGrp="1"/>
          </p:cNvSpPr>
          <p:nvPr>
            <p:ph type="title"/>
          </p:nvPr>
        </p:nvSpPr>
        <p:spPr/>
        <p:txBody>
          <a:bodyPr/>
          <a:lstStyle/>
          <a:p>
            <a:r>
              <a:rPr lang="en-US" dirty="0"/>
              <a:t>Paradigm..</a:t>
            </a:r>
            <a:endParaRPr lang="en-IN" dirty="0"/>
          </a:p>
        </p:txBody>
      </p:sp>
      <p:sp>
        <p:nvSpPr>
          <p:cNvPr id="3" name="Content Placeholder 2">
            <a:extLst>
              <a:ext uri="{FF2B5EF4-FFF2-40B4-BE49-F238E27FC236}">
                <a16:creationId xmlns:a16="http://schemas.microsoft.com/office/drawing/2014/main" id="{C9792165-2BE2-598F-C415-4DAA89E91C19}"/>
              </a:ext>
            </a:extLst>
          </p:cNvPr>
          <p:cNvSpPr>
            <a:spLocks noGrp="1"/>
          </p:cNvSpPr>
          <p:nvPr>
            <p:ph idx="1"/>
          </p:nvPr>
        </p:nvSpPr>
        <p:spPr>
          <a:xfrm>
            <a:off x="1103312" y="1853248"/>
            <a:ext cx="10342099" cy="4552034"/>
          </a:xfrm>
        </p:spPr>
        <p:txBody>
          <a:bodyPr>
            <a:normAutofit fontScale="77500" lnSpcReduction="20000"/>
          </a:bodyPr>
          <a:lstStyle/>
          <a:p>
            <a:pPr>
              <a:lnSpc>
                <a:spcPct val="107000"/>
              </a:lnSpc>
              <a:spcAft>
                <a:spcPts val="1500"/>
              </a:spcAf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A paradigm refers to a fundamental framework or model that shapes how we perceive, understand, and interpret the world around us. It encompasses a set of beliefs, assumptions, values, and practices that guide our thinking and behavior within a particular field of study, discipline, or worldview. Paradigms serve as lenses through which we view reality, influencing the questions we ask, the methods we use to investigate phenomena, and the interpretations we make of our observations.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500"/>
              </a:spcBef>
              <a:spcAft>
                <a:spcPts val="1500"/>
              </a:spcAf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In the context of scientific research, Thomas Kuhn, a philosopher of science, popularized the concept of paradigm in his influential work "The Structure of Scientific Revolutions." According to Kuhn, scientific paradigms are dominant frameworks that govern scientific inquiry within a given period. These paradigms include shared beliefs about the nature of reality, accepted theories, methodologies, and standards of evidence within a scientific community.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54447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DB777-8CFF-D672-B796-853C9F6C5832}"/>
              </a:ext>
            </a:extLst>
          </p:cNvPr>
          <p:cNvSpPr>
            <a:spLocks noGrp="1"/>
          </p:cNvSpPr>
          <p:nvPr>
            <p:ph type="title"/>
          </p:nvPr>
        </p:nvSpPr>
        <p:spPr/>
        <p:txBody>
          <a:bodyPr/>
          <a:lstStyle/>
          <a:p>
            <a:r>
              <a:rPr lang="en-US" dirty="0"/>
              <a:t>Paradigm..</a:t>
            </a:r>
            <a:endParaRPr lang="en-IN" dirty="0"/>
          </a:p>
        </p:txBody>
      </p:sp>
      <p:sp>
        <p:nvSpPr>
          <p:cNvPr id="3" name="Content Placeholder 2">
            <a:extLst>
              <a:ext uri="{FF2B5EF4-FFF2-40B4-BE49-F238E27FC236}">
                <a16:creationId xmlns:a16="http://schemas.microsoft.com/office/drawing/2014/main" id="{402EBD0B-94A0-F402-D63E-D44A5A8F9DE8}"/>
              </a:ext>
            </a:extLst>
          </p:cNvPr>
          <p:cNvSpPr>
            <a:spLocks noGrp="1"/>
          </p:cNvSpPr>
          <p:nvPr>
            <p:ph idx="1"/>
          </p:nvPr>
        </p:nvSpPr>
        <p:spPr>
          <a:xfrm>
            <a:off x="1103312" y="1853248"/>
            <a:ext cx="10064697" cy="4552034"/>
          </a:xfrm>
        </p:spPr>
        <p:txBody>
          <a:bodyPr>
            <a:normAutofit fontScale="92500"/>
          </a:bodyPr>
          <a:lstStyle/>
          <a:p>
            <a:pPr>
              <a:lnSpc>
                <a:spcPct val="107000"/>
              </a:lnSpc>
              <a:spcBef>
                <a:spcPts val="1500"/>
              </a:spcBef>
              <a:spcAft>
                <a:spcPts val="1500"/>
              </a:spcAft>
            </a:pP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Paradigms are not static; they evolve over time through a process of scientific revolution and paradigm shifts. When anomalies or inconsistencies arise within a paradigm, and existing theories fail to explain new observations, scientists may challenge the prevailing paradigm and propose alternative frameworks. This process of scientific revolution can lead to a paradigm shift, where a new paradigm emerges to replace the old one, fundamentally altering the way scientists understand and investigate a particular field of study.</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500"/>
              </a:spcBef>
              <a:spcAft>
                <a:spcPts val="1500"/>
              </a:spcAft>
            </a:pP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Beyond science, paradigms also exist in other areas such as philosophy, social sciences, and everyday life. They shape our worldviews, cultural norms, and societal institutions. For example, paradigms in economics may influence how policymakers approach issues such as market regulation, fiscal policy, and economic inequality. Similarly, paradigms in education may inform teaching methods, curriculum design, and educational philosophy</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29301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37EF6-D627-98C8-AD8C-1E470D1242DE}"/>
              </a:ext>
            </a:extLst>
          </p:cNvPr>
          <p:cNvSpPr>
            <a:spLocks noGrp="1"/>
          </p:cNvSpPr>
          <p:nvPr>
            <p:ph type="title"/>
          </p:nvPr>
        </p:nvSpPr>
        <p:spPr/>
        <p:txBody>
          <a:bodyPr/>
          <a:lstStyle/>
          <a:p>
            <a:r>
              <a:rPr lang="en-US" dirty="0"/>
              <a:t>Paradigm..</a:t>
            </a:r>
            <a:endParaRPr lang="en-IN" dirty="0"/>
          </a:p>
        </p:txBody>
      </p:sp>
      <p:sp>
        <p:nvSpPr>
          <p:cNvPr id="3" name="Content Placeholder 2">
            <a:extLst>
              <a:ext uri="{FF2B5EF4-FFF2-40B4-BE49-F238E27FC236}">
                <a16:creationId xmlns:a16="http://schemas.microsoft.com/office/drawing/2014/main" id="{56B28123-4DFB-1EAC-741E-529BA3A87147}"/>
              </a:ext>
            </a:extLst>
          </p:cNvPr>
          <p:cNvSpPr>
            <a:spLocks noGrp="1"/>
          </p:cNvSpPr>
          <p:nvPr>
            <p:ph idx="1"/>
          </p:nvPr>
        </p:nvSpPr>
        <p:spPr/>
        <p:txBody>
          <a:bodyPr>
            <a:normAutofit/>
          </a:bodyPr>
          <a:lstStyle/>
          <a:p>
            <a:r>
              <a:rPr lang="en-IN" sz="3200" kern="0" dirty="0">
                <a:effectLst/>
                <a:latin typeface="Times New Roman" panose="02020603050405020304" pitchFamily="18" charset="0"/>
                <a:ea typeface="Times New Roman" panose="02020603050405020304" pitchFamily="18" charset="0"/>
              </a:rPr>
              <a:t>Overall, paradigms are essential for organizing and making sense of our experiences and observations. They provide a framework for knowledge creation, problem-solving, and decision-making within various domains of human inquiry </a:t>
            </a:r>
            <a:endParaRPr lang="en-IN" sz="3200" dirty="0"/>
          </a:p>
        </p:txBody>
      </p:sp>
    </p:spTree>
    <p:extLst>
      <p:ext uri="{BB962C8B-B14F-4D97-AF65-F5344CB8AC3E}">
        <p14:creationId xmlns:p14="http://schemas.microsoft.com/office/powerpoint/2010/main" val="3067714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267F-3776-5DC8-8A07-9D35E66B843E}"/>
              </a:ext>
            </a:extLst>
          </p:cNvPr>
          <p:cNvSpPr>
            <a:spLocks noGrp="1"/>
          </p:cNvSpPr>
          <p:nvPr>
            <p:ph type="title"/>
          </p:nvPr>
        </p:nvSpPr>
        <p:spPr/>
        <p:txBody>
          <a:bodyPr/>
          <a:lstStyle/>
          <a:p>
            <a:r>
              <a:rPr lang="en-US" dirty="0"/>
              <a:t>Research </a:t>
            </a:r>
            <a:endParaRPr lang="en-IN" dirty="0"/>
          </a:p>
        </p:txBody>
      </p:sp>
      <p:sp>
        <p:nvSpPr>
          <p:cNvPr id="3" name="Content Placeholder 2">
            <a:extLst>
              <a:ext uri="{FF2B5EF4-FFF2-40B4-BE49-F238E27FC236}">
                <a16:creationId xmlns:a16="http://schemas.microsoft.com/office/drawing/2014/main" id="{F7319128-20F6-08D6-16D5-85E683B8136A}"/>
              </a:ext>
            </a:extLst>
          </p:cNvPr>
          <p:cNvSpPr>
            <a:spLocks noGrp="1"/>
          </p:cNvSpPr>
          <p:nvPr>
            <p:ph idx="1"/>
          </p:nvPr>
        </p:nvSpPr>
        <p:spPr>
          <a:xfrm>
            <a:off x="850493" y="1152983"/>
            <a:ext cx="10623478" cy="4905255"/>
          </a:xfrm>
        </p:spPr>
        <p:txBody>
          <a:bodyPr>
            <a:normAutofit/>
          </a:bodyPr>
          <a:lstStyle/>
          <a:p>
            <a:pPr>
              <a:lnSpc>
                <a:spcPct val="107000"/>
              </a:lnSpc>
              <a:spcAft>
                <a:spcPts val="15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Research is a systematic and organized process of inquiry aimed at generating new knowledge, understanding, or insights about a specific topic or phenomenon. It involves the collection, analysis, and interpretation of data to answer research questions or test hypotheses. Research can take many forms and be conducted in various fields, including science, social science, humanities, engineering, and medicine.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Systematic Inquiry</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Research involves a systematic and organized approach to inquiry, where researchers follow established methods and procedures to investigate a particular topic or problem. This includes defining research questions or hypotheses, designing studies, collecting data, and </a:t>
            </a:r>
            <a:r>
              <a:rPr lang="en-IN" sz="24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analyzing</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findings.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49942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C9CD6-AE2A-3E4F-42D1-3815ACD4F7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9F04C0-DD4B-A141-236A-20A42623187A}"/>
              </a:ext>
            </a:extLst>
          </p:cNvPr>
          <p:cNvSpPr>
            <a:spLocks noGrp="1"/>
          </p:cNvSpPr>
          <p:nvPr>
            <p:ph idx="1"/>
          </p:nvPr>
        </p:nvSpPr>
        <p:spPr/>
        <p:txBody>
          <a:bodyPr>
            <a:normAutofit fontScale="92500" lnSpcReduction="20000"/>
          </a:bodyPr>
          <a:lstStyle/>
          <a:p>
            <a:pPr marL="0" lvl="0" indent="0">
              <a:lnSpc>
                <a:spcPct val="107000"/>
              </a:lnSpc>
              <a:spcAft>
                <a:spcPts val="800"/>
              </a:spcAft>
              <a:buNone/>
              <a:tabLst>
                <a:tab pos="4572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Objective and Empirical</a:t>
            </a: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 Research aims to be objective and empirical, relying on evidence obtained through observation, measurement, or experimentation. Researchers strive to minimize bias and subjectivity in their data collection and analysis, using rigorous methods to ensure the reliability and validity of their findings.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Purposeful</a:t>
            </a: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 Research is purposeful and goal-oriented, driven by specific objectives or aims. Whether seeking to advance theoretical knowledge, solve practical problems, inform policy decisions, or improve understanding, research </a:t>
            </a:r>
            <a:r>
              <a:rPr lang="en-IN"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endeavors</a:t>
            </a: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 to generate meaningful insights or outcomes relevant to its intended purpose.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Cumulative and Iterative</a:t>
            </a: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 Research builds on existing knowledge and contributes to the cumulative advancement of understanding within a particular field. It often involves reviewing prior literature, theories, and findings to identify gaps or areas for further exploration. Research is also iterative, with new studies refining or challenging existing theories and methodologies.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1296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9C6BA-2CAD-B72E-0ADF-7082414D02F4}"/>
              </a:ext>
            </a:extLst>
          </p:cNvPr>
          <p:cNvSpPr>
            <a:spLocks noGrp="1"/>
          </p:cNvSpPr>
          <p:nvPr>
            <p:ph type="title"/>
          </p:nvPr>
        </p:nvSpPr>
        <p:spPr/>
        <p:txBody>
          <a:bodyPr/>
          <a:lstStyle/>
          <a:p>
            <a:r>
              <a:rPr lang="en-US" dirty="0"/>
              <a:t>Research..</a:t>
            </a:r>
            <a:endParaRPr lang="en-IN" dirty="0"/>
          </a:p>
        </p:txBody>
      </p:sp>
      <p:sp>
        <p:nvSpPr>
          <p:cNvPr id="3" name="Content Placeholder 2">
            <a:extLst>
              <a:ext uri="{FF2B5EF4-FFF2-40B4-BE49-F238E27FC236}">
                <a16:creationId xmlns:a16="http://schemas.microsoft.com/office/drawing/2014/main" id="{55D1BBDA-6FDA-342D-3DF5-01483A929099}"/>
              </a:ext>
            </a:extLst>
          </p:cNvPr>
          <p:cNvSpPr>
            <a:spLocks noGrp="1"/>
          </p:cNvSpPr>
          <p:nvPr>
            <p:ph idx="1"/>
          </p:nvPr>
        </p:nvSpPr>
        <p:spPr>
          <a:xfrm>
            <a:off x="719191" y="1366463"/>
            <a:ext cx="10746769" cy="5322013"/>
          </a:xfrm>
        </p:spPr>
        <p:txBody>
          <a:bodyPr>
            <a:normAutofit fontScale="47500" lnSpcReduction="20000"/>
          </a:bodyPr>
          <a:lstStyle/>
          <a:p>
            <a:pPr marL="0" lvl="0" indent="0">
              <a:lnSpc>
                <a:spcPct val="107000"/>
              </a:lnSpc>
              <a:spcAft>
                <a:spcPts val="800"/>
              </a:spcAft>
              <a:buNone/>
              <a:tabLst>
                <a:tab pos="457200" algn="l"/>
              </a:tabLst>
            </a:pPr>
            <a:r>
              <a:rPr lang="en-IN" sz="4200" b="1" kern="0" dirty="0">
                <a:effectLst/>
                <a:latin typeface="Times New Roman" panose="02020603050405020304" pitchFamily="18" charset="0"/>
                <a:ea typeface="Times New Roman" panose="02020603050405020304" pitchFamily="18" charset="0"/>
                <a:cs typeface="Times New Roman" panose="02020603050405020304" pitchFamily="18" charset="0"/>
              </a:rPr>
              <a:t>Ethical Considerations</a:t>
            </a: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 Research must adhere to ethical principles and guidelines to ensure the well-being, rights, and dignity of participants and other stakeholders involved. This includes obtaining informed consent, protecting confidentiality and privacy, avoiding harm, and conducting research with integrity and transparency.</a:t>
            </a:r>
            <a:endParaRPr lang="en-IN" sz="4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4200" b="1" kern="0" dirty="0">
                <a:effectLst/>
                <a:latin typeface="Times New Roman" panose="02020603050405020304" pitchFamily="18" charset="0"/>
                <a:ea typeface="Times New Roman" panose="02020603050405020304" pitchFamily="18" charset="0"/>
                <a:cs typeface="Times New Roman" panose="02020603050405020304" pitchFamily="18" charset="0"/>
              </a:rPr>
              <a:t>Communication and Dissemination</a:t>
            </a: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 Research findings are typically communicated and disseminated through various channels, such as academic publications, conferences, reports, and presentations. Effective communication of research results is essential for sharing knowledge, stimulating further inquiry, and informing decision-making.</a:t>
            </a:r>
            <a:endParaRPr lang="en-IN" sz="4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4200" b="1" kern="0" dirty="0">
                <a:effectLst/>
                <a:latin typeface="Times New Roman" panose="02020603050405020304" pitchFamily="18" charset="0"/>
                <a:ea typeface="Times New Roman" panose="02020603050405020304" pitchFamily="18" charset="0"/>
                <a:cs typeface="Times New Roman" panose="02020603050405020304" pitchFamily="18" charset="0"/>
              </a:rPr>
              <a:t>Diverse Methodologies</a:t>
            </a: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 Research can employ a wide range of methodologies and approaches, including qualitative, quantitative, and mixed-methods designs. The choice of methodology depends on the research questions, objectives, and the nature of the phenomenon being studied.</a:t>
            </a:r>
            <a:endParaRPr lang="en-IN" sz="4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500"/>
              </a:spcBef>
              <a:spcAft>
                <a:spcPts val="500"/>
              </a:spcAft>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Overall, research plays a critical role in advancing knowledge, addressing societal challenges, informing policy and practice, and fostering intellectual inquiry and innovation across disciplines. It is a dynamic and iterative process driven by curiosity, critical thinking, and the pursuit of understanding.</a:t>
            </a:r>
            <a:endParaRPr lang="en-IN" sz="4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lnSpc>
                <a:spcPct val="107000"/>
              </a:lnSpc>
              <a:spcAft>
                <a:spcPts val="800"/>
              </a:spcAft>
              <a:buNone/>
            </a:pPr>
            <a:endParaRPr lang="en-IN" sz="4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96401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1223C-A03E-DB7A-D74E-56697EEC27F3}"/>
              </a:ext>
            </a:extLst>
          </p:cNvPr>
          <p:cNvSpPr>
            <a:spLocks noGrp="1"/>
          </p:cNvSpPr>
          <p:nvPr>
            <p:ph type="title"/>
          </p:nvPr>
        </p:nvSpPr>
        <p:spPr/>
        <p:txBody>
          <a:bodyPr/>
          <a:lstStyle/>
          <a:p>
            <a:r>
              <a:rPr lang="en-US" dirty="0"/>
              <a:t>Paradigms of Research</a:t>
            </a:r>
            <a:endParaRPr lang="en-IN" dirty="0"/>
          </a:p>
        </p:txBody>
      </p:sp>
      <p:sp>
        <p:nvSpPr>
          <p:cNvPr id="3" name="Content Placeholder 2">
            <a:extLst>
              <a:ext uri="{FF2B5EF4-FFF2-40B4-BE49-F238E27FC236}">
                <a16:creationId xmlns:a16="http://schemas.microsoft.com/office/drawing/2014/main" id="{673D0AA5-57DA-1A51-08AD-CB9328313691}"/>
              </a:ext>
            </a:extLst>
          </p:cNvPr>
          <p:cNvSpPr>
            <a:spLocks noGrp="1"/>
          </p:cNvSpPr>
          <p:nvPr>
            <p:ph idx="1"/>
          </p:nvPr>
        </p:nvSpPr>
        <p:spPr>
          <a:xfrm>
            <a:off x="739740" y="1130158"/>
            <a:ext cx="11044718" cy="5123993"/>
          </a:xfrm>
        </p:spPr>
        <p:txBody>
          <a:bodyPr>
            <a:noAutofit/>
          </a:bodyPr>
          <a:lstStyle/>
          <a:p>
            <a:pPr marL="0" lvl="0" indent="0">
              <a:lnSpc>
                <a:spcPct val="107000"/>
              </a:lnSpc>
              <a:spcAft>
                <a:spcPts val="800"/>
              </a:spcAft>
              <a:buNone/>
              <a:tabLst>
                <a:tab pos="457200" algn="l"/>
              </a:tabLst>
            </a:pPr>
            <a:endParaRPr lang="en-IN" b="1" kern="0" dirty="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07000"/>
              </a:lnSpc>
              <a:spcAft>
                <a:spcPts val="800"/>
              </a:spcAft>
              <a:buNone/>
              <a:tabLst>
                <a:tab pos="457200" algn="l"/>
              </a:tabLst>
            </a:pPr>
            <a:r>
              <a:rPr lang="en-IN" b="1" kern="0" dirty="0">
                <a:latin typeface="Times New Roman" panose="02020603050405020304" pitchFamily="18" charset="0"/>
                <a:ea typeface="Times New Roman" panose="02020603050405020304" pitchFamily="18" charset="0"/>
                <a:cs typeface="Times New Roman" panose="02020603050405020304" pitchFamily="18" charset="0"/>
              </a:rPr>
              <a:t>Positivism</a:t>
            </a:r>
            <a:r>
              <a:rPr lang="en-IN" kern="0" dirty="0">
                <a:latin typeface="Times New Roman" panose="02020603050405020304" pitchFamily="18" charset="0"/>
                <a:ea typeface="Times New Roman" panose="02020603050405020304" pitchFamily="18" charset="0"/>
                <a:cs typeface="Times New Roman" panose="02020603050405020304" pitchFamily="18" charset="0"/>
              </a:rPr>
              <a:t>: This paradigm is rooted in the belief that knowledge is objective and can be discovered through empirical observation and measurement. Positivist researchers aim to uncover universal laws and causal relationships through systematic, controlled experimentation and quantitative analysis.</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b="1" kern="0" dirty="0">
                <a:latin typeface="Times New Roman" panose="02020603050405020304" pitchFamily="18" charset="0"/>
                <a:ea typeface="Times New Roman" panose="02020603050405020304" pitchFamily="18" charset="0"/>
                <a:cs typeface="Times New Roman" panose="02020603050405020304" pitchFamily="18" charset="0"/>
              </a:rPr>
              <a:t>Interpretivism</a:t>
            </a:r>
            <a:r>
              <a:rPr lang="en-IN" kern="0" dirty="0">
                <a:latin typeface="Times New Roman" panose="02020603050405020304" pitchFamily="18" charset="0"/>
                <a:ea typeface="Times New Roman" panose="02020603050405020304" pitchFamily="18" charset="0"/>
                <a:cs typeface="Times New Roman" panose="02020603050405020304" pitchFamily="18" charset="0"/>
              </a:rPr>
              <a:t>: In contrast to positivism, interpretivism emphasizes the subjective nature of reality and the importance of understanding phenomena within their social and cultural contexts. Interpretivist researchers focus on exploring meanings, perspectives, and experiences through qualitative methods such as interviews, observations, and textual analysis.</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endParaRPr lang="en-IN" b="1"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07000"/>
              </a:lnSpc>
              <a:spcAft>
                <a:spcPts val="800"/>
              </a:spcAft>
              <a:buNone/>
              <a:tabLst>
                <a:tab pos="457200" algn="l"/>
              </a:tabLst>
            </a:pPr>
            <a:endParaRPr lang="en-IN" b="1" kern="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0701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9D016-C60B-2A8A-46B9-5BAD7891FA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E22F09B-C58B-AF0C-C34B-0944CDC510E8}"/>
              </a:ext>
            </a:extLst>
          </p:cNvPr>
          <p:cNvSpPr>
            <a:spLocks noGrp="1"/>
          </p:cNvSpPr>
          <p:nvPr>
            <p:ph idx="1"/>
          </p:nvPr>
        </p:nvSpPr>
        <p:spPr/>
        <p:txBody>
          <a:bodyPr>
            <a:normAutofit/>
          </a:bodyPr>
          <a:lstStyle/>
          <a:p>
            <a:pPr marL="0" lvl="0" indent="0">
              <a:lnSpc>
                <a:spcPct val="107000"/>
              </a:lnSpc>
              <a:spcAft>
                <a:spcPts val="800"/>
              </a:spcAft>
              <a:buNone/>
              <a:tabLst>
                <a:tab pos="457200" algn="l"/>
              </a:tabLst>
            </a:pPr>
            <a:r>
              <a:rPr lang="en-IN" b="1" kern="0" dirty="0">
                <a:effectLst/>
                <a:latin typeface="Times New Roman" panose="02020603050405020304" pitchFamily="18" charset="0"/>
                <a:ea typeface="Times New Roman" panose="02020603050405020304" pitchFamily="18" charset="0"/>
                <a:cs typeface="Times New Roman" panose="02020603050405020304" pitchFamily="18" charset="0"/>
              </a:rPr>
              <a:t>Critical Theory</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This paradigm is concerned with understanding and challenging power structures, inequalities, and social injustices. Critical theorists aim to uncover hidden assumptions, question dominant ideologies, and empower marginalized voices through research that promotes social change and transformation.</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b="1" kern="0" dirty="0">
                <a:effectLst/>
                <a:latin typeface="Times New Roman" panose="02020603050405020304" pitchFamily="18" charset="0"/>
                <a:ea typeface="Times New Roman" panose="02020603050405020304" pitchFamily="18" charset="0"/>
                <a:cs typeface="Times New Roman" panose="02020603050405020304" pitchFamily="18" charset="0"/>
              </a:rPr>
              <a:t>Constructivism</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Constructivist researchers believe that knowledge is actively constructed by individuals through their interactions with the world. This paradigm emphasizes the role of perception, interpretation, and context in shaping understanding. Researchers often use qualitative methods to explore how individuals construct meaning and knowledge.</a:t>
            </a:r>
            <a:endParaRPr lang="en-IN" dirty="0"/>
          </a:p>
        </p:txBody>
      </p:sp>
    </p:spTree>
    <p:extLst>
      <p:ext uri="{BB962C8B-B14F-4D97-AF65-F5344CB8AC3E}">
        <p14:creationId xmlns:p14="http://schemas.microsoft.com/office/powerpoint/2010/main" val="1283827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3E7631-09C0-9912-5E32-6109927B9D28}"/>
              </a:ext>
            </a:extLst>
          </p:cNvPr>
          <p:cNvSpPr>
            <a:spLocks noGrp="1"/>
          </p:cNvSpPr>
          <p:nvPr>
            <p:ph idx="1"/>
          </p:nvPr>
        </p:nvSpPr>
        <p:spPr>
          <a:xfrm>
            <a:off x="328773" y="452718"/>
            <a:ext cx="10448817" cy="6040549"/>
          </a:xfrm>
        </p:spPr>
        <p:txBody>
          <a:bodyPr>
            <a:normAutofit fontScale="85000" lnSpcReduction="20000"/>
          </a:bodyPr>
          <a:lstStyle/>
          <a:p>
            <a:pPr marL="0" lvl="0" indent="0">
              <a:lnSpc>
                <a:spcPct val="107000"/>
              </a:lnSpc>
              <a:spcAft>
                <a:spcPts val="800"/>
              </a:spcAft>
              <a:buNone/>
              <a:tabLst>
                <a:tab pos="457200" algn="l"/>
              </a:tabLst>
            </a:pPr>
            <a:r>
              <a:rPr lang="en-IN" sz="2600" b="1" kern="0" dirty="0">
                <a:effectLst/>
                <a:latin typeface="Times New Roman" panose="02020603050405020304" pitchFamily="18" charset="0"/>
                <a:ea typeface="Times New Roman" panose="02020603050405020304" pitchFamily="18" charset="0"/>
                <a:cs typeface="Times New Roman" panose="02020603050405020304" pitchFamily="18" charset="0"/>
              </a:rPr>
              <a:t>Pragmatism</a:t>
            </a: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 Pragmatism emphasizes practical consequences and problem-solving in research. Pragmatist researchers are less concerned with abstract theoretical debates and more focused on finding effective solutions to real-world problems. They may employ a combination of quantitative and qualitative methods depending on what is most suitable for addressing their research questions.</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6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Postpositivism</a:t>
            </a: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600" kern="0" dirty="0" err="1">
                <a:effectLst/>
                <a:latin typeface="Times New Roman" panose="02020603050405020304" pitchFamily="18" charset="0"/>
                <a:ea typeface="Times New Roman" panose="02020603050405020304" pitchFamily="18" charset="0"/>
                <a:cs typeface="Times New Roman" panose="02020603050405020304" pitchFamily="18" charset="0"/>
              </a:rPr>
              <a:t>Postpositivism</a:t>
            </a: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 acknowledges the limitations of positivism while still valuing the importance of empirical evidence and scientific inquiry. Postpositivist researchers recognize the role of theory in shaping observations and interpretations and strive for objectivity while also acknowledging the influence of subjectivity and context.</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600" b="1" kern="0" dirty="0">
                <a:effectLst/>
                <a:latin typeface="Times New Roman" panose="02020603050405020304" pitchFamily="18" charset="0"/>
                <a:ea typeface="Times New Roman" panose="02020603050405020304" pitchFamily="18" charset="0"/>
                <a:cs typeface="Times New Roman" panose="02020603050405020304" pitchFamily="18" charset="0"/>
              </a:rPr>
              <a:t>Feminist Research</a:t>
            </a: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 Feminist research paradigms prioritize understanding and challenging gender inequalities and injustices. Feminist researchers often adopt a critical stance toward traditional research methods and aim to incorporate feminist principles such as reflexivity, intersectionality, and empowerment into their research practices.</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500"/>
              </a:spcBef>
              <a:spcAft>
                <a:spcPts val="500"/>
              </a:spcAft>
              <a:buNone/>
            </a:pP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These paradigms are not mutually exclusive, and researchers may draw on multiple paradigms or combine elements from different paradigms depending on their research questions, contexts, and philosophical orientations.</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95189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08185-196A-3E3E-05EC-B0B072F4E4DA}"/>
              </a:ext>
            </a:extLst>
          </p:cNvPr>
          <p:cNvSpPr>
            <a:spLocks noGrp="1"/>
          </p:cNvSpPr>
          <p:nvPr>
            <p:ph type="title"/>
          </p:nvPr>
        </p:nvSpPr>
        <p:spPr/>
        <p:txBody>
          <a:bodyPr/>
          <a:lstStyle/>
          <a:p>
            <a:r>
              <a:rPr lang="en-US" dirty="0"/>
              <a:t>Positivism</a:t>
            </a:r>
            <a:endParaRPr lang="en-IN" dirty="0"/>
          </a:p>
        </p:txBody>
      </p:sp>
      <p:sp>
        <p:nvSpPr>
          <p:cNvPr id="3" name="Content Placeholder 2">
            <a:extLst>
              <a:ext uri="{FF2B5EF4-FFF2-40B4-BE49-F238E27FC236}">
                <a16:creationId xmlns:a16="http://schemas.microsoft.com/office/drawing/2014/main" id="{9B5F9CD2-4FC0-F53F-61AE-C9AD628E1098}"/>
              </a:ext>
            </a:extLst>
          </p:cNvPr>
          <p:cNvSpPr>
            <a:spLocks noGrp="1"/>
          </p:cNvSpPr>
          <p:nvPr>
            <p:ph idx="1"/>
          </p:nvPr>
        </p:nvSpPr>
        <p:spPr/>
        <p:txBody>
          <a:bodyPr>
            <a:normAutofit/>
          </a:bodyPr>
          <a:lstStyle/>
          <a:p>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Positivism is a philosophical paradigm that originated in the 19th century and gained prominence in the development of the natural sciences. It is based on the belief that knowledge about the world can be acquired through empirical observation and the application of the scientific method. Positivism is often associated with the principles of objectivity, verifiability, and the pursuit of universal laws.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27304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EC799-5FAB-710C-3F30-AD7B39EA9F2B}"/>
              </a:ext>
            </a:extLst>
          </p:cNvPr>
          <p:cNvSpPr>
            <a:spLocks noGrp="1"/>
          </p:cNvSpPr>
          <p:nvPr>
            <p:ph type="title"/>
          </p:nvPr>
        </p:nvSpPr>
        <p:spPr/>
        <p:txBody>
          <a:bodyPr/>
          <a:lstStyle/>
          <a:p>
            <a:r>
              <a:rPr lang="en-US" dirty="0"/>
              <a:t>Features of Positivist paradigm</a:t>
            </a:r>
            <a:endParaRPr lang="en-IN" dirty="0"/>
          </a:p>
        </p:txBody>
      </p:sp>
      <p:sp>
        <p:nvSpPr>
          <p:cNvPr id="3" name="Content Placeholder 2">
            <a:extLst>
              <a:ext uri="{FF2B5EF4-FFF2-40B4-BE49-F238E27FC236}">
                <a16:creationId xmlns:a16="http://schemas.microsoft.com/office/drawing/2014/main" id="{AC8F3C39-7EF1-E679-A81B-78CF4970B54C}"/>
              </a:ext>
            </a:extLst>
          </p:cNvPr>
          <p:cNvSpPr>
            <a:spLocks noGrp="1"/>
          </p:cNvSpPr>
          <p:nvPr>
            <p:ph idx="1"/>
          </p:nvPr>
        </p:nvSpPr>
        <p:spPr/>
        <p:txBody>
          <a:bodyPr>
            <a:normAutofit fontScale="85000" lnSpcReduction="10000"/>
          </a:bodyPr>
          <a:lstStyle/>
          <a:p>
            <a:pPr marL="0" lvl="0" indent="0">
              <a:lnSpc>
                <a:spcPct val="107000"/>
              </a:lnSpc>
              <a:spcAft>
                <a:spcPts val="800"/>
              </a:spcAft>
              <a:buNone/>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Empirical Observation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Positivism emphasizes the importance of empirical evidence obtained through observation and experimentation. Researchers aim to gather data that can be directly observed and measured, often using quantitative methods to ensure objectivity and precision.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Scientific Method</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Positivism advocates for the systematic application of the scientific method to study phenomena. This typically involves formulating hypotheses, designing experiments or observational studies, collecting data, and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analyzing</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results using statistical techniques to test hypotheses and uncover patterns or relationships.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Objectivity</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Positivism strives for objectivity in the pursuit of knowledge. Researchers aim to minimize bias and subjective interpretation in their observations and analyses, relying instead on empirical evidence that is independent of individual perspectives or beliefs.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Verifiability and Falsifiability</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Positivism emphasizes the importance of verifiability and falsifiability in scientific inquiry. Scientific hypotheses should be formulated in a way that allows them to be tested empirically, either confirmed or rejected based on evidence. This principle distinguishes scientific claims from those that are purely speculative or untestable.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121493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6A8D7-871D-B2E0-9BC5-0E430E8AE848}"/>
              </a:ext>
            </a:extLst>
          </p:cNvPr>
          <p:cNvSpPr>
            <a:spLocks noGrp="1"/>
          </p:cNvSpPr>
          <p:nvPr>
            <p:ph type="title"/>
          </p:nvPr>
        </p:nvSpPr>
        <p:spPr/>
        <p:txBody>
          <a:bodyPr/>
          <a:lstStyle/>
          <a:p>
            <a:r>
              <a:rPr lang="en-US" dirty="0"/>
              <a:t>Features of Positivist paradigm..</a:t>
            </a:r>
            <a:endParaRPr lang="en-IN" dirty="0"/>
          </a:p>
        </p:txBody>
      </p:sp>
      <p:sp>
        <p:nvSpPr>
          <p:cNvPr id="3" name="Content Placeholder 2">
            <a:extLst>
              <a:ext uri="{FF2B5EF4-FFF2-40B4-BE49-F238E27FC236}">
                <a16:creationId xmlns:a16="http://schemas.microsoft.com/office/drawing/2014/main" id="{4B548CA5-BF4D-3DA5-AC64-8478272B5608}"/>
              </a:ext>
            </a:extLst>
          </p:cNvPr>
          <p:cNvSpPr>
            <a:spLocks noGrp="1"/>
          </p:cNvSpPr>
          <p:nvPr>
            <p:ph idx="1"/>
          </p:nvPr>
        </p:nvSpPr>
        <p:spPr/>
        <p:txBody>
          <a:bodyPr>
            <a:normAutofit fontScale="70000" lnSpcReduction="20000"/>
          </a:bodyPr>
          <a:lstStyle/>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Causal Relationships and Universal Laws</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Positivist researchers seek to identify causal relationships and formulate universal laws that describe regularities or patterns in natural phenomena. They aim to uncover general principles that apply across different contexts and can be used to predict and control outcomes.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Reductionism</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Positivism often adopts a reductionist approach, breaking complex phenomena down into simpler components that can be studied individually. By isolating variables and controlling for extraneous factors, researchers aim to identify the specific causes and mechanisms underlying observed phenomena.</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Quantitative Analysis</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Positivism typically </a:t>
            </a:r>
            <a:r>
              <a:rPr lang="en-IN" sz="2800" kern="0" dirty="0" err="1">
                <a:effectLst/>
                <a:latin typeface="Times New Roman" panose="02020603050405020304" pitchFamily="18" charset="0"/>
                <a:ea typeface="Times New Roman" panose="02020603050405020304" pitchFamily="18" charset="0"/>
                <a:cs typeface="Times New Roman" panose="02020603050405020304" pitchFamily="18" charset="0"/>
              </a:rPr>
              <a:t>favors</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quantitative methods of data collection and analysis, such as surveys, experiments, and statistical techniques. Quantitative data allow for precise measurement and numerical comparison, facilitating the identification of patterns and relationships in large datasets.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37637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1879E-CD29-651D-725A-95E17DBB003C}"/>
              </a:ext>
            </a:extLst>
          </p:cNvPr>
          <p:cNvSpPr>
            <a:spLocks noGrp="1"/>
          </p:cNvSpPr>
          <p:nvPr>
            <p:ph type="title"/>
          </p:nvPr>
        </p:nvSpPr>
        <p:spPr/>
        <p:txBody>
          <a:bodyPr/>
          <a:lstStyle/>
          <a:p>
            <a:r>
              <a:rPr lang="en-US" dirty="0"/>
              <a:t>Positivism..</a:t>
            </a:r>
            <a:endParaRPr lang="en-IN" dirty="0"/>
          </a:p>
        </p:txBody>
      </p:sp>
      <p:sp>
        <p:nvSpPr>
          <p:cNvPr id="3" name="Content Placeholder 2">
            <a:extLst>
              <a:ext uri="{FF2B5EF4-FFF2-40B4-BE49-F238E27FC236}">
                <a16:creationId xmlns:a16="http://schemas.microsoft.com/office/drawing/2014/main" id="{6C5F0DB6-B19F-931F-0773-FEECF0E08C9D}"/>
              </a:ext>
            </a:extLst>
          </p:cNvPr>
          <p:cNvSpPr>
            <a:spLocks noGrp="1"/>
          </p:cNvSpPr>
          <p:nvPr>
            <p:ph idx="1"/>
          </p:nvPr>
        </p:nvSpPr>
        <p:spPr>
          <a:xfrm>
            <a:off x="904126" y="2052918"/>
            <a:ext cx="9883739" cy="4195481"/>
          </a:xfrm>
        </p:spPr>
        <p:txBody>
          <a:bodyPr>
            <a:normAutofit/>
          </a:bodyPr>
          <a:lstStyle/>
          <a:p>
            <a:pPr>
              <a:lnSpc>
                <a:spcPct val="107000"/>
              </a:lnSpc>
              <a:spcBef>
                <a:spcPts val="1500"/>
              </a:spcBef>
              <a:spcAft>
                <a:spcPts val="5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While positivism has been highly influential in the natural sciences, its applicability to social sciences and humanities has been subject to debate. Critics argue that human behavior and social phenomena are inherently complex and influenced by subjective meanings, cultural contexts, and historical factors that may not be fully captured by positivist approaches. Nonetheless, positivism continues to shape research practices in various fields, particularly those that prioritize empirical evidence and causal explanations.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4982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7F45E-6B77-3F4C-8B40-58846678BD0D}"/>
              </a:ext>
            </a:extLst>
          </p:cNvPr>
          <p:cNvSpPr>
            <a:spLocks noGrp="1"/>
          </p:cNvSpPr>
          <p:nvPr>
            <p:ph type="title"/>
          </p:nvPr>
        </p:nvSpPr>
        <p:spPr/>
        <p:txBody>
          <a:bodyPr/>
          <a:lstStyle/>
          <a:p>
            <a:r>
              <a:rPr lang="en-US" dirty="0"/>
              <a:t>Interpretivism</a:t>
            </a:r>
            <a:endParaRPr lang="en-IN" dirty="0"/>
          </a:p>
        </p:txBody>
      </p:sp>
      <p:sp>
        <p:nvSpPr>
          <p:cNvPr id="3" name="Content Placeholder 2">
            <a:extLst>
              <a:ext uri="{FF2B5EF4-FFF2-40B4-BE49-F238E27FC236}">
                <a16:creationId xmlns:a16="http://schemas.microsoft.com/office/drawing/2014/main" id="{B6AEED06-34E4-6238-46A2-8E4DF4D7A6C4}"/>
              </a:ext>
            </a:extLst>
          </p:cNvPr>
          <p:cNvSpPr>
            <a:spLocks noGrp="1"/>
          </p:cNvSpPr>
          <p:nvPr>
            <p:ph idx="1"/>
          </p:nvPr>
        </p:nvSpPr>
        <p:spPr/>
        <p:txBody>
          <a:bodyPr>
            <a:normAutofit/>
          </a:bodyPr>
          <a:lstStyle/>
          <a:p>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Interpretivism, also known as the interpretive or constructivist paradigm, provides an alternative philosophical framework to positivism, particularly in the social sciences and humanities. </a:t>
            </a:r>
          </a:p>
          <a:p>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Interpretivism emerged partly as a response to the limitations of positivism in capturing the complexities of human experience and social phenomena. </a:t>
            </a:r>
          </a:p>
          <a:p>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Instead of seeking universal laws or objective truths, interpretivism focuses on understanding the subjective meanings, interpretations, and experiences of individuals within their social and cultural contexts.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00163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8F1AE-76D7-DC5A-BD98-22C2B0896F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620AD3-02D6-AE50-5BE0-CAF02FE67105}"/>
              </a:ext>
            </a:extLst>
          </p:cNvPr>
          <p:cNvSpPr>
            <a:spLocks noGrp="1"/>
          </p:cNvSpPr>
          <p:nvPr>
            <p:ph idx="1"/>
          </p:nvPr>
        </p:nvSpPr>
        <p:spPr/>
        <p:txBody>
          <a:bodyPr>
            <a:normAutofit fontScale="92500"/>
          </a:bodyPr>
          <a:lstStyle/>
          <a:p>
            <a:pPr marL="342900" lvl="0" indent="-342900">
              <a:lnSpc>
                <a:spcPct val="107000"/>
              </a:lnSpc>
              <a:spcAft>
                <a:spcPts val="800"/>
              </a:spcAft>
              <a:buFont typeface="+mj-lt"/>
              <a:buAutoNum type="arabicPeriod"/>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Subjective Meaning</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Interpretivism emphasizes the importance of subjective meaning and interpretation in shaping human behavior and social interactions. Researchers acknowledge that individuals construct their understanding of the world based on their unique perspectives, values, beliefs, and experiences. Therefore, the focus shifts from objective facts to how individuals perceive and interpret their experiences.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Qualitative Methods</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Interpretivist researchers typically employ qualitative research methods, such as interviews, observations, focus groups, and textual analysis, to explore subjective meanings and experiences. These methods allow researchers to delve deeply into the perspectives and lived experiences of individuals, uncovering nuances and complexities that may not be captured by quantitative approaches.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Contextual Understanding</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Interpretivism emphasizes the importance of understanding phenomena within their specific social, cultural, and historical contexts. Researchers recognize that meanings are socially constructed and shaped by the broader cultural norms, values, and structures that influence individuals' lives. Therefore, they seek to contextualize their findings within these broader frameworks.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7046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06262-CAA9-C2FC-BE6B-FE494103E7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23D403-0D84-E960-5D8F-DEE29CE8E465}"/>
              </a:ext>
            </a:extLst>
          </p:cNvPr>
          <p:cNvSpPr>
            <a:spLocks noGrp="1"/>
          </p:cNvSpPr>
          <p:nvPr>
            <p:ph idx="1"/>
          </p:nvPr>
        </p:nvSpPr>
        <p:spPr/>
        <p:txBody>
          <a:bodyPr>
            <a:normAutofit fontScale="85000" lnSpcReduction="20000"/>
          </a:bodyPr>
          <a:lstStyle/>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Reflexivity and Subjectivity</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Interpretivist researchers acknowledge their own subjectivity and the role it plays in shaping the research process. They practice reflexivity, which involves reflecting on their own biases, assumptions, and preconceptions throughout the research process. By acknowledging their subjectivity, researchers aim to enhance the transparency and credibility of their interpretations.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Inductive Reasoning</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Interpretivism often employs inductive reasoning, which involves moving from specific observations or examples to broader patterns or theories. Instead of starting with predefined hypotheses or theories, interpretivist researchers may allow theories to emerge from the data through a process of constant comparison, interpretation, and theoretical sampling.</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62586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97029-16A9-093F-423E-FD8624890DDE}"/>
              </a:ext>
            </a:extLst>
          </p:cNvPr>
          <p:cNvSpPr>
            <a:spLocks noGrp="1"/>
          </p:cNvSpPr>
          <p:nvPr>
            <p:ph type="title"/>
          </p:nvPr>
        </p:nvSpPr>
        <p:spPr/>
        <p:txBody>
          <a:bodyPr/>
          <a:lstStyle/>
          <a:p>
            <a:r>
              <a:rPr lang="en-IN" sz="4400" kern="0" dirty="0">
                <a:effectLst/>
                <a:latin typeface="Times New Roman" panose="02020603050405020304" pitchFamily="18" charset="0"/>
                <a:ea typeface="Times New Roman" panose="02020603050405020304" pitchFamily="18" charset="0"/>
              </a:rPr>
              <a:t>Interpretivism..</a:t>
            </a:r>
            <a:endParaRPr lang="en-IN" dirty="0"/>
          </a:p>
        </p:txBody>
      </p:sp>
      <p:sp>
        <p:nvSpPr>
          <p:cNvPr id="3" name="Content Placeholder 2">
            <a:extLst>
              <a:ext uri="{FF2B5EF4-FFF2-40B4-BE49-F238E27FC236}">
                <a16:creationId xmlns:a16="http://schemas.microsoft.com/office/drawing/2014/main" id="{5AB8A862-C1A3-4E63-8DDC-D010CA8B47CF}"/>
              </a:ext>
            </a:extLst>
          </p:cNvPr>
          <p:cNvSpPr>
            <a:spLocks noGrp="1"/>
          </p:cNvSpPr>
          <p:nvPr>
            <p:ph idx="1"/>
          </p:nvPr>
        </p:nvSpPr>
        <p:spPr/>
        <p:txBody>
          <a:bodyPr>
            <a:normAutofit fontScale="77500" lnSpcReduction="20000"/>
          </a:bodyPr>
          <a:lstStyle/>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Holistic Understanding</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Interpretivism encourages researchers to adopt a holistic perspective, considering the interconnectedness and complexity of social phenomena. Instead of reducing phenomena to isolated variables, researchers aim to understand the dynamic relationships and interdependencies among various factors, recognizing that human behavior is influenced by a multitude of interacting factors.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Emic Perspective</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Interpretivism values the emic perspective, which refers to the insider's or participant's viewpoint. Researchers strive to understand phenomena from the perspective of the individuals being studied, respecting their unique cultural norms, meanings, and values.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800" kern="0" dirty="0">
                <a:effectLst/>
                <a:latin typeface="Times New Roman" panose="02020603050405020304" pitchFamily="18" charset="0"/>
                <a:ea typeface="Times New Roman" panose="02020603050405020304" pitchFamily="18" charset="0"/>
              </a:rPr>
              <a:t>Interpretivism is particularly suited to studying complex social phenomena, such as culture, identity, power dynamics, and social relationships, where understanding subjective meanings </a:t>
            </a:r>
            <a:endParaRPr lang="en-IN" dirty="0"/>
          </a:p>
          <a:p>
            <a:endParaRPr lang="en-IN" dirty="0"/>
          </a:p>
        </p:txBody>
      </p:sp>
    </p:spTree>
    <p:extLst>
      <p:ext uri="{BB962C8B-B14F-4D97-AF65-F5344CB8AC3E}">
        <p14:creationId xmlns:p14="http://schemas.microsoft.com/office/powerpoint/2010/main" val="600132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03165-0344-EFE1-BF6A-946426C8050F}"/>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21EF83C-BD66-3B67-CDD3-F4FF275058CE}"/>
              </a:ext>
            </a:extLst>
          </p:cNvPr>
          <p:cNvSpPr>
            <a:spLocks noGrp="1"/>
          </p:cNvSpPr>
          <p:nvPr>
            <p:ph idx="1"/>
          </p:nvPr>
        </p:nvSpPr>
        <p:spPr/>
        <p:txBody>
          <a:bodyPr>
            <a:normAutofit/>
          </a:bodyPr>
          <a:lstStyle/>
          <a:p>
            <a:r>
              <a:rPr lang="en-IN" sz="2800" kern="0" dirty="0">
                <a:effectLst/>
                <a:latin typeface="Times New Roman" panose="02020603050405020304" pitchFamily="18" charset="0"/>
                <a:ea typeface="Times New Roman" panose="02020603050405020304" pitchFamily="18" charset="0"/>
              </a:rPr>
              <a:t>Interpretivism is particularly suited to studying complex social phenomena, such as culture, identity, power dynamics, and social relationships, where understanding subjective meanings and interpretations is essential. While it diverges from positivism in its epistemological and methodological assumptions, interpretivism has contributed significantly to enriching our understanding of human behavior and society.</a:t>
            </a:r>
            <a:endParaRPr lang="en-IN" sz="2800" dirty="0"/>
          </a:p>
        </p:txBody>
      </p:sp>
    </p:spTree>
    <p:extLst>
      <p:ext uri="{BB962C8B-B14F-4D97-AF65-F5344CB8AC3E}">
        <p14:creationId xmlns:p14="http://schemas.microsoft.com/office/powerpoint/2010/main" val="533182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82CEF-C124-B5FB-8D2B-AE871209BFF2}"/>
              </a:ext>
            </a:extLst>
          </p:cNvPr>
          <p:cNvSpPr>
            <a:spLocks noGrp="1"/>
          </p:cNvSpPr>
          <p:nvPr>
            <p:ph type="title"/>
          </p:nvPr>
        </p:nvSpPr>
        <p:spPr/>
        <p:txBody>
          <a:bodyPr/>
          <a:lstStyle/>
          <a:p>
            <a:r>
              <a:rPr lang="en-US" dirty="0"/>
              <a:t>Critical Theory</a:t>
            </a:r>
            <a:endParaRPr lang="en-IN" dirty="0"/>
          </a:p>
        </p:txBody>
      </p:sp>
      <p:sp>
        <p:nvSpPr>
          <p:cNvPr id="3" name="Content Placeholder 2">
            <a:extLst>
              <a:ext uri="{FF2B5EF4-FFF2-40B4-BE49-F238E27FC236}">
                <a16:creationId xmlns:a16="http://schemas.microsoft.com/office/drawing/2014/main" id="{64A49AC8-9E74-98C8-3E61-8EC1AE5CB421}"/>
              </a:ext>
            </a:extLst>
          </p:cNvPr>
          <p:cNvSpPr>
            <a:spLocks noGrp="1"/>
          </p:cNvSpPr>
          <p:nvPr>
            <p:ph idx="1"/>
          </p:nvPr>
        </p:nvSpPr>
        <p:spPr>
          <a:xfrm>
            <a:off x="328773" y="1674688"/>
            <a:ext cx="11465959" cy="4573711"/>
          </a:xfrm>
        </p:spPr>
        <p:txBody>
          <a:bodyPr>
            <a:normAutofit fontScale="92500" lnSpcReduction="10000"/>
          </a:bodyPr>
          <a:lstStyle/>
          <a:p>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Critical theory is a philosophical and interdisciplinary approach that originated within the Frankfurt School in the early to mid-20th century, primarily associated with scholars such as Max Horkheimer, Theodor Adorno, Herbert Marcuse, and Jürgen Habermas. Critical theory seeks to understand and critique society and culture in order to identify and challenge systems of domination, oppression, and injustice. Here's an elaboration on critical theory:</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b="1" kern="0" dirty="0">
                <a:effectLst/>
                <a:latin typeface="Times New Roman" panose="02020603050405020304" pitchFamily="18" charset="0"/>
                <a:ea typeface="Times New Roman" panose="02020603050405020304" pitchFamily="18" charset="0"/>
                <a:cs typeface="Times New Roman" panose="02020603050405020304" pitchFamily="18" charset="0"/>
              </a:rPr>
              <a:t>Roots in Marxism</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Critical theory has its roots in Marxism but expands beyond traditional Marxist analysis. While Marxism primarily focuses on economic structures and class struggle, critical theory broadens the scope to encompass various forms of social inequality, including those based on race, gender, sexuality, and other axes of power.</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b="1" kern="0" dirty="0">
                <a:effectLst/>
                <a:latin typeface="Times New Roman" panose="02020603050405020304" pitchFamily="18" charset="0"/>
                <a:ea typeface="Times New Roman" panose="02020603050405020304" pitchFamily="18" charset="0"/>
                <a:cs typeface="Times New Roman" panose="02020603050405020304" pitchFamily="18" charset="0"/>
              </a:rPr>
              <a:t>Analysis of Power Structures</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Critical theory </a:t>
            </a:r>
            <a:r>
              <a:rPr lang="en-IN" kern="0" dirty="0" err="1">
                <a:effectLst/>
                <a:latin typeface="Times New Roman" panose="02020603050405020304" pitchFamily="18" charset="0"/>
                <a:ea typeface="Times New Roman" panose="02020603050405020304" pitchFamily="18" charset="0"/>
                <a:cs typeface="Times New Roman" panose="02020603050405020304" pitchFamily="18" charset="0"/>
              </a:rPr>
              <a:t>analyzes</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power structures and social hierarchies to uncover how they operate to oppress and marginalize certain groups while privileging others. This analysis goes beyond surface-level manifestations of power to explore deeper structural and systemic forms of domination, such as capitalism, patriarchy, colonialism, and racism.</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82989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02815-FEAC-7000-57DC-0D5307DC55D2}"/>
              </a:ext>
            </a:extLst>
          </p:cNvPr>
          <p:cNvSpPr>
            <a:spLocks noGrp="1"/>
          </p:cNvSpPr>
          <p:nvPr>
            <p:ph type="title"/>
          </p:nvPr>
        </p:nvSpPr>
        <p:spPr/>
        <p:txBody>
          <a:bodyPr/>
          <a:lstStyle/>
          <a:p>
            <a:r>
              <a:rPr lang="en-US" dirty="0"/>
              <a:t>Critical..</a:t>
            </a:r>
            <a:endParaRPr lang="en-IN" dirty="0"/>
          </a:p>
        </p:txBody>
      </p:sp>
      <p:sp>
        <p:nvSpPr>
          <p:cNvPr id="3" name="Content Placeholder 2">
            <a:extLst>
              <a:ext uri="{FF2B5EF4-FFF2-40B4-BE49-F238E27FC236}">
                <a16:creationId xmlns:a16="http://schemas.microsoft.com/office/drawing/2014/main" id="{1F241B00-242F-4A89-F7CB-71C391EBA8E2}"/>
              </a:ext>
            </a:extLst>
          </p:cNvPr>
          <p:cNvSpPr>
            <a:spLocks noGrp="1"/>
          </p:cNvSpPr>
          <p:nvPr>
            <p:ph idx="1"/>
          </p:nvPr>
        </p:nvSpPr>
        <p:spPr/>
        <p:txBody>
          <a:bodyPr>
            <a:normAutofit fontScale="85000" lnSpcReduction="20000"/>
          </a:bodyPr>
          <a:lstStyle/>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Emancipatory Goals</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Critical theory is oriented towards emancipation and social transformation. It seeks to empower marginalized groups by raising consciousness about their social conditions and mobilizing them to challenge oppressive systems and advocate for social change. Emancipation involves not only liberation from oppressive structures but also the creation of more just and equitable societies.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Interdisciplinary Approach</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Critical theory is interdisciplinary, drawing on insights from philosophy, sociology, political science, cultural studies, psychology, and other fields. This interdisciplinary approach allows critical theorists to analyze complex social phenomena from multiple perspectives and to develop comprehensive critiques of existing social structures.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788294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D4F04-66F5-9A9F-0704-5B003DBDEB61}"/>
              </a:ext>
            </a:extLst>
          </p:cNvPr>
          <p:cNvSpPr>
            <a:spLocks noGrp="1"/>
          </p:cNvSpPr>
          <p:nvPr>
            <p:ph type="title"/>
          </p:nvPr>
        </p:nvSpPr>
        <p:spPr/>
        <p:txBody>
          <a:bodyPr/>
          <a:lstStyle/>
          <a:p>
            <a:r>
              <a:rPr lang="en-US" dirty="0"/>
              <a:t>Critical Theory..</a:t>
            </a:r>
            <a:endParaRPr lang="en-IN" dirty="0"/>
          </a:p>
        </p:txBody>
      </p:sp>
      <p:sp>
        <p:nvSpPr>
          <p:cNvPr id="3" name="Content Placeholder 2">
            <a:extLst>
              <a:ext uri="{FF2B5EF4-FFF2-40B4-BE49-F238E27FC236}">
                <a16:creationId xmlns:a16="http://schemas.microsoft.com/office/drawing/2014/main" id="{2EB08639-E6B4-7BAF-4DEF-E0D221518B5B}"/>
              </a:ext>
            </a:extLst>
          </p:cNvPr>
          <p:cNvSpPr>
            <a:spLocks noGrp="1"/>
          </p:cNvSpPr>
          <p:nvPr>
            <p:ph idx="1"/>
          </p:nvPr>
        </p:nvSpPr>
        <p:spPr>
          <a:xfrm>
            <a:off x="852755" y="1571946"/>
            <a:ext cx="10243335" cy="4676453"/>
          </a:xfrm>
        </p:spPr>
        <p:txBody>
          <a:bodyPr>
            <a:normAutofit fontScale="55000" lnSpcReduction="20000"/>
          </a:bodyPr>
          <a:lstStyle/>
          <a:p>
            <a:pPr marL="0" lvl="0" indent="0">
              <a:lnSpc>
                <a:spcPct val="107000"/>
              </a:lnSpc>
              <a:spcAft>
                <a:spcPts val="800"/>
              </a:spcAft>
              <a:buNone/>
              <a:tabLst>
                <a:tab pos="457200" algn="l"/>
              </a:tabLst>
            </a:pPr>
            <a:r>
              <a:rPr lang="en-IN" sz="4400" b="1" kern="0" dirty="0">
                <a:effectLst/>
                <a:latin typeface="Times New Roman" panose="02020603050405020304" pitchFamily="18" charset="0"/>
                <a:ea typeface="Times New Roman" panose="02020603050405020304" pitchFamily="18" charset="0"/>
                <a:cs typeface="Times New Roman" panose="02020603050405020304" pitchFamily="18" charset="0"/>
              </a:rPr>
              <a:t>Dialectical Method</a:t>
            </a:r>
            <a:r>
              <a:rPr lang="en-IN" sz="4400" kern="0" dirty="0">
                <a:effectLst/>
                <a:latin typeface="Times New Roman" panose="02020603050405020304" pitchFamily="18" charset="0"/>
                <a:ea typeface="Times New Roman" panose="02020603050405020304" pitchFamily="18" charset="0"/>
                <a:cs typeface="Times New Roman" panose="02020603050405020304" pitchFamily="18" charset="0"/>
              </a:rPr>
              <a:t>: Critical theory often employs a dialectical method, influenced by Hegelian philosophy and Marxist dialectics. This method involves </a:t>
            </a:r>
            <a:r>
              <a:rPr lang="en-IN" sz="44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analyzing</a:t>
            </a:r>
            <a:r>
              <a:rPr lang="en-IN" sz="4400" kern="0" dirty="0">
                <a:effectLst/>
                <a:latin typeface="Times New Roman" panose="02020603050405020304" pitchFamily="18" charset="0"/>
                <a:ea typeface="Times New Roman" panose="02020603050405020304" pitchFamily="18" charset="0"/>
                <a:cs typeface="Times New Roman" panose="02020603050405020304" pitchFamily="18" charset="0"/>
              </a:rPr>
              <a:t> contradictions and tensions within society, recognizing that social change emerges from the clash between opposing forces. Critical theorists seek to uncover the underlying contradictions in dominant ideologies and social practices, ultimately aiming to overcome them through dialectical negation.</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4400" b="1" kern="0" dirty="0">
                <a:effectLst/>
                <a:latin typeface="Times New Roman" panose="02020603050405020304" pitchFamily="18" charset="0"/>
                <a:ea typeface="Times New Roman" panose="02020603050405020304" pitchFamily="18" charset="0"/>
                <a:cs typeface="Times New Roman" panose="02020603050405020304" pitchFamily="18" charset="0"/>
              </a:rPr>
              <a:t>Cultural Critique</a:t>
            </a:r>
            <a:r>
              <a:rPr lang="en-IN" sz="4400" kern="0" dirty="0">
                <a:effectLst/>
                <a:latin typeface="Times New Roman" panose="02020603050405020304" pitchFamily="18" charset="0"/>
                <a:ea typeface="Times New Roman" panose="02020603050405020304" pitchFamily="18" charset="0"/>
                <a:cs typeface="Times New Roman" panose="02020603050405020304" pitchFamily="18" charset="0"/>
              </a:rPr>
              <a:t>: Critical theory engages in cultural critique, examining how culture shapes and perpetuates forms of domination and resistance. This includes </a:t>
            </a:r>
            <a:r>
              <a:rPr lang="en-IN" sz="44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analyzing</a:t>
            </a:r>
            <a:r>
              <a:rPr lang="en-IN" sz="4400" kern="0" dirty="0">
                <a:effectLst/>
                <a:latin typeface="Times New Roman" panose="02020603050405020304" pitchFamily="18" charset="0"/>
                <a:ea typeface="Times New Roman" panose="02020603050405020304" pitchFamily="18" charset="0"/>
                <a:cs typeface="Times New Roman" panose="02020603050405020304" pitchFamily="18" charset="0"/>
              </a:rPr>
              <a:t> cultural texts, practices, symbols, and representations to uncover hidden ideologies and power dynamics. Cultural critique aims to reveal the ways in which culture can both reproduce and challenge social inequalities.</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68749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F4B6-1C51-90A5-ACF5-6E19D406E0D7}"/>
              </a:ext>
            </a:extLst>
          </p:cNvPr>
          <p:cNvSpPr>
            <a:spLocks noGrp="1"/>
          </p:cNvSpPr>
          <p:nvPr>
            <p:ph type="title"/>
          </p:nvPr>
        </p:nvSpPr>
        <p:spPr/>
        <p:txBody>
          <a:bodyPr/>
          <a:lstStyle/>
          <a:p>
            <a:r>
              <a:rPr lang="en-US" dirty="0"/>
              <a:t>Critical Theory..</a:t>
            </a:r>
            <a:endParaRPr lang="en-IN" dirty="0"/>
          </a:p>
        </p:txBody>
      </p:sp>
      <p:sp>
        <p:nvSpPr>
          <p:cNvPr id="3" name="Content Placeholder 2">
            <a:extLst>
              <a:ext uri="{FF2B5EF4-FFF2-40B4-BE49-F238E27FC236}">
                <a16:creationId xmlns:a16="http://schemas.microsoft.com/office/drawing/2014/main" id="{AB1C0B19-D48D-8E78-1512-4206926B8D49}"/>
              </a:ext>
            </a:extLst>
          </p:cNvPr>
          <p:cNvSpPr>
            <a:spLocks noGrp="1"/>
          </p:cNvSpPr>
          <p:nvPr>
            <p:ph idx="1"/>
          </p:nvPr>
        </p:nvSpPr>
        <p:spPr/>
        <p:txBody>
          <a:bodyPr>
            <a:normAutofit fontScale="85000" lnSpcReduction="10000"/>
          </a:bodyPr>
          <a:lstStyle/>
          <a:p>
            <a:pPr marL="0" lvl="0" indent="0">
              <a:lnSpc>
                <a:spcPct val="107000"/>
              </a:lnSpc>
              <a:spcAft>
                <a:spcPts val="800"/>
              </a:spcAft>
              <a:buNone/>
              <a:tabLst>
                <a:tab pos="457200" algn="l"/>
              </a:tabLs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Praxis</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Critical theory emphasizes the importance of praxis, or the integration of theory and practice. It encourages active engagement with social issues and collective action aimed at social transformation. Critical theorists advocate for participatory forms of democracy and grassroots movements that empower ordinary people to challenge unjust structures and create alternative futures.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500"/>
              </a:spcBef>
              <a:spcAft>
                <a:spcPts val="500"/>
              </a:spcAf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Overall, critical theory provides a framework for understanding and addressing the root causes of social injustice and inequality. By critically examining society and culture, it seeks to promote greater awareness, solidarity, and collective struggle for a more just and emancipatory world.</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85951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0C27-167A-2638-5226-C795050AAB99}"/>
              </a:ext>
            </a:extLst>
          </p:cNvPr>
          <p:cNvSpPr>
            <a:spLocks noGrp="1"/>
          </p:cNvSpPr>
          <p:nvPr>
            <p:ph type="title"/>
          </p:nvPr>
        </p:nvSpPr>
        <p:spPr/>
        <p:txBody>
          <a:bodyPr/>
          <a:lstStyle/>
          <a:p>
            <a:r>
              <a:rPr lang="en-US" dirty="0"/>
              <a:t>Pragmatic</a:t>
            </a:r>
            <a:endParaRPr lang="en-IN" dirty="0"/>
          </a:p>
        </p:txBody>
      </p:sp>
      <p:sp>
        <p:nvSpPr>
          <p:cNvPr id="3" name="Content Placeholder 2">
            <a:extLst>
              <a:ext uri="{FF2B5EF4-FFF2-40B4-BE49-F238E27FC236}">
                <a16:creationId xmlns:a16="http://schemas.microsoft.com/office/drawing/2014/main" id="{120E384B-1909-614F-1A10-0B367E0269D1}"/>
              </a:ext>
            </a:extLst>
          </p:cNvPr>
          <p:cNvSpPr>
            <a:spLocks noGrp="1"/>
          </p:cNvSpPr>
          <p:nvPr>
            <p:ph idx="1"/>
          </p:nvPr>
        </p:nvSpPr>
        <p:spPr/>
        <p:txBody>
          <a:bodyPr>
            <a:normAutofit fontScale="85000" lnSpcReduction="20000"/>
          </a:bodyPr>
          <a:lstStyle/>
          <a:p>
            <a:r>
              <a:rPr lang="en-US" b="0" i="0" dirty="0">
                <a:effectLst/>
                <a:latin typeface="Arial" panose="020B0604020202020204" pitchFamily="34" charset="0"/>
              </a:rPr>
              <a:t>The word pragmatism is originally derived from the Greek word “pragma,” which means action,</a:t>
            </a:r>
            <a:br>
              <a:rPr lang="en-US" dirty="0"/>
            </a:br>
            <a:r>
              <a:rPr lang="en-US" b="0" i="0" dirty="0">
                <a:effectLst/>
                <a:latin typeface="Arial" panose="020B0604020202020204" pitchFamily="34" charset="0"/>
              </a:rPr>
              <a:t>and which is the central concept of pragmatism (</a:t>
            </a:r>
            <a:r>
              <a:rPr lang="en-US" b="0" i="0" dirty="0" err="1">
                <a:effectLst/>
                <a:latin typeface="Arial" panose="020B0604020202020204" pitchFamily="34" charset="0"/>
              </a:rPr>
              <a:t>Pansiri</a:t>
            </a:r>
            <a:r>
              <a:rPr lang="en-US" b="0" i="0" dirty="0">
                <a:effectLst/>
                <a:latin typeface="Arial" panose="020B0604020202020204" pitchFamily="34" charset="0"/>
              </a:rPr>
              <a:t> 2005). Pragmatist philosophy holds that human actions can never be separated from the past experiences and from the beliefs that have originated from those  experiences. </a:t>
            </a:r>
          </a:p>
          <a:p>
            <a:r>
              <a:rPr lang="en-US" b="0" i="0" dirty="0">
                <a:effectLst/>
                <a:latin typeface="Arial" panose="020B0604020202020204" pitchFamily="34" charset="0"/>
              </a:rPr>
              <a:t>Human thoughts are thus intrinsically linked to action. People take actions based on the possible consequences of their action, and they use the results of their actions to predict the consequences of similar actions in the future. A major contention of pragmatist philosophy is that meaning of human actions and beliefs is found in their consequences. External forces do not determine humans; they are themselves capable of shaping their experience through their actions and intelligence.</a:t>
            </a:r>
            <a:br>
              <a:rPr lang="en-US" dirty="0"/>
            </a:br>
            <a:endParaRPr lang="en-US" dirty="0"/>
          </a:p>
          <a:p>
            <a:r>
              <a:rPr lang="en-US" b="0" i="0" dirty="0">
                <a:effectLst/>
                <a:latin typeface="Arial" panose="020B0604020202020204" pitchFamily="34" charset="0"/>
              </a:rPr>
              <a:t>Pragmatists believe that reality is not static—it changes at every turn of events. Similarly, the world is also not static—it is in a constant state of becoming. The world is also changed through actions—action is the way to change existence. Actions have the role of an intermediary.</a:t>
            </a:r>
            <a:endParaRPr lang="en-IN" dirty="0"/>
          </a:p>
        </p:txBody>
      </p:sp>
    </p:spTree>
    <p:extLst>
      <p:ext uri="{BB962C8B-B14F-4D97-AF65-F5344CB8AC3E}">
        <p14:creationId xmlns:p14="http://schemas.microsoft.com/office/powerpoint/2010/main" val="2405636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F55EF-C332-9CEF-5191-B10E86C8C4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A50C9D-A5EB-B577-1080-537E2F6208EF}"/>
              </a:ext>
            </a:extLst>
          </p:cNvPr>
          <p:cNvSpPr>
            <a:spLocks noGrp="1"/>
          </p:cNvSpPr>
          <p:nvPr>
            <p:ph idx="1"/>
          </p:nvPr>
        </p:nvSpPr>
        <p:spPr/>
        <p:txBody>
          <a:bodyPr>
            <a:normAutofit fontScale="55000" lnSpcReduction="20000"/>
          </a:bodyPr>
          <a:lstStyle/>
          <a:p>
            <a:r>
              <a:rPr lang="en-US" dirty="0"/>
              <a:t>Pragmatism as a Research Paradigm</a:t>
            </a:r>
          </a:p>
          <a:p>
            <a:r>
              <a:rPr lang="en-US" dirty="0"/>
              <a:t>Pragmatism as a research paradigm refuses to get involved in the contentious metaphysical</a:t>
            </a:r>
          </a:p>
          <a:p>
            <a:r>
              <a:rPr lang="en-US" dirty="0"/>
              <a:t>concepts such as truth and reality. Instead, it accepts that there can be single or multiple realities</a:t>
            </a:r>
          </a:p>
          <a:p>
            <a:r>
              <a:rPr lang="en-US" dirty="0"/>
              <a:t>that are open to empirical inquiry (Creswell and Clark 2011). Pragmatist scholars have offered their</a:t>
            </a:r>
          </a:p>
          <a:p>
            <a:r>
              <a:rPr lang="en-US" dirty="0"/>
              <a:t>particular opinion that there is an objective reality that exists apart from human experience. However,</a:t>
            </a:r>
          </a:p>
          <a:p>
            <a:r>
              <a:rPr lang="en-US" dirty="0"/>
              <a:t>this reality is grounded in the environment and can only be encountered through human experience</a:t>
            </a:r>
          </a:p>
          <a:p>
            <a:r>
              <a:rPr lang="en-US" dirty="0"/>
              <a:t>(</a:t>
            </a:r>
            <a:r>
              <a:rPr lang="en-US" dirty="0" err="1"/>
              <a:t>Goles</a:t>
            </a:r>
            <a:r>
              <a:rPr lang="en-US" dirty="0"/>
              <a:t> and </a:t>
            </a:r>
            <a:r>
              <a:rPr lang="en-US" dirty="0" err="1"/>
              <a:t>Hirschheim</a:t>
            </a:r>
            <a:r>
              <a:rPr lang="en-US" dirty="0"/>
              <a:t> 2000; Morgan 2014a; </a:t>
            </a:r>
            <a:r>
              <a:rPr lang="en-US" dirty="0" err="1"/>
              <a:t>Tashakkori</a:t>
            </a:r>
            <a:r>
              <a:rPr lang="en-US" dirty="0"/>
              <a:t> and Teddlie 2008). </a:t>
            </a:r>
          </a:p>
          <a:p>
            <a:r>
              <a:rPr lang="en-US" dirty="0"/>
              <a:t>pragmatist philosophy is that knowledge and reality are based on beliefs and habits that are socially</a:t>
            </a:r>
          </a:p>
          <a:p>
            <a:r>
              <a:rPr lang="en-US" dirty="0"/>
              <a:t>constructed (</a:t>
            </a:r>
            <a:r>
              <a:rPr lang="en-US" dirty="0" err="1"/>
              <a:t>Yefimov</a:t>
            </a:r>
            <a:r>
              <a:rPr lang="en-US" dirty="0"/>
              <a:t> 2004). Pragmatists generally agree that all knowledge in this world is socially</a:t>
            </a:r>
          </a:p>
          <a:p>
            <a:r>
              <a:rPr lang="en-US" dirty="0"/>
              <a:t>constructed, but some versions of those social constructions match individuals’ experiences more than</a:t>
            </a:r>
          </a:p>
          <a:p>
            <a:r>
              <a:rPr lang="en-US" dirty="0"/>
              <a:t>others (Morgan 2014a).</a:t>
            </a:r>
          </a:p>
          <a:p>
            <a:r>
              <a:rPr lang="en-US" dirty="0"/>
              <a:t>Pragmatists doubt that reality can ever be determined once and for all (</a:t>
            </a:r>
            <a:r>
              <a:rPr lang="en-US" dirty="0" err="1"/>
              <a:t>Pansiri</a:t>
            </a:r>
            <a:r>
              <a:rPr lang="en-US" dirty="0"/>
              <a:t> 2005). They</a:t>
            </a:r>
          </a:p>
          <a:p>
            <a:r>
              <a:rPr lang="en-US" dirty="0"/>
              <a:t>view reality as a normative concept and maintain that reality is what works. </a:t>
            </a:r>
          </a:p>
          <a:p>
            <a:pPr marL="0" indent="0">
              <a:buNone/>
            </a:pPr>
            <a:endParaRPr lang="en-US" dirty="0"/>
          </a:p>
          <a:p>
            <a:endParaRPr lang="en-IN" dirty="0"/>
          </a:p>
        </p:txBody>
      </p:sp>
    </p:spTree>
    <p:extLst>
      <p:ext uri="{BB962C8B-B14F-4D97-AF65-F5344CB8AC3E}">
        <p14:creationId xmlns:p14="http://schemas.microsoft.com/office/powerpoint/2010/main" val="3085322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6036C-41DA-C9E4-60C4-4A079D199869}"/>
              </a:ext>
            </a:extLst>
          </p:cNvPr>
          <p:cNvSpPr>
            <a:spLocks noGrp="1"/>
          </p:cNvSpPr>
          <p:nvPr>
            <p:ph type="title"/>
          </p:nvPr>
        </p:nvSpPr>
        <p:spPr/>
        <p:txBody>
          <a:bodyPr/>
          <a:lstStyle/>
          <a:p>
            <a:r>
              <a:rPr lang="en-IN" sz="4400" kern="0" dirty="0">
                <a:effectLst/>
                <a:latin typeface="Times New Roman" panose="02020603050405020304" pitchFamily="18" charset="0"/>
                <a:ea typeface="Times New Roman" panose="02020603050405020304" pitchFamily="18" charset="0"/>
                <a:cs typeface="Times New Roman" panose="02020603050405020304" pitchFamily="18" charset="0"/>
              </a:rPr>
              <a:t>Constructivist Paradigm</a:t>
            </a:r>
            <a:endParaRPr lang="en-IN" dirty="0"/>
          </a:p>
        </p:txBody>
      </p:sp>
      <p:sp>
        <p:nvSpPr>
          <p:cNvPr id="3" name="Content Placeholder 2">
            <a:extLst>
              <a:ext uri="{FF2B5EF4-FFF2-40B4-BE49-F238E27FC236}">
                <a16:creationId xmlns:a16="http://schemas.microsoft.com/office/drawing/2014/main" id="{220BFA66-6EA2-1FF9-1D28-AD8357B40D30}"/>
              </a:ext>
            </a:extLst>
          </p:cNvPr>
          <p:cNvSpPr>
            <a:spLocks noGrp="1"/>
          </p:cNvSpPr>
          <p:nvPr>
            <p:ph idx="1"/>
          </p:nvPr>
        </p:nvSpPr>
        <p:spPr/>
        <p:txBody>
          <a:bodyPr>
            <a:normAutofit/>
          </a:bodyPr>
          <a:lstStyle/>
          <a:p>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Constructivism is a philosophical and epistemological perspective that emphasizes the active role of individuals in constructing their understanding of the world. It suggests that knowledge is not passively received from the environment, but rather actively built by individuals through their experiences, interactions, and interpretations. Constructivism has influenced various fields, including psychology, education, sociology, and philosophy of science.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43296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4B592-19C7-8853-2E57-2EDE315FCB27}"/>
              </a:ext>
            </a:extLst>
          </p:cNvPr>
          <p:cNvSpPr>
            <a:spLocks noGrp="1"/>
          </p:cNvSpPr>
          <p:nvPr>
            <p:ph type="title"/>
          </p:nvPr>
        </p:nvSpPr>
        <p:spPr/>
        <p:txBody>
          <a:bodyPr/>
          <a:lstStyle/>
          <a:p>
            <a:r>
              <a:rPr lang="en-US" dirty="0"/>
              <a:t>Key Features</a:t>
            </a:r>
            <a:endParaRPr lang="en-IN" dirty="0"/>
          </a:p>
        </p:txBody>
      </p:sp>
      <p:sp>
        <p:nvSpPr>
          <p:cNvPr id="3" name="Content Placeholder 2">
            <a:extLst>
              <a:ext uri="{FF2B5EF4-FFF2-40B4-BE49-F238E27FC236}">
                <a16:creationId xmlns:a16="http://schemas.microsoft.com/office/drawing/2014/main" id="{726CB34F-A98B-3DBC-8D5C-08AE093B8C45}"/>
              </a:ext>
            </a:extLst>
          </p:cNvPr>
          <p:cNvSpPr>
            <a:spLocks noGrp="1"/>
          </p:cNvSpPr>
          <p:nvPr>
            <p:ph idx="1"/>
          </p:nvPr>
        </p:nvSpPr>
        <p:spPr/>
        <p:txBody>
          <a:bodyPr>
            <a:normAutofit fontScale="85000" lnSpcReduction="10000"/>
          </a:bodyPr>
          <a:lstStyle/>
          <a:p>
            <a:pPr marL="342900" lvl="0" indent="-342900">
              <a:lnSpc>
                <a:spcPct val="107000"/>
              </a:lnSpc>
              <a:spcAft>
                <a:spcPts val="800"/>
              </a:spcAft>
              <a:buFont typeface="+mj-lt"/>
              <a:buAutoNum type="arabicPeriod"/>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Active Construction of Knowledge</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Constructivism posits that individuals actively construct knowledge rather than passively receiving it from external sources. According to this perspective, learners are not blank slates but rather engage in sense-making activities by actively interpreting and organizing their experiences. This process of construction is influenced by learners' prior knowledge, beliefs, motivations, and social contexts.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Subjectivity and Perspective</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Constructivism emphasizes the subjective nature of knowledge and understanding. Different individuals may construct different interpretations of the same phenomenon based on their unique perspectives, experiences, and cultural backgrounds. Therefore, knowledge is considered inherently subjective and context-dependent, shaped by the particularities of the knower.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Social and Cultural Context</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Constructivism recognizes the importance of social and cultural factors in knowledge construction. Individuals learn and make meaning within specific social contexts, such as families, schools, communities, and cultural traditions. Social interactions, collaboration, and discourse play crucial roles in shaping individuals' understanding of the world. </a:t>
            </a:r>
          </a:p>
          <a:p>
            <a:pPr marL="342900" lvl="0" indent="-342900">
              <a:lnSpc>
                <a:spcPct val="107000"/>
              </a:lnSpc>
              <a:spcAft>
                <a:spcPts val="800"/>
              </a:spcAft>
              <a:buFont typeface="+mj-lt"/>
              <a:buAutoNum type="arabicPeriod"/>
              <a:tabLst>
                <a:tab pos="457200" algn="l"/>
              </a:tabLst>
            </a:pPr>
            <a:r>
              <a:rPr lang="en-IN" sz="1800" b="1" kern="0" dirty="0">
                <a:latin typeface="Times New Roman" panose="02020603050405020304" pitchFamily="18" charset="0"/>
                <a:ea typeface="Calibri" panose="020F0502020204030204" pitchFamily="34" charset="0"/>
                <a:cs typeface="Times New Roman" panose="02020603050405020304" pitchFamily="18" charset="0"/>
              </a:rPr>
              <a:t>Social Negotiation is useful strategy</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96323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62C0-E06F-7048-021C-41FB7BA38B88}"/>
              </a:ext>
            </a:extLst>
          </p:cNvPr>
          <p:cNvSpPr>
            <a:spLocks noGrp="1"/>
          </p:cNvSpPr>
          <p:nvPr>
            <p:ph type="title"/>
          </p:nvPr>
        </p:nvSpPr>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0C5E4738-A192-FBA7-46E9-076218088BC2}"/>
              </a:ext>
            </a:extLst>
          </p:cNvPr>
          <p:cNvSpPr>
            <a:spLocks noGrp="1"/>
          </p:cNvSpPr>
          <p:nvPr>
            <p:ph idx="1"/>
          </p:nvPr>
        </p:nvSpPr>
        <p:spPr/>
        <p:txBody>
          <a:bodyPr>
            <a:normAutofit/>
          </a:bodyPr>
          <a:lstStyle/>
          <a:p>
            <a:r>
              <a:rPr lang="en-US" dirty="0"/>
              <a:t>There are different paradigms of Research, they have their base in Philosophy, on the nature of knowledge being researched. The object under the lens of research and basic assumptions on how the knowledge is generated is critical in deciding the paradigm. </a:t>
            </a:r>
          </a:p>
          <a:p>
            <a:r>
              <a:rPr lang="en-US" dirty="0"/>
              <a:t>When the phenomena is empirical in nature, then a positivistic paradigm is used.</a:t>
            </a:r>
          </a:p>
          <a:p>
            <a:r>
              <a:rPr lang="en-IN" dirty="0"/>
              <a:t>When the phenomena under study is amenable to multiple interpretations then - interpretivism is used.</a:t>
            </a:r>
          </a:p>
          <a:p>
            <a:r>
              <a:rPr lang="en-IN" dirty="0"/>
              <a:t>When we look from and for power perspective – Critical theory is used.</a:t>
            </a:r>
          </a:p>
          <a:p>
            <a:r>
              <a:rPr lang="en-IN" dirty="0"/>
              <a:t>When we try to see how meaning is constructed – The constructivist paradigm is used.</a:t>
            </a:r>
          </a:p>
          <a:p>
            <a:r>
              <a:rPr lang="en-IN" dirty="0"/>
              <a:t>When we look from what will work practically – we use pragmatist paradigm.</a:t>
            </a:r>
          </a:p>
        </p:txBody>
      </p:sp>
    </p:spTree>
    <p:extLst>
      <p:ext uri="{BB962C8B-B14F-4D97-AF65-F5344CB8AC3E}">
        <p14:creationId xmlns:p14="http://schemas.microsoft.com/office/powerpoint/2010/main" val="1168081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C4EA-5CFF-7FBB-D529-D87D4C259590}"/>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4A6C8D3B-70CD-4662-7177-3EEE65338D3F}"/>
              </a:ext>
            </a:extLst>
          </p:cNvPr>
          <p:cNvPicPr>
            <a:picLocks noGrp="1" noChangeAspect="1"/>
          </p:cNvPicPr>
          <p:nvPr>
            <p:ph idx="1"/>
          </p:nvPr>
        </p:nvPicPr>
        <p:blipFill>
          <a:blip r:embed="rId2"/>
          <a:stretch>
            <a:fillRect/>
          </a:stretch>
        </p:blipFill>
        <p:spPr>
          <a:xfrm>
            <a:off x="154112" y="81186"/>
            <a:ext cx="11948845" cy="6576468"/>
          </a:xfrm>
          <a:prstGeom prst="rect">
            <a:avLst/>
          </a:prstGeom>
        </p:spPr>
      </p:pic>
    </p:spTree>
    <p:extLst>
      <p:ext uri="{BB962C8B-B14F-4D97-AF65-F5344CB8AC3E}">
        <p14:creationId xmlns:p14="http://schemas.microsoft.com/office/powerpoint/2010/main" val="24838819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117</TotalTime>
  <Words>3762</Words>
  <Application>Microsoft Office PowerPoint</Application>
  <PresentationFormat>Widescreen</PresentationFormat>
  <Paragraphs>131</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Times New Roman</vt:lpstr>
      <vt:lpstr>Tw Cen MT</vt:lpstr>
      <vt:lpstr>Tw Cen MT Condensed</vt:lpstr>
      <vt:lpstr>Wingdings 3</vt:lpstr>
      <vt:lpstr>Integral</vt:lpstr>
      <vt:lpstr>Paradigms of Research</vt:lpstr>
      <vt:lpstr>Content</vt:lpstr>
      <vt:lpstr>There is a Philosophical base for Paradigm</vt:lpstr>
      <vt:lpstr>PowerPoint Presentation</vt:lpstr>
      <vt:lpstr>PowerPoint Presentation</vt:lpstr>
      <vt:lpstr>Paradigm</vt:lpstr>
      <vt:lpstr>Paradigm..</vt:lpstr>
      <vt:lpstr>Paradigm..</vt:lpstr>
      <vt:lpstr>Paradigm..</vt:lpstr>
      <vt:lpstr>Research </vt:lpstr>
      <vt:lpstr>PowerPoint Presentation</vt:lpstr>
      <vt:lpstr>Research..</vt:lpstr>
      <vt:lpstr>Paradigms of Research</vt:lpstr>
      <vt:lpstr>PowerPoint Presentation</vt:lpstr>
      <vt:lpstr>PowerPoint Presentation</vt:lpstr>
      <vt:lpstr>Positivism</vt:lpstr>
      <vt:lpstr>Features of Positivist paradigm</vt:lpstr>
      <vt:lpstr>Features of Positivist paradigm..</vt:lpstr>
      <vt:lpstr>Positivism..</vt:lpstr>
      <vt:lpstr>Interpretivism</vt:lpstr>
      <vt:lpstr>PowerPoint Presentation</vt:lpstr>
      <vt:lpstr>PowerPoint Presentation</vt:lpstr>
      <vt:lpstr>Interpretivism..</vt:lpstr>
      <vt:lpstr>PowerPoint Presentation</vt:lpstr>
      <vt:lpstr>Critical Theory</vt:lpstr>
      <vt:lpstr>Critical..</vt:lpstr>
      <vt:lpstr>Critical Theory..</vt:lpstr>
      <vt:lpstr>Critical Theory..</vt:lpstr>
      <vt:lpstr>Pragmatic</vt:lpstr>
      <vt:lpstr>PowerPoint Presentation</vt:lpstr>
      <vt:lpstr>Constructivist Paradigm</vt:lpstr>
      <vt:lpstr>Key Features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Archana Tomar</dc:creator>
  <cp:lastModifiedBy>Archana Tomar</cp:lastModifiedBy>
  <cp:revision>1</cp:revision>
  <dcterms:created xsi:type="dcterms:W3CDTF">2025-03-17T08:51:45Z</dcterms:created>
  <dcterms:modified xsi:type="dcterms:W3CDTF">2025-03-17T11:52:35Z</dcterms:modified>
</cp:coreProperties>
</file>