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57" r:id="rId11"/>
    <p:sldId id="267" r:id="rId12"/>
    <p:sldId id="258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6FA1-D462-453D-954B-5CC7DD2AA78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1794-BC7E-432C-B5C9-4C3F05A715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6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6FA1-D462-453D-954B-5CC7DD2AA78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1794-BC7E-432C-B5C9-4C3F05A715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893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6FA1-D462-453D-954B-5CC7DD2AA78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1794-BC7E-432C-B5C9-4C3F05A715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59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6FA1-D462-453D-954B-5CC7DD2AA78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1794-BC7E-432C-B5C9-4C3F05A715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54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6FA1-D462-453D-954B-5CC7DD2AA78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1794-BC7E-432C-B5C9-4C3F05A715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601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6FA1-D462-453D-954B-5CC7DD2AA78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1794-BC7E-432C-B5C9-4C3F05A715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20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6FA1-D462-453D-954B-5CC7DD2AA78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1794-BC7E-432C-B5C9-4C3F05A715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80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6FA1-D462-453D-954B-5CC7DD2AA78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1794-BC7E-432C-B5C9-4C3F05A715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48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6FA1-D462-453D-954B-5CC7DD2AA78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1794-BC7E-432C-B5C9-4C3F05A715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41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6FA1-D462-453D-954B-5CC7DD2AA78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1794-BC7E-432C-B5C9-4C3F05A715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81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6FA1-D462-453D-954B-5CC7DD2AA78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1794-BC7E-432C-B5C9-4C3F05A715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50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66FA1-D462-453D-954B-5CC7DD2AA78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1794-BC7E-432C-B5C9-4C3F05A715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96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Nature, Types </a:t>
            </a:r>
            <a:r>
              <a:rPr lang="en-IN" dirty="0" smtClean="0"/>
              <a:t>and Scope of Research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R. L. </a:t>
            </a:r>
            <a:r>
              <a:rPr lang="en-IN" dirty="0" err="1" smtClean="0"/>
              <a:t>Madhavi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1222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Research is a systematic and critical investigation aimed at expanding knowledge and understanding</a:t>
            </a:r>
          </a:p>
          <a:p>
            <a:r>
              <a:rPr lang="en-US" dirty="0" smtClean="0"/>
              <a:t>involving steps like, </a:t>
            </a:r>
          </a:p>
          <a:p>
            <a:pPr lvl="1"/>
            <a:r>
              <a:rPr lang="en-US" dirty="0" smtClean="0"/>
              <a:t>the identification of variables, </a:t>
            </a:r>
          </a:p>
          <a:p>
            <a:pPr lvl="1"/>
            <a:r>
              <a:rPr lang="en-US" dirty="0" smtClean="0"/>
              <a:t>data collection, </a:t>
            </a:r>
          </a:p>
          <a:p>
            <a:pPr lvl="1"/>
            <a:r>
              <a:rPr lang="en-US" dirty="0" smtClean="0"/>
              <a:t>analysis to answer specific questions and </a:t>
            </a:r>
          </a:p>
          <a:p>
            <a:pPr lvl="1"/>
            <a:r>
              <a:rPr lang="en-US" dirty="0" smtClean="0"/>
              <a:t>contribute to human knowledge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987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Nature of Research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78193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b="1" dirty="0" smtClean="0"/>
              <a:t>Systematic:</a:t>
            </a:r>
            <a:endParaRPr lang="en-IN" dirty="0" smtClean="0"/>
          </a:p>
          <a:p>
            <a:pPr lvl="1"/>
            <a:r>
              <a:rPr lang="en-US" dirty="0" smtClean="0"/>
              <a:t>Research follows a structured and planned approach, with defined methods and procedures. </a:t>
            </a:r>
            <a:endParaRPr lang="en-IN" dirty="0" smtClean="0"/>
          </a:p>
          <a:p>
            <a:pPr lvl="0"/>
            <a:r>
              <a:rPr lang="en-US" b="1" dirty="0" smtClean="0"/>
              <a:t>Critical:</a:t>
            </a:r>
            <a:endParaRPr lang="en-IN" dirty="0" smtClean="0"/>
          </a:p>
          <a:p>
            <a:pPr lvl="1"/>
            <a:r>
              <a:rPr lang="en-US" dirty="0" smtClean="0"/>
              <a:t>Research involves careful examination and evaluation of existing knowledge and evidence. </a:t>
            </a:r>
            <a:endParaRPr lang="en-IN" dirty="0" smtClean="0"/>
          </a:p>
          <a:p>
            <a:pPr lvl="0"/>
            <a:r>
              <a:rPr lang="en-US" b="1" dirty="0" smtClean="0"/>
              <a:t>Objective:</a:t>
            </a:r>
            <a:endParaRPr lang="en-IN" dirty="0" smtClean="0"/>
          </a:p>
          <a:p>
            <a:pPr lvl="1"/>
            <a:r>
              <a:rPr lang="en-US" dirty="0" smtClean="0"/>
              <a:t>Research aims to minimize bias and present findings in an unbiased and factual manner. </a:t>
            </a:r>
            <a:endParaRPr lang="en-IN" dirty="0" smtClean="0"/>
          </a:p>
          <a:p>
            <a:pPr lvl="0"/>
            <a:r>
              <a:rPr lang="en-US" b="1" dirty="0" smtClean="0"/>
              <a:t>Empirical:</a:t>
            </a:r>
            <a:endParaRPr lang="en-IN" dirty="0" smtClean="0"/>
          </a:p>
          <a:p>
            <a:pPr lvl="1"/>
            <a:r>
              <a:rPr lang="en-US" dirty="0" smtClean="0"/>
              <a:t>Research relies on observable evidence and data collected through observation, experimentation, or other methods. </a:t>
            </a:r>
            <a:endParaRPr lang="en-IN" dirty="0" smtClean="0"/>
          </a:p>
          <a:p>
            <a:pPr lvl="0"/>
            <a:r>
              <a:rPr lang="en-US" b="1" dirty="0" smtClean="0"/>
              <a:t>Logical:</a:t>
            </a:r>
            <a:endParaRPr lang="en-IN" dirty="0" smtClean="0"/>
          </a:p>
          <a:p>
            <a:pPr lvl="1"/>
            <a:r>
              <a:rPr lang="en-US" dirty="0" smtClean="0"/>
              <a:t>Research uses logical reasoning and evidence to draw conclusions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586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Nature of Research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727" y="1825625"/>
            <a:ext cx="10834255" cy="464444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b="1" dirty="0" smtClean="0"/>
              <a:t>Analytical:</a:t>
            </a:r>
            <a:endParaRPr lang="en-IN" dirty="0" smtClean="0"/>
          </a:p>
          <a:p>
            <a:pPr lvl="1"/>
            <a:r>
              <a:rPr lang="en-US" dirty="0" smtClean="0"/>
              <a:t>Research involves analyzing data and interpreting findings to draw meaningful conclusions. </a:t>
            </a:r>
            <a:endParaRPr lang="en-IN" dirty="0" smtClean="0"/>
          </a:p>
          <a:p>
            <a:pPr lvl="0"/>
            <a:r>
              <a:rPr lang="en-US" b="1" dirty="0" smtClean="0"/>
              <a:t>Replicable:</a:t>
            </a:r>
            <a:endParaRPr lang="en-IN" dirty="0" smtClean="0"/>
          </a:p>
          <a:p>
            <a:pPr lvl="1"/>
            <a:r>
              <a:rPr lang="en-US" dirty="0" smtClean="0"/>
              <a:t>Research findings should be verifiable and repeatable by other researchers using similar methods. </a:t>
            </a:r>
            <a:endParaRPr lang="en-IN" dirty="0" smtClean="0"/>
          </a:p>
          <a:p>
            <a:pPr lvl="0"/>
            <a:r>
              <a:rPr lang="en-US" b="1" dirty="0" smtClean="0"/>
              <a:t>Cyclical:</a:t>
            </a:r>
            <a:endParaRPr lang="en-IN" dirty="0" smtClean="0"/>
          </a:p>
          <a:p>
            <a:pPr lvl="1"/>
            <a:r>
              <a:rPr lang="en-US" dirty="0" smtClean="0"/>
              <a:t>Research often involves a cyclical process of investigation, analysis, and further inquiry. </a:t>
            </a:r>
            <a:endParaRPr lang="en-IN" dirty="0" smtClean="0"/>
          </a:p>
          <a:p>
            <a:pPr lvl="0"/>
            <a:r>
              <a:rPr lang="en-US" b="1" dirty="0" smtClean="0"/>
              <a:t>Methodical:</a:t>
            </a:r>
            <a:endParaRPr lang="en-IN" dirty="0" smtClean="0"/>
          </a:p>
          <a:p>
            <a:pPr lvl="1"/>
            <a:r>
              <a:rPr lang="en-US" dirty="0" smtClean="0"/>
              <a:t>Research follows a structured and planned approach, with defined methods and procedures. </a:t>
            </a:r>
            <a:endParaRPr lang="en-IN" dirty="0" smtClean="0"/>
          </a:p>
          <a:p>
            <a:pPr lvl="0"/>
            <a:r>
              <a:rPr lang="en-US" b="1" dirty="0" smtClean="0"/>
              <a:t>Originality:</a:t>
            </a:r>
            <a:endParaRPr lang="en-IN" dirty="0" smtClean="0"/>
          </a:p>
          <a:p>
            <a:pPr lvl="1"/>
            <a:r>
              <a:rPr lang="en-US" dirty="0" smtClean="0"/>
              <a:t>Research aims to contribute new knowledge or insights to the existing body of knowledge.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88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Types of Research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b="1" dirty="0" smtClean="0"/>
              <a:t>Basic/Fundamental Research:</a:t>
            </a:r>
            <a:endParaRPr lang="en-IN" sz="3200" dirty="0" smtClean="0"/>
          </a:p>
          <a:p>
            <a:pPr lvl="1"/>
            <a:r>
              <a:rPr lang="en-US" sz="3200" dirty="0" smtClean="0"/>
              <a:t>Focuses on expanding knowledge and understanding of fundamental concepts, often without immediate practical applications. </a:t>
            </a:r>
            <a:endParaRPr lang="en-IN" sz="3200" dirty="0" smtClean="0"/>
          </a:p>
          <a:p>
            <a:pPr lvl="0"/>
            <a:r>
              <a:rPr lang="en-US" sz="3200" b="1" dirty="0" smtClean="0"/>
              <a:t>Applied Research:</a:t>
            </a:r>
            <a:endParaRPr lang="en-IN" sz="3200" dirty="0" smtClean="0"/>
          </a:p>
          <a:p>
            <a:pPr lvl="1"/>
            <a:r>
              <a:rPr lang="en-US" sz="3200" dirty="0" smtClean="0"/>
              <a:t>Aims to solve practical problems and address real-world issues, often with immediate practical applications.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33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764" y="365125"/>
            <a:ext cx="11028218" cy="1325563"/>
          </a:xfrm>
        </p:spPr>
        <p:txBody>
          <a:bodyPr/>
          <a:lstStyle/>
          <a:p>
            <a:r>
              <a:rPr lang="en-US" dirty="0" smtClean="0"/>
              <a:t>Basic Research (Fundamental or Pure Research)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b="1" dirty="0" smtClean="0"/>
              <a:t>Goal:</a:t>
            </a:r>
            <a:r>
              <a:rPr lang="en-US" dirty="0" smtClean="0"/>
              <a:t> To expand knowledge and understanding of a subject, without immediate practical application in mind. </a:t>
            </a:r>
            <a:endParaRPr lang="en-IN" dirty="0" smtClean="0"/>
          </a:p>
          <a:p>
            <a:pPr lvl="0"/>
            <a:r>
              <a:rPr lang="en-US" b="1" dirty="0" smtClean="0"/>
              <a:t>Focus:</a:t>
            </a:r>
            <a:r>
              <a:rPr lang="en-US" dirty="0" smtClean="0"/>
              <a:t> Theoretical concepts, fundamental principles, and the discovery of new knowledge. </a:t>
            </a:r>
            <a:endParaRPr lang="en-IN" dirty="0" smtClean="0"/>
          </a:p>
          <a:p>
            <a:pPr lvl="0"/>
            <a:r>
              <a:rPr lang="en-US" b="1" dirty="0" smtClean="0"/>
              <a:t>Example:</a:t>
            </a:r>
            <a:r>
              <a:rPr lang="en-US" dirty="0" smtClean="0"/>
              <a:t> Research into the structure of atoms or the origins of the universe. </a:t>
            </a:r>
            <a:endParaRPr lang="en-IN" dirty="0" smtClean="0"/>
          </a:p>
          <a:p>
            <a:pPr lvl="0"/>
            <a:r>
              <a:rPr lang="en-US" b="1" dirty="0" smtClean="0"/>
              <a:t>Characteristics:</a:t>
            </a:r>
            <a:r>
              <a:rPr lang="en-US" dirty="0" smtClean="0"/>
              <a:t> Often exploratory, theoretical, and conducted in a controlled environment. </a:t>
            </a:r>
            <a:endParaRPr lang="en-IN" dirty="0" smtClean="0"/>
          </a:p>
          <a:p>
            <a:pPr lvl="0"/>
            <a:r>
              <a:rPr lang="en-US" b="1" dirty="0" smtClean="0"/>
              <a:t>Purpose:</a:t>
            </a:r>
            <a:r>
              <a:rPr lang="en-US" dirty="0" smtClean="0"/>
              <a:t> To build a foundation of knowledge for future research and applications. </a:t>
            </a:r>
            <a:endParaRPr lang="en-IN" dirty="0" smtClean="0"/>
          </a:p>
          <a:p>
            <a:pPr lvl="1"/>
            <a:r>
              <a:rPr lang="en-US" dirty="0" smtClean="0"/>
              <a:t>Basic research has always been used to give humans a better understanding of all branches of science and knowledge. However, it's not specifically based on identifying new things about the universe.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887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Uses of Basic Research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Basic research has a wide range of uses, as shown in the following examples:</a:t>
            </a:r>
            <a:endParaRPr lang="en-IN" dirty="0" smtClean="0"/>
          </a:p>
          <a:p>
            <a:pPr lvl="0"/>
            <a:r>
              <a:rPr lang="en-US" dirty="0" smtClean="0"/>
              <a:t>Investigation into how the universe began</a:t>
            </a:r>
            <a:endParaRPr lang="en-IN" dirty="0" smtClean="0"/>
          </a:p>
          <a:p>
            <a:pPr lvl="0"/>
            <a:r>
              <a:rPr lang="en-US" dirty="0" smtClean="0"/>
              <a:t>A study searching for the causes of cancer</a:t>
            </a:r>
            <a:endParaRPr lang="en-IN" dirty="0" smtClean="0"/>
          </a:p>
          <a:p>
            <a:pPr lvl="0"/>
            <a:r>
              <a:rPr lang="en-US" dirty="0" smtClean="0"/>
              <a:t>Understanding the components that make up human DNA</a:t>
            </a:r>
            <a:endParaRPr lang="en-IN" dirty="0" smtClean="0"/>
          </a:p>
          <a:p>
            <a:pPr lvl="0"/>
            <a:r>
              <a:rPr lang="en-US" dirty="0" smtClean="0"/>
              <a:t>An examination into whether a vegetarian diet is healthier than one with meat</a:t>
            </a:r>
            <a:endParaRPr lang="en-IN" dirty="0" smtClean="0"/>
          </a:p>
          <a:p>
            <a:pPr lvl="0"/>
            <a:r>
              <a:rPr lang="en-US" dirty="0" smtClean="0"/>
              <a:t>A study to learn more about which areas in the world get the most precipitation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301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Applied Research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55" y="1825625"/>
            <a:ext cx="11180618" cy="435133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b="1" dirty="0" smtClean="0"/>
              <a:t>Goal:</a:t>
            </a:r>
            <a:endParaRPr lang="en-IN" dirty="0" smtClean="0"/>
          </a:p>
          <a:p>
            <a:r>
              <a:rPr lang="en-US" dirty="0" smtClean="0"/>
              <a:t>To solve practical problems, address specific needs, or find solutions to real-world issues. </a:t>
            </a:r>
            <a:endParaRPr lang="en-IN" dirty="0" smtClean="0"/>
          </a:p>
          <a:p>
            <a:pPr lvl="0"/>
            <a:r>
              <a:rPr lang="en-US" b="1" dirty="0" smtClean="0"/>
              <a:t>Focus:</a:t>
            </a:r>
            <a:endParaRPr lang="en-IN" dirty="0" smtClean="0"/>
          </a:p>
          <a:p>
            <a:r>
              <a:rPr lang="en-US" dirty="0" smtClean="0"/>
              <a:t>Using existing knowledge to develop new products, processes, or technologies. </a:t>
            </a:r>
            <a:endParaRPr lang="en-IN" dirty="0" smtClean="0"/>
          </a:p>
          <a:p>
            <a:pPr lvl="0"/>
            <a:r>
              <a:rPr lang="en-US" b="1" dirty="0" smtClean="0"/>
              <a:t>Example:</a:t>
            </a:r>
            <a:endParaRPr lang="en-IN" dirty="0" smtClean="0"/>
          </a:p>
          <a:p>
            <a:r>
              <a:rPr lang="en-US" dirty="0" smtClean="0"/>
              <a:t>Developing a new drug to treat a disease or designing a more efficient energy system. </a:t>
            </a:r>
            <a:endParaRPr lang="en-IN" dirty="0" smtClean="0"/>
          </a:p>
          <a:p>
            <a:pPr lvl="0"/>
            <a:r>
              <a:rPr lang="en-US" b="1" dirty="0" smtClean="0"/>
              <a:t>Characteristics:</a:t>
            </a:r>
            <a:endParaRPr lang="en-IN" dirty="0" smtClean="0"/>
          </a:p>
          <a:p>
            <a:r>
              <a:rPr lang="en-US" dirty="0" smtClean="0"/>
              <a:t>Often experimental, confirmatory, and conducted in a real-world setting. </a:t>
            </a:r>
            <a:endParaRPr lang="en-IN" dirty="0" smtClean="0"/>
          </a:p>
          <a:p>
            <a:pPr lvl="0"/>
            <a:r>
              <a:rPr lang="en-US" b="1" dirty="0" smtClean="0"/>
              <a:t>Purpose:</a:t>
            </a:r>
            <a:endParaRPr lang="en-IN" dirty="0" smtClean="0"/>
          </a:p>
          <a:p>
            <a:r>
              <a:rPr lang="en-US" dirty="0" smtClean="0"/>
              <a:t>To directly benefit society, industry, or individuals by addressing specific problems.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908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Applied Research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Applied research is designed to solve practical problems that exist under current conditions.   Applied research can be used in a variety of ways, as illustrated by the following examples:</a:t>
            </a:r>
          </a:p>
          <a:p>
            <a:pPr marL="0" indent="0">
              <a:buNone/>
            </a:pPr>
            <a:endParaRPr lang="en-IN" dirty="0" smtClean="0"/>
          </a:p>
          <a:p>
            <a:pPr lvl="0"/>
            <a:r>
              <a:rPr lang="en-US" dirty="0" smtClean="0"/>
              <a:t>The investigation of ways to improve agricultural crop production</a:t>
            </a:r>
            <a:endParaRPr lang="en-IN" dirty="0" smtClean="0"/>
          </a:p>
          <a:p>
            <a:pPr lvl="0"/>
            <a:r>
              <a:rPr lang="en-US" dirty="0" smtClean="0"/>
              <a:t>A study to improve methods to market products for Gen Z consumers</a:t>
            </a:r>
            <a:endParaRPr lang="en-IN" dirty="0" smtClean="0"/>
          </a:p>
          <a:p>
            <a:pPr lvl="0"/>
            <a:r>
              <a:rPr lang="en-US" dirty="0" smtClean="0"/>
              <a:t>Examination of how technology can </a:t>
            </a:r>
            <a:r>
              <a:rPr lang="en-US" dirty="0" smtClean="0"/>
              <a:t>make </a:t>
            </a:r>
            <a:r>
              <a:rPr lang="en-US" dirty="0" smtClean="0"/>
              <a:t>car tires last longer</a:t>
            </a:r>
            <a:endParaRPr lang="en-IN" dirty="0" smtClean="0"/>
          </a:p>
          <a:p>
            <a:pPr lvl="0"/>
            <a:r>
              <a:rPr lang="en-US" dirty="0" smtClean="0"/>
              <a:t>Exploration of how to cook healthy meals with a limited budget</a:t>
            </a:r>
            <a:endParaRPr lang="en-IN" dirty="0" smtClean="0"/>
          </a:p>
          <a:p>
            <a:pPr lvl="0"/>
            <a:r>
              <a:rPr lang="en-US" dirty="0" smtClean="0"/>
              <a:t>A study on how to treat patients with insomnia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774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Scope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491" y="1825625"/>
            <a:ext cx="11111345" cy="4547466"/>
          </a:xfrm>
        </p:spPr>
        <p:txBody>
          <a:bodyPr/>
          <a:lstStyle/>
          <a:p>
            <a:r>
              <a:rPr lang="en-IN" dirty="0" smtClean="0"/>
              <a:t>The </a:t>
            </a:r>
            <a:r>
              <a:rPr lang="en-IN" dirty="0"/>
              <a:t>scope explains </a:t>
            </a:r>
            <a:r>
              <a:rPr lang="en-IN" b="1" dirty="0"/>
              <a:t>what is included</a:t>
            </a:r>
            <a:r>
              <a:rPr lang="en-IN" dirty="0"/>
              <a:t> in the study. </a:t>
            </a:r>
            <a:endParaRPr lang="en-IN" dirty="0" smtClean="0"/>
          </a:p>
          <a:p>
            <a:r>
              <a:rPr lang="en-IN" dirty="0" smtClean="0"/>
              <a:t>It </a:t>
            </a:r>
            <a:r>
              <a:rPr lang="en-IN" dirty="0"/>
              <a:t>defines the depth, extent, and boundaries of the research topic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pPr lvl="1"/>
            <a:r>
              <a:rPr lang="en-IN" sz="2800" b="1" dirty="0"/>
              <a:t>Focus</a:t>
            </a:r>
            <a:r>
              <a:rPr lang="en-IN" sz="2800" dirty="0"/>
              <a:t>: Identifies the specific variables, objectives, and core concepts being explored.</a:t>
            </a:r>
          </a:p>
          <a:p>
            <a:pPr lvl="1"/>
            <a:r>
              <a:rPr lang="en-IN" sz="2800" b="1" dirty="0"/>
              <a:t>Participants</a:t>
            </a:r>
            <a:r>
              <a:rPr lang="en-IN" sz="2800" dirty="0"/>
              <a:t>: Defines the target population or subjects of the study.</a:t>
            </a:r>
          </a:p>
          <a:p>
            <a:pPr lvl="1"/>
            <a:r>
              <a:rPr lang="en-IN" sz="2800" b="1" dirty="0"/>
              <a:t>Timeline</a:t>
            </a:r>
            <a:r>
              <a:rPr lang="en-IN" sz="2800" dirty="0"/>
              <a:t>: States the historical or current time period covered.</a:t>
            </a:r>
          </a:p>
          <a:p>
            <a:pPr lvl="1"/>
            <a:r>
              <a:rPr lang="en-IN" sz="2800" b="1" dirty="0"/>
              <a:t>Geography</a:t>
            </a:r>
            <a:r>
              <a:rPr lang="en-IN" sz="2800" dirty="0"/>
              <a:t>: Specifies the physical location or setting where data is gathered.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77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Research Question: What is the impact of mobile phones on </a:t>
            </a:r>
            <a:r>
              <a:rPr lang="en-IN" dirty="0" err="1" smtClean="0"/>
              <a:t>behavior</a:t>
            </a:r>
            <a:r>
              <a:rPr lang="en-IN" dirty="0" smtClean="0"/>
              <a:t> patterns of elementary school children. </a:t>
            </a:r>
          </a:p>
          <a:p>
            <a:r>
              <a:rPr lang="en-IN" dirty="0" smtClean="0"/>
              <a:t>Scope: The question will focus on behaviour patterns of elementary school children.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6169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Delimitation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825625"/>
            <a:ext cx="11000508" cy="4602884"/>
          </a:xfrm>
        </p:spPr>
        <p:txBody>
          <a:bodyPr/>
          <a:lstStyle/>
          <a:p>
            <a:r>
              <a:rPr lang="en-IN" dirty="0" smtClean="0"/>
              <a:t>Delimitations </a:t>
            </a:r>
            <a:r>
              <a:rPr lang="en-IN" dirty="0"/>
              <a:t>explain </a:t>
            </a:r>
            <a:r>
              <a:rPr lang="en-IN" b="1" dirty="0"/>
              <a:t>what is excluded</a:t>
            </a:r>
            <a:r>
              <a:rPr lang="en-IN" dirty="0"/>
              <a:t> by choice. </a:t>
            </a:r>
            <a:endParaRPr lang="en-IN" dirty="0" smtClean="0"/>
          </a:p>
          <a:p>
            <a:r>
              <a:rPr lang="en-IN" dirty="0" smtClean="0"/>
              <a:t>These </a:t>
            </a:r>
            <a:r>
              <a:rPr lang="en-IN" dirty="0"/>
              <a:t>are parameters set by the researcher to keep the study manageable. </a:t>
            </a:r>
            <a:endParaRPr lang="en-IN" dirty="0" smtClean="0"/>
          </a:p>
          <a:p>
            <a:r>
              <a:rPr lang="en-IN" dirty="0" smtClean="0"/>
              <a:t>They </a:t>
            </a:r>
            <a:r>
              <a:rPr lang="en-IN" dirty="0"/>
              <a:t>differ from limitations, which are unexpected constraints like a low budget or short time. </a:t>
            </a:r>
          </a:p>
          <a:p>
            <a:pPr lvl="1"/>
            <a:r>
              <a:rPr lang="en-IN" sz="2800" b="1" dirty="0"/>
              <a:t>Purpose</a:t>
            </a:r>
            <a:r>
              <a:rPr lang="en-IN" sz="2800" dirty="0"/>
              <a:t>: Narrows down the study field.</a:t>
            </a:r>
          </a:p>
          <a:p>
            <a:pPr lvl="1"/>
            <a:r>
              <a:rPr lang="en-IN" sz="2800" b="1" dirty="0"/>
              <a:t>Choice</a:t>
            </a:r>
            <a:r>
              <a:rPr lang="en-IN" sz="2800" dirty="0"/>
              <a:t>: Reflects conscious decisions by the investigator.</a:t>
            </a:r>
          </a:p>
          <a:p>
            <a:pPr lvl="1"/>
            <a:r>
              <a:rPr lang="en-IN" sz="2800" b="1" dirty="0"/>
              <a:t>Justification</a:t>
            </a:r>
            <a:r>
              <a:rPr lang="en-IN" sz="2800" dirty="0"/>
              <a:t>: Explains why certain aspects were left out.</a:t>
            </a:r>
          </a:p>
          <a:p>
            <a:pPr lvl="1"/>
            <a:r>
              <a:rPr lang="en-IN" sz="2800" b="1" dirty="0"/>
              <a:t>Control</a:t>
            </a:r>
            <a:r>
              <a:rPr lang="en-IN" sz="2800" dirty="0"/>
              <a:t>: Focuses purely on variables the researcher can control.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7639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Research Question: What is the impact of mobile phones on </a:t>
            </a:r>
            <a:r>
              <a:rPr lang="en-IN" dirty="0" err="1" smtClean="0"/>
              <a:t>behavior</a:t>
            </a:r>
            <a:r>
              <a:rPr lang="en-IN" dirty="0" smtClean="0"/>
              <a:t> patterns of elementary school children. </a:t>
            </a:r>
          </a:p>
          <a:p>
            <a:r>
              <a:rPr lang="en-IN" dirty="0" smtClean="0"/>
              <a:t>Scope: The question will focus on behaviour patterns of elementary school children.</a:t>
            </a:r>
          </a:p>
          <a:p>
            <a:r>
              <a:rPr lang="en-IN" dirty="0" smtClean="0"/>
              <a:t>Delimitation: The study specifically focus on the behaviour patterns of elementary school children of certain classes / standards, in a specific number like 50 or 100 and studying in one specific school or so observed for a duration of months to year.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6687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Research question:</a:t>
            </a:r>
            <a:r>
              <a:rPr lang="en-US" dirty="0" smtClean="0"/>
              <a:t> What are the factors that influence employee job satisfaction in the healthcare industry?</a:t>
            </a:r>
            <a:endParaRPr lang="en-IN" dirty="0" smtClean="0"/>
          </a:p>
          <a:p>
            <a:r>
              <a:rPr lang="en-US" b="1" dirty="0" smtClean="0"/>
              <a:t>Scope:</a:t>
            </a:r>
            <a:r>
              <a:rPr lang="en-US" dirty="0" smtClean="0"/>
              <a:t> The scope of the study will focus on employee job satisfaction in the healthcare industry in the United States.</a:t>
            </a:r>
            <a:endParaRPr lang="en-IN" dirty="0" smtClean="0"/>
          </a:p>
          <a:p>
            <a:r>
              <a:rPr lang="en-US" b="1" dirty="0" smtClean="0"/>
              <a:t>Delimitation:</a:t>
            </a:r>
            <a:r>
              <a:rPr lang="en-US" dirty="0" smtClean="0"/>
              <a:t> The study will specifically examine the following factors that influence employee job satisfaction: salary, work-life balance, job security, and opportunities for career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039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Research Question: What are  the effects of regular physical exercise on the health of senior citizens. </a:t>
            </a:r>
          </a:p>
          <a:p>
            <a:r>
              <a:rPr lang="en-IN" dirty="0" smtClean="0"/>
              <a:t>Scope: The study would focus on the health of senior citizens.</a:t>
            </a:r>
          </a:p>
          <a:p>
            <a:r>
              <a:rPr lang="en-IN" dirty="0" smtClean="0"/>
              <a:t>Delimitation: The study will specifically examine the health of specific groups of senior citizens, perhaps based on their age, gender, geographical location, cultural influences, and sample sizes.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0365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Title</a:t>
            </a:r>
            <a:r>
              <a:rPr lang="en-IN" dirty="0"/>
              <a:t>: </a:t>
            </a:r>
            <a:r>
              <a:rPr lang="en-IN" dirty="0" err="1"/>
              <a:t>Microplastic</a:t>
            </a:r>
            <a:r>
              <a:rPr lang="en-IN" dirty="0"/>
              <a:t> Concentration in Urban Freshwater Rivers.</a:t>
            </a:r>
          </a:p>
          <a:p>
            <a:r>
              <a:rPr lang="en-IN" b="1" dirty="0"/>
              <a:t>Scope</a:t>
            </a:r>
            <a:r>
              <a:rPr lang="en-IN" dirty="0"/>
              <a:t>: This study quantifies synthetic polymer particles found in the surface water of the Yamuna River. Water samples will be collected monthly from five specific bridge locations within Delhi during 2026.</a:t>
            </a:r>
          </a:p>
          <a:p>
            <a:r>
              <a:rPr lang="en-IN" b="1" dirty="0"/>
              <a:t>Delimitation</a:t>
            </a:r>
            <a:r>
              <a:rPr lang="en-IN" dirty="0"/>
              <a:t>: The research is restricted to surface water samples and will not </a:t>
            </a:r>
            <a:r>
              <a:rPr lang="en-IN" dirty="0" err="1"/>
              <a:t>analyze</a:t>
            </a:r>
            <a:r>
              <a:rPr lang="en-IN" dirty="0"/>
              <a:t> deep riverbed sediment. It excludes organic pollutants, heavy metals, and chemical toxins. The study does not investigate the specific sources of plastic dumping.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8725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682</Words>
  <Application>Microsoft Office PowerPoint</Application>
  <PresentationFormat>Widescreen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Nature, Types and Scope of Research</vt:lpstr>
      <vt:lpstr>Research</vt:lpstr>
      <vt:lpstr>Nature of Research</vt:lpstr>
      <vt:lpstr>Nature of Research</vt:lpstr>
      <vt:lpstr>Types of Research</vt:lpstr>
      <vt:lpstr>Basic Research (Fundamental or Pure Research)</vt:lpstr>
      <vt:lpstr>Uses of Basic Research</vt:lpstr>
      <vt:lpstr>Applied Research </vt:lpstr>
      <vt:lpstr>Applied Research</vt:lpstr>
      <vt:lpstr>Scope</vt:lpstr>
      <vt:lpstr>Example:</vt:lpstr>
      <vt:lpstr>Delimitation</vt:lpstr>
      <vt:lpstr>Example:</vt:lpstr>
      <vt:lpstr>Example</vt:lpstr>
      <vt:lpstr>Example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Nature, Types and Scope of Research</dc:title>
  <dc:creator>Sree Mukta</dc:creator>
  <cp:lastModifiedBy>Sree Mukta</cp:lastModifiedBy>
  <cp:revision>8</cp:revision>
  <dcterms:created xsi:type="dcterms:W3CDTF">2026-06-19T07:24:31Z</dcterms:created>
  <dcterms:modified xsi:type="dcterms:W3CDTF">2026-06-19T12:54:16Z</dcterms:modified>
</cp:coreProperties>
</file>