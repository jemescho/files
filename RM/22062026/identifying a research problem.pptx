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61" r:id="rId12"/>
    <p:sldId id="285" r:id="rId13"/>
    <p:sldId id="276" r:id="rId14"/>
    <p:sldId id="286" r:id="rId15"/>
    <p:sldId id="277" r:id="rId16"/>
    <p:sldId id="262" r:id="rId17"/>
    <p:sldId id="287" r:id="rId18"/>
    <p:sldId id="263" r:id="rId19"/>
    <p:sldId id="264" r:id="rId20"/>
    <p:sldId id="288" r:id="rId21"/>
    <p:sldId id="266" r:id="rId22"/>
    <p:sldId id="26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A0466-A881-C884-9027-0FA1E8B57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156B37-BCCE-0C5C-884A-BAB22C95A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3EC4D-F421-AD8E-B973-57954E95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44B1-60FB-4529-9FC3-CF50FEEEFEC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96963-2347-9C52-CAC3-19217E5C2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A5528-F3CC-4B94-D6EA-940B089E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2F93-32AC-4501-97F3-5D9B9CB320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261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5740D-5DAF-07D1-AC91-69C9CEBE4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CD045-B8A1-BF49-F599-B47F57EC0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74145-D744-1BED-3098-0182457AA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44B1-60FB-4529-9FC3-CF50FEEEFEC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BC007-FEAD-471A-269B-61F25F3AA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02D3F-05E7-31CF-3168-0EA6B6E9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2F93-32AC-4501-97F3-5D9B9CB320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96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3175F-003E-43BB-1056-B6D486FE6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7CE43-F0E8-20A6-5CAC-CB6C31845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8FE53-CE53-5F5D-A989-F03AA9EF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44B1-60FB-4529-9FC3-CF50FEEEFEC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75064-6AEF-26FC-9865-2AF955DC9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8C48F-1EE7-25D0-E54D-FE1902570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2F93-32AC-4501-97F3-5D9B9CB320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960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076C1-3F13-F849-0013-C78315FB8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3424-5DEF-A128-D737-F0BF7E2EE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B8137-DCDF-30D3-5411-3B3EC11A4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2A72F-47B2-EBBD-B358-0EAA81338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44B1-60FB-4529-9FC3-CF50FEEEFEC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81A73-F8C3-46C6-95D8-AFCFCCA28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57CC1-EEA8-B2D9-8CD6-48189D04A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2F93-32AC-4501-97F3-5D9B9CB320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914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F6E3F-6A5F-64DD-4C73-5CF3FA050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8773C-024F-00A7-54E9-4DD7244F2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CBC4C-A02F-DC5F-EA01-57E44A490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74FDD-4FA6-7602-98B6-AF65B7F6A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345465-BDC7-053E-B4D6-D29F1C842B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098670-9394-6244-7329-E77AEE59F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44B1-60FB-4529-9FC3-CF50FEEEFEC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86CE94-4BFC-92D9-0A1A-4279AC34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1CC2A-1C70-0A26-20DA-9749E2375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2F93-32AC-4501-97F3-5D9B9CB320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37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8EF2-5080-C9C6-C154-ED0129B7D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BD561F-8E13-4A8A-5C12-660848F7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44B1-60FB-4529-9FC3-CF50FEEEFEC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B1701-5494-1BAB-93C0-940E5CF7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87212-CB1B-6654-3468-4CBA6B70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2F93-32AC-4501-97F3-5D9B9CB320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148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007C55-09CD-110E-42D0-28A989D6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44B1-60FB-4529-9FC3-CF50FEEEFEC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47DBD-AC52-7AE2-5E0D-EF783FD00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B9BB7-1AAE-CFA9-15F6-FEF53D66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2F93-32AC-4501-97F3-5D9B9CB320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30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86C45-4B82-586F-9F13-8B3F55560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A78EF-FAA9-8602-E86C-685611A8F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F1F97-55DC-B8C3-82D3-8C440E6C6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F0023-F0DD-3B12-F2C3-1253ECBEC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44B1-60FB-4529-9FC3-CF50FEEEFEC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F667D-AE4B-4259-34EC-F56A16F6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458D1-E500-03F2-78D4-7AFC0DD6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2F93-32AC-4501-97F3-5D9B9CB320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944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63C6-F3F5-B43A-1C10-79C94E184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4387EE-F418-36B1-74B5-05C80DA4B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BC590-861E-1E36-857B-BC8A7EC5D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1D3E1-CF8B-C19B-CA3B-1E3750C7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44B1-60FB-4529-9FC3-CF50FEEEFEC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6B81D-6D6D-BDDA-B73F-4612258A4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93D9D-B7F5-19E4-3093-628905783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2F93-32AC-4501-97F3-5D9B9CB320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90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22CA5-41D9-665B-4A9A-09C3147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32069-4064-1FAC-1A4E-2B2FC7F86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8249E-4026-CF91-063E-F4AD7CE6D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44B1-60FB-4529-9FC3-CF50FEEEFEC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AF46E-F38A-8015-C9CA-E552F82E6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CDB46-05EE-A480-43EA-61310FB1B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2F93-32AC-4501-97F3-5D9B9CB320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74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13374-BA45-5F59-941A-C965CE9773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1BDC4-A039-5982-82C8-DB964F443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51F35-DF39-1B86-77BE-0C8A7E5B8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44B1-60FB-4529-9FC3-CF50FEEEFEC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618BE-F24A-8670-CC9E-3E7405980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8D9CA-544E-F1E6-27AA-6537E386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2F93-32AC-4501-97F3-5D9B9CB320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4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38208C-71BC-7DAD-7241-639C1B9BC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A7D26-9E30-84F1-53CE-426FD6EED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172BA-16E0-DAF4-B3DC-90FF75B429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944B1-60FB-4529-9FC3-CF50FEEEFEC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22CD5-1731-8DA6-9DE9-ECCDB481F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13AF-66AE-C104-F565-EAC3886FF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72F93-32AC-4501-97F3-5D9B9CB320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303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1CB55-08F2-5E5E-052E-B485E410A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6580"/>
            <a:ext cx="9144000" cy="3965823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latin typeface="Forte" panose="03060902040502070203" pitchFamily="66" charset="0"/>
                <a:sym typeface="Forum"/>
              </a:rPr>
              <a:t>Ph.D. coursework on Fundamentals of Research Methodology (MSU)</a:t>
            </a:r>
            <a:br>
              <a:rPr lang="en-US" sz="3600" dirty="0">
                <a:latin typeface="Forte" panose="03060902040502070203" pitchFamily="66" charset="0"/>
                <a:sym typeface="Forum"/>
              </a:rPr>
            </a:br>
            <a:br>
              <a:rPr lang="en-US" sz="3600" dirty="0">
                <a:latin typeface="Forte" panose="03060902040502070203" pitchFamily="66" charset="0"/>
                <a:sym typeface="Forum"/>
              </a:rPr>
            </a:br>
            <a:r>
              <a:rPr lang="en-US" sz="3600" b="1" dirty="0">
                <a:solidFill>
                  <a:srgbClr val="C00000"/>
                </a:solidFill>
                <a:latin typeface="Algerian" panose="04020705040A02060702" pitchFamily="82" charset="0"/>
                <a:sym typeface="Forum"/>
              </a:rPr>
              <a:t>Topic : Identifying Research Problem</a:t>
            </a:r>
            <a:br>
              <a:rPr lang="en-US" sz="3600" b="1" dirty="0">
                <a:solidFill>
                  <a:srgbClr val="C00000"/>
                </a:solidFill>
                <a:latin typeface="Algerian" panose="04020705040A02060702" pitchFamily="82" charset="0"/>
                <a:sym typeface="Forum"/>
              </a:rPr>
            </a:b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C90D67-0198-3A12-C172-9FFA8A32C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418" y="4407612"/>
            <a:ext cx="5705582" cy="166441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A.V. Jayalakshmi 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Education 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Maharaja Sayajirao University of Baroda 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0245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D8203-236E-3161-A5D5-9CC14ED62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400" b="1" dirty="0">
                <a:latin typeface="Algerian" panose="04020705040A02060702" pitchFamily="82" charset="0"/>
              </a:rPr>
              <a:t>Content to be covered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87C86-3453-88FD-7BEF-EE2772D8E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12192000" cy="516731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Bahnschrift" panose="020B0502040204020203" pitchFamily="34" charset="0"/>
              </a:rPr>
              <a:t>What is a research problem 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Bahnschrift" panose="020B0502040204020203" pitchFamily="34" charset="0"/>
              </a:rPr>
              <a:t>Sources for selecting research problem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Bahnschrift" panose="020B0502040204020203" pitchFamily="34" charset="0"/>
              </a:rPr>
              <a:t>Criteria for selecting a research problem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Bahnschrift" panose="020B0502040204020203" pitchFamily="34" charset="0"/>
              </a:rPr>
              <a:t>Steps for formulating a research problem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Bahnschrift" panose="020B0502040204020203" pitchFamily="34" charset="0"/>
              </a:rPr>
              <a:t>Statement of research problem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Bahnschrift" panose="020B0502040204020203" pitchFamily="34" charset="0"/>
              </a:rPr>
              <a:t>Importance of selecting relevant research problem </a:t>
            </a:r>
          </a:p>
        </p:txBody>
      </p:sp>
    </p:spTree>
    <p:extLst>
      <p:ext uri="{BB962C8B-B14F-4D97-AF65-F5344CB8AC3E}">
        <p14:creationId xmlns:p14="http://schemas.microsoft.com/office/powerpoint/2010/main" val="332310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D82A0-6E7F-B139-1FA5-57C27346B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705C-B495-DA29-C0DF-FE9F6E931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400" b="1" dirty="0">
                <a:latin typeface="Algerian" panose="04020705040A02060702" pitchFamily="82" charset="0"/>
              </a:rPr>
              <a:t>What is research problem ?</a:t>
            </a:r>
            <a:br>
              <a:rPr lang="en-IN" sz="3400" b="1" dirty="0">
                <a:latin typeface="Algerian" panose="04020705040A02060702" pitchFamily="82" charset="0"/>
              </a:rPr>
            </a:br>
            <a:endParaRPr lang="en-IN" sz="34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F31C-F508-3C3A-6BEB-331334A41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12192000" cy="516731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A Research problem is a situation or circumstance that requires a solution to be described ,explained or predicted.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A  research problem  often arises from observed discrepancies between what is known and what needs to be known. It identifies the "why" behind a study, guiding researchers to formulate questions, design methodologies, and </a:t>
            </a:r>
            <a:r>
              <a:rPr lang="en-US" dirty="0" err="1"/>
              <a:t>analyse</a:t>
            </a:r>
            <a:r>
              <a:rPr lang="en-US" dirty="0"/>
              <a:t> data to generate meaningful insights(Creswell and Creswell, 2018)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Bahnschrift" panose="020B0502040204020203" pitchFamily="34" charset="0"/>
              </a:rPr>
              <a:t> 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512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5539C-C784-1FB5-7D89-07BCFA5BA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76AE9-4767-ED32-505A-9E061C72C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400" b="1" dirty="0">
                <a:latin typeface="Algerian" panose="04020705040A02060702" pitchFamily="82" charset="0"/>
              </a:rPr>
              <a:t>What is research problem ?</a:t>
            </a:r>
            <a:br>
              <a:rPr lang="en-IN" sz="3400" b="1" dirty="0">
                <a:latin typeface="Algerian" panose="04020705040A02060702" pitchFamily="82" charset="0"/>
              </a:rPr>
            </a:br>
            <a:endParaRPr lang="en-IN" sz="34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9F32D-E848-06C1-D0DC-BD81B5D02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12192000" cy="516731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IN" dirty="0"/>
              <a:t>[ What is Known ]  ───( The Discrepancy )───►  [ What Needs to be Known ]</a:t>
            </a:r>
          </a:p>
          <a:p>
            <a:pPr marL="0" indent="0">
              <a:buNone/>
            </a:pPr>
            <a:r>
              <a:rPr lang="en-IN" dirty="0"/>
              <a:t>                              │</a:t>
            </a:r>
          </a:p>
          <a:p>
            <a:pPr marL="0" indent="0">
              <a:buNone/>
            </a:pPr>
            <a:r>
              <a:rPr lang="en-IN" dirty="0"/>
              <a:t>                    [ Identifies "WHY" ]</a:t>
            </a:r>
          </a:p>
          <a:p>
            <a:pPr marL="0" indent="0">
              <a:buNone/>
            </a:pPr>
            <a:r>
              <a:rPr lang="en-IN" dirty="0"/>
              <a:t>                                </a:t>
            </a:r>
          </a:p>
          <a:p>
            <a:pPr marL="0" indent="0">
              <a:buNone/>
            </a:pPr>
            <a:r>
              <a:rPr lang="en-IN" dirty="0"/>
              <a:t>┌──────────────┴──────────────┐</a:t>
            </a:r>
          </a:p>
          <a:p>
            <a:pPr marL="0" indent="0">
              <a:buNone/>
            </a:pPr>
            <a:r>
              <a:rPr lang="en-IN" dirty="0"/>
              <a:t>                ▼                             ▼</a:t>
            </a:r>
          </a:p>
          <a:p>
            <a:pPr marL="0" indent="0">
              <a:buNone/>
            </a:pPr>
            <a:r>
              <a:rPr lang="en-IN" dirty="0"/>
              <a:t>    [ Guiding Questions ]         [ Designing Methods ]</a:t>
            </a:r>
          </a:p>
          <a:p>
            <a:pPr marL="0" indent="0">
              <a:buNone/>
            </a:pP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083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1B3E3-41F5-DBFA-AA11-B0D9498EC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AA17-567B-6E65-F2A7-8E7B116D5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8511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400" b="1" dirty="0">
                <a:latin typeface="Algerian" panose="04020705040A02060702" pitchFamily="82" charset="0"/>
              </a:rPr>
              <a:t>What is research problem ? (Some Examples )</a:t>
            </a:r>
            <a:br>
              <a:rPr lang="en-IN" sz="3400" b="1" dirty="0">
                <a:latin typeface="Algerian" panose="04020705040A02060702" pitchFamily="82" charset="0"/>
              </a:rPr>
            </a:br>
            <a:endParaRPr lang="en-IN" sz="34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7DCF2-E8DD-3C87-6E1E-F84C8021F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8512"/>
            <a:ext cx="12192000" cy="5789487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Science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Known: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laboratory environments, genetically modified, drought-resistant crop strains consistently show a 35% increase in water retention and survival rates.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Needs to be Known (The Discrepancy):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these same strains are planted in real-world agricultural test fields, their survival rates plummet, and they perform no better than non-modified wild crops.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"Why" (The Core Problem):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Why do laboratory-validated genetic resistance traits fail to express or function when exposed to complex, fluctuating soil microbiomes in open fields?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41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BB245-49D1-228C-C3EE-9BCAFB3DD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92104-0993-2D78-15BB-763B127CF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8511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400" b="1" dirty="0">
                <a:latin typeface="Algerian" panose="04020705040A02060702" pitchFamily="82" charset="0"/>
              </a:rPr>
              <a:t>What is research problem ? (Some Examples )</a:t>
            </a:r>
            <a:br>
              <a:rPr lang="en-IN" sz="3400" b="1" dirty="0">
                <a:latin typeface="Algerian" panose="04020705040A02060702" pitchFamily="82" charset="0"/>
              </a:rPr>
            </a:br>
            <a:endParaRPr lang="en-IN" sz="34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DB1A9-E8A6-9197-A7B4-F3FA5686B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8512"/>
            <a:ext cx="12192000" cy="5789487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Science</a:t>
            </a:r>
          </a:p>
          <a:p>
            <a:pPr marL="0" indent="0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Guides the Research Design: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competitive interactions with native soil bacteria inhibit the expression of the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-gene in drought-resistant wheat under field conditions?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comparative design. Soil composition is manipulated in controlled greenhouse setups to mimic field microbial diversity.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Analysis: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Metagenomic sequencing of rhizosphere microbes and transcriptomic (RNA-seq) analysis of gene expression levels under varying soil treatments.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474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BD8EC-9862-3566-5925-3D5369954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81F5E-7F1C-D77A-E26A-3EFCACB69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8511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400" b="1" dirty="0">
                <a:latin typeface="Algerian" panose="04020705040A02060702" pitchFamily="82" charset="0"/>
              </a:rPr>
              <a:t>What is research problem ? (Some Examples )</a:t>
            </a:r>
            <a:br>
              <a:rPr lang="en-IN" sz="3400" b="1" dirty="0">
                <a:latin typeface="Algerian" panose="04020705040A02060702" pitchFamily="82" charset="0"/>
              </a:rPr>
            </a:br>
            <a:endParaRPr lang="en-IN" sz="34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2E6BB-0E15-60BD-A0CD-50E7C2352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8512"/>
            <a:ext cx="12192000" cy="5789487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&amp; Economics (Organizational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Known: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organizational theories state that offering flexible hours and Work-From-Home (WFH) options dramatically increases employee job satisfaction and reduces voluntary turnover.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Needs to be Known (The Discrepancy):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modern technology startups utilizing "algorithmic management" (where software automatically assigns, tracks, and evaluates tasks), offering schedule flexibility correlates with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rates of burnout and voluntary turnover.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"Why" (The Core Problem):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Why does schedule flexibility lose its psychological benefits and instead increase stress when mediated by automated, non-human surveillance and performance-tracking algorithms?</a:t>
            </a:r>
          </a:p>
          <a:p>
            <a:pPr marL="0" indent="0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621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AE717-C5C6-0B7A-4685-1768DE82E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27BF9-0DDB-8073-2A9C-403556797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8511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400" b="1" dirty="0">
                <a:latin typeface="Algerian" panose="04020705040A02060702" pitchFamily="82" charset="0"/>
              </a:rPr>
              <a:t>What is research problem ? (Some Examples )</a:t>
            </a:r>
            <a:br>
              <a:rPr lang="en-IN" sz="3400" b="1" dirty="0">
                <a:latin typeface="Algerian" panose="04020705040A02060702" pitchFamily="82" charset="0"/>
              </a:rPr>
            </a:br>
            <a:endParaRPr lang="en-IN" sz="34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91E15-99FB-E988-FF74-2A4C6DA8D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8512"/>
            <a:ext cx="12192000" cy="5789487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&amp; Economics (Organizational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Guides the Research Design: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algorithmic performance monitoring moderate the relationship between schedule autonomy and employee emotional exhaustion?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Explanatory mixed-methods design.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Quantitative survey data measuring perceived autonomy, algorithmic monitoring frequency, and burnout metrics (to map the statistical relationships), followed by qualitative structured interviews (to understand the lived experience and emotional mechanics).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495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42126-C86A-A01E-E3A0-68A51667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147FB-77D4-BB0A-029C-27EBA6738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8511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400" b="1" dirty="0">
                <a:latin typeface="Algerian" panose="04020705040A02060702" pitchFamily="82" charset="0"/>
              </a:rPr>
              <a:t>What is research problem ? (Some Examples )</a:t>
            </a:r>
            <a:br>
              <a:rPr lang="en-IN" sz="3400" b="1" dirty="0">
                <a:latin typeface="Algerian" panose="04020705040A02060702" pitchFamily="82" charset="0"/>
              </a:rPr>
            </a:br>
            <a:endParaRPr lang="en-IN" sz="34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AE88B-B096-F8F1-8701-70756F552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8512"/>
            <a:ext cx="12192000" cy="5789487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Sciences / Psychology (Educational Technology)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Known: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"gamification" elements (points, badges, leaderboards) in digital learning platforms significantly boosts student engagement and short-term test scores in the first 4 to 8 weeks of a course.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Needs to be Known (The Discrepancy):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a full academic year, gamified platforms show a sharp decline in usage, and students using them perform poor on conceptual, long-term retention tests compared to students using non-gamified, traditional textbooks.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"Why" (The Core Problem):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does the long-term exposure to extrinsic rewards (points/badges) erode students' intrinsic motivation and deep conceptual cognitive processing?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750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CB9D4-4945-27E7-9EEB-040A80EDC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36A4E-058E-1CE5-DD8F-47ED0F78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8511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400" b="1" dirty="0">
                <a:latin typeface="Algerian" panose="04020705040A02060702" pitchFamily="82" charset="0"/>
              </a:rPr>
              <a:t>Importance of identification of research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3E971-5DD6-069C-BA4C-795F4FB0A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8512"/>
            <a:ext cx="12192000" cy="5789487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destination for the research work or lays a foundation for the research to be conducted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idea about what you want to find out not what you think you must find out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find out the solution to the problem i.e. research design, sample for the study, research tools and the data analysis technique</a:t>
            </a:r>
          </a:p>
          <a:p>
            <a:pPr marL="0" indent="0">
              <a:buNone/>
            </a:pP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Want to study on depression (broad area )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services available for treating depression (qualitative)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people using the depression treating service (quantitative)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utilised with respect to the personality attributes of the individual(corelation)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 of these services ( quantitative or mixed method study)</a:t>
            </a:r>
          </a:p>
        </p:txBody>
      </p:sp>
    </p:spTree>
    <p:extLst>
      <p:ext uri="{BB962C8B-B14F-4D97-AF65-F5344CB8AC3E}">
        <p14:creationId xmlns:p14="http://schemas.microsoft.com/office/powerpoint/2010/main" val="3666905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420D8-829A-2143-15B8-AF844739F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C3E31-28D5-4FEC-1A23-C101EC159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200" b="1" dirty="0">
                <a:latin typeface="Algerian" panose="04020705040A02060702" pitchFamily="82" charset="0"/>
              </a:rPr>
              <a:t>Sources of selecting a research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BCFA5-5972-4AF5-9716-15C738D2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12192000" cy="516731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Deductions from Theory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dirty="0"/>
              <a:t>e.g. </a:t>
            </a:r>
            <a:r>
              <a:rPr lang="en-US" altLang="en-US" b="1" dirty="0">
                <a:latin typeface="Google Sans"/>
              </a:rPr>
              <a:t>Theory:</a:t>
            </a:r>
            <a:r>
              <a:rPr lang="en-US" altLang="en-US" dirty="0">
                <a:latin typeface="Google Sans"/>
              </a:rPr>
              <a:t> General principles or established explanations (e.g., Albert Bandura's Social Learning Theory).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Google Sans"/>
              </a:rPr>
              <a:t>Deduction:</a:t>
            </a:r>
            <a:r>
              <a:rPr lang="en-US" altLang="en-US" dirty="0">
                <a:latin typeface="Google Sans"/>
              </a:rPr>
              <a:t> Logical reasoning applied to the theory to make a specific prediction (e.g., If people learn by watching others, then children exposed to violent media will exhibit more aggressive behavior).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Google Sans"/>
              </a:rPr>
              <a:t>Research Problem:</a:t>
            </a:r>
            <a:r>
              <a:rPr lang="en-US" altLang="en-US" dirty="0">
                <a:latin typeface="Google Sans"/>
              </a:rPr>
              <a:t> The specific, focused question or gap you aim to investigate based on that prediction.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906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43EED-D938-C666-1071-E436C9BF5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D45F3-E2AC-847B-CA77-9398A2122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200" b="1" dirty="0">
                <a:latin typeface="Algerian" panose="04020705040A02060702" pitchFamily="82" charset="0"/>
              </a:rPr>
              <a:t>Sources of selecting a research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ED8BA-612D-32AE-0CBA-CB77891D1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12192000" cy="516731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IN" dirty="0"/>
              <a:t>2. Interdisciplinary Perspectives</a:t>
            </a:r>
          </a:p>
          <a:p>
            <a:pPr marL="0" indent="0">
              <a:buNone/>
            </a:pPr>
            <a:r>
              <a:rPr lang="en-IN" dirty="0"/>
              <a:t>e.g. </a:t>
            </a:r>
            <a:r>
              <a:rPr lang="en-US" dirty="0"/>
              <a:t>The rapid, viral spread of health-related misinformation across digital platforms.( </a:t>
            </a:r>
            <a:r>
              <a:rPr lang="en-US" dirty="0" err="1"/>
              <a:t>bleech</a:t>
            </a:r>
            <a:r>
              <a:rPr lang="en-US" dirty="0"/>
              <a:t> in drinking water cures cancer).</a:t>
            </a:r>
          </a:p>
          <a:p>
            <a:pPr marL="0" indent="0">
              <a:buNone/>
            </a:pPr>
            <a:r>
              <a:rPr lang="en-US" dirty="0"/>
              <a:t>Medical </a:t>
            </a:r>
            <a:r>
              <a:rPr lang="en-US" dirty="0" err="1"/>
              <a:t>practioner</a:t>
            </a:r>
            <a:r>
              <a:rPr lang="en-US" dirty="0"/>
              <a:t> explains the impact of </a:t>
            </a:r>
            <a:r>
              <a:rPr lang="en-US" dirty="0" err="1"/>
              <a:t>bleech</a:t>
            </a:r>
            <a:r>
              <a:rPr lang="en-US" dirty="0"/>
              <a:t> on health </a:t>
            </a:r>
          </a:p>
          <a:p>
            <a:pPr marL="0" indent="0">
              <a:buNone/>
            </a:pPr>
            <a:r>
              <a:rPr lang="en-US" dirty="0"/>
              <a:t>IT engineer knows the social media algorithms, databases, internet traffic, and coding </a:t>
            </a:r>
          </a:p>
          <a:p>
            <a:pPr marL="0" indent="0">
              <a:buNone/>
            </a:pPr>
            <a:r>
              <a:rPr lang="en-US" dirty="0"/>
              <a:t>Counsellor : human emotions, fear, trust, and cognitive biases lead to wider spread.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228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2CA20-78D8-FD09-B40C-9ABBD7A3D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D6C8-531C-09E6-406D-0F0246CA7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200" b="1" dirty="0">
                <a:latin typeface="Algerian" panose="04020705040A02060702" pitchFamily="82" charset="0"/>
              </a:rPr>
              <a:t>Sources of selecting a research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76891-EED9-194B-E61A-DBE1ACE16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12192000" cy="516731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IN" dirty="0"/>
              <a:t>3. Discussion with  Practitioners</a:t>
            </a:r>
          </a:p>
          <a:p>
            <a:pPr marL="0" indent="0">
              <a:buNone/>
            </a:pPr>
            <a:r>
              <a:rPr lang="en-IN" dirty="0"/>
              <a:t>e.g. expert talk: </a:t>
            </a:r>
            <a:r>
              <a:rPr lang="en-US" dirty="0"/>
              <a:t>We are currently witnessing a massive, silent shift in how human relationships are formed on the match making sites </a:t>
            </a:r>
          </a:p>
          <a:p>
            <a:pPr marL="0" indent="0">
              <a:buNone/>
            </a:pPr>
            <a:r>
              <a:rPr lang="en-US" dirty="0"/>
              <a:t>An IT PhD students might study algorithms of the software </a:t>
            </a:r>
          </a:p>
          <a:p>
            <a:pPr marL="0" indent="0">
              <a:buNone/>
            </a:pPr>
            <a:r>
              <a:rPr lang="en-US" dirty="0"/>
              <a:t>A clinical psychologist might study how  more 'choices' people have, the more anxious, detached, and burnt out they become.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29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16BDC-41AF-D437-1842-114AA7929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DAE4F-422E-6F5B-9620-16086AB8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200" b="1" dirty="0">
                <a:latin typeface="Algerian" panose="04020705040A02060702" pitchFamily="82" charset="0"/>
              </a:rPr>
              <a:t>Sources of selecting a research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73FAE-DD37-B424-2025-C5DBC5250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12192000" cy="516731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IN" dirty="0"/>
              <a:t>4. Personal Experience</a:t>
            </a:r>
          </a:p>
          <a:p>
            <a:pPr marL="0" indent="0">
              <a:buNone/>
            </a:pPr>
            <a:r>
              <a:rPr lang="en-IN" dirty="0"/>
              <a:t>e.g. </a:t>
            </a:r>
            <a:r>
              <a:rPr lang="en-US" dirty="0"/>
              <a:t>late-night stress into measurable academic variables, the scholar formulates a highly rigorous, testable social science research problem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5889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B9A01-8DE1-6E84-6CEA-E5D477B50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C7899-3C2D-3491-F242-CA622AC16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200" b="1" dirty="0">
                <a:latin typeface="Algerian" panose="04020705040A02060702" pitchFamily="82" charset="0"/>
              </a:rPr>
              <a:t>Sources of selecting a research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9CEE2-B629-C830-F49D-E717B79B6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12192000" cy="516731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Relevant reviewed Literature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Interdisciplinary teaching of social science- gaps identified that this type of studies were done in foreign schools only, in India it was done in higher education classes only</a:t>
            </a:r>
          </a:p>
        </p:txBody>
      </p:sp>
    </p:spTree>
    <p:extLst>
      <p:ext uri="{BB962C8B-B14F-4D97-AF65-F5344CB8AC3E}">
        <p14:creationId xmlns:p14="http://schemas.microsoft.com/office/powerpoint/2010/main" val="2253648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E85D3-0133-CBD6-DA3D-7C8BCD1D6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439B1-3FBD-EBEA-5728-8A009C3C1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200" b="1" dirty="0">
                <a:latin typeface="Algerian" panose="04020705040A02060702" pitchFamily="82" charset="0"/>
              </a:rPr>
              <a:t>Criteria for selecting a research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14282-F040-61EF-2E20-5DDD37E98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12192000" cy="516731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Researcher’s Interest and Passion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the Field of Study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of Resources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for completion of the research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Considerations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with Research Objectives and Expertise(skills of the researcher)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431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795F7-BB18-7845-D087-D1E987B33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C7DBE-9E98-14A2-50AD-6A7D2C0F9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200" b="1" dirty="0">
                <a:latin typeface="Algerian" panose="04020705040A02060702" pitchFamily="82" charset="0"/>
              </a:rPr>
              <a:t>Criteria for selecting a research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D7723-57FE-BD4E-1595-BCA6F3CB6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12192000" cy="516731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the void in the reviewed studies be filled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replicating a study use different tools or different participants or research sites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the study extend and give thorough knowledge about the topic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study going to give voice to the silenced or marginalised group people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the knowledge gained lead finding new technologies, techniques etc</a:t>
            </a:r>
          </a:p>
        </p:txBody>
      </p:sp>
    </p:spTree>
    <p:extLst>
      <p:ext uri="{BB962C8B-B14F-4D97-AF65-F5344CB8AC3E}">
        <p14:creationId xmlns:p14="http://schemas.microsoft.com/office/powerpoint/2010/main" val="1672867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9B89-F305-3CCE-9230-854BC3801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4EBB0-E5FF-2C8F-B211-B7375D6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200" b="1" dirty="0">
                <a:latin typeface="Algerian" panose="04020705040A02060702" pitchFamily="82" charset="0"/>
              </a:rPr>
              <a:t>formulating the research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28E0E-A249-2544-5325-736E93E41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12192000" cy="516731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Clarifying the Research Focus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Guiding Methodological Design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Research Objectives and research questions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Research Significance and Justification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Facilitating Effective Communication of Research Intent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</a:t>
            </a:r>
            <a:r>
              <a:rPr lang="en-US" dirty="0"/>
              <a:t>The impact of early school enrollment on cognitive development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309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FED10-1DCD-2125-EE9A-19EB4A81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21C4A-BDAC-B812-AD71-055C3394D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200" b="1" dirty="0">
                <a:latin typeface="Algerian" panose="04020705040A02060702" pitchFamily="82" charset="0"/>
              </a:rPr>
              <a:t>Clarifying focus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15E8E9-EFBE-FE3A-FADF-4E8104A06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2520" y="3574159"/>
            <a:ext cx="8306959" cy="1400370"/>
          </a:xfrm>
          <a:prstGeom prst="rect">
            <a:avLst/>
          </a:prstGeom>
          <a:solidFill>
            <a:srgbClr val="FFC000">
              <a:lumMod val="20000"/>
              <a:lumOff val="80000"/>
            </a:srgbClr>
          </a:solidFill>
        </p:spPr>
      </p:pic>
    </p:spTree>
    <p:extLst>
      <p:ext uri="{BB962C8B-B14F-4D97-AF65-F5344CB8AC3E}">
        <p14:creationId xmlns:p14="http://schemas.microsoft.com/office/powerpoint/2010/main" val="1789508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C6E1D-3B6C-B2D4-C5B2-09CA94AB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7A18-D18E-087A-0779-8A59BC69E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200" b="1" dirty="0">
                <a:latin typeface="Algerian" panose="04020705040A02060702" pitchFamily="82" charset="0"/>
              </a:rPr>
              <a:t> guiding methodological design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0B0919-0210-018B-AAF3-1F30DB887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73" y="2476367"/>
            <a:ext cx="8630854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08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3FA16-C8DC-895B-000A-9CABCA505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AD39F-E2A9-E22B-7864-CB301D28E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Research Objectives and research questions 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400" b="1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CD29F6-4427-D7FE-5BF4-E7262A55E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0125" y="3807554"/>
            <a:ext cx="8411749" cy="933580"/>
          </a:xfrm>
          <a:prstGeom prst="rect">
            <a:avLst/>
          </a:prstGeom>
          <a:solidFill>
            <a:srgbClr val="FFC000">
              <a:lumMod val="20000"/>
              <a:lumOff val="80000"/>
            </a:srgbClr>
          </a:solidFill>
        </p:spPr>
      </p:pic>
    </p:spTree>
    <p:extLst>
      <p:ext uri="{BB962C8B-B14F-4D97-AF65-F5344CB8AC3E}">
        <p14:creationId xmlns:p14="http://schemas.microsoft.com/office/powerpoint/2010/main" val="300324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18563-4C5C-8FC1-23C5-FC987B449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0C1B-A5D5-1F87-A641-EA68C074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6"/>
          </a:solidFill>
        </p:spPr>
        <p:txBody>
          <a:bodyPr>
            <a:normAutofit/>
          </a:bodyPr>
          <a:lstStyle/>
          <a:p>
            <a:endParaRPr lang="en-IN" sz="3400" b="1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321A77-1FE0-24B4-3CC1-A6BE2A241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7979" y="1675540"/>
            <a:ext cx="7654246" cy="4628149"/>
          </a:xfrm>
          <a:prstGeom prst="rect">
            <a:avLst/>
          </a:prstGeom>
          <a:solidFill>
            <a:srgbClr val="FFC000">
              <a:lumMod val="20000"/>
              <a:lumOff val="80000"/>
            </a:srgbClr>
          </a:solidFill>
        </p:spPr>
      </p:pic>
    </p:spTree>
    <p:extLst>
      <p:ext uri="{BB962C8B-B14F-4D97-AF65-F5344CB8AC3E}">
        <p14:creationId xmlns:p14="http://schemas.microsoft.com/office/powerpoint/2010/main" val="2093022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1325</Words>
  <Application>Microsoft Office PowerPoint</Application>
  <PresentationFormat>Widescreen</PresentationFormat>
  <Paragraphs>113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Algerian</vt:lpstr>
      <vt:lpstr>Arial</vt:lpstr>
      <vt:lpstr>Bahnschrift</vt:lpstr>
      <vt:lpstr>Calibri</vt:lpstr>
      <vt:lpstr>Calibri Light</vt:lpstr>
      <vt:lpstr>Forte</vt:lpstr>
      <vt:lpstr>Google Sans</vt:lpstr>
      <vt:lpstr>Times New Roman</vt:lpstr>
      <vt:lpstr>Wingdings</vt:lpstr>
      <vt:lpstr>Office Theme</vt:lpstr>
      <vt:lpstr>Ph.D. coursework on Fundamentals of Research Methodology (MSU)  Topic : Identifying Research Problem </vt:lpstr>
      <vt:lpstr>Content to be covered </vt:lpstr>
      <vt:lpstr>What is research problem ? </vt:lpstr>
      <vt:lpstr>What is research problem ? </vt:lpstr>
      <vt:lpstr>What is research problem ? (Some Examples ) </vt:lpstr>
      <vt:lpstr>What is research problem ? (Some Examples ) </vt:lpstr>
      <vt:lpstr>What is research problem ? (Some Examples ) </vt:lpstr>
      <vt:lpstr>What is research problem ? (Some Examples ) </vt:lpstr>
      <vt:lpstr>What is research problem ? (Some Examples ) </vt:lpstr>
      <vt:lpstr>Importance of identification of research problem </vt:lpstr>
      <vt:lpstr>Sources of selecting a research problem </vt:lpstr>
      <vt:lpstr>Sources of selecting a research problem </vt:lpstr>
      <vt:lpstr>Sources of selecting a research problem </vt:lpstr>
      <vt:lpstr>Sources of selecting a research problem </vt:lpstr>
      <vt:lpstr>Sources of selecting a research problem </vt:lpstr>
      <vt:lpstr>Criteria for selecting a research problem </vt:lpstr>
      <vt:lpstr>Criteria for selecting a research problem </vt:lpstr>
      <vt:lpstr>formulating the research problem </vt:lpstr>
      <vt:lpstr>Clarifying focus  </vt:lpstr>
      <vt:lpstr> guiding methodological design </vt:lpstr>
      <vt:lpstr>Establishing Research Objectives and research questions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a.v jayalakshmi</dc:creator>
  <cp:lastModifiedBy>a.v jayalakshmi</cp:lastModifiedBy>
  <cp:revision>36</cp:revision>
  <dcterms:created xsi:type="dcterms:W3CDTF">2026-06-21T17:19:59Z</dcterms:created>
  <dcterms:modified xsi:type="dcterms:W3CDTF">2026-06-22T10:01:23Z</dcterms:modified>
</cp:coreProperties>
</file>